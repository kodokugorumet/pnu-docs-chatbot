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995" r:id="rId2"/>
  </p:sldMasterIdLst>
  <p:notesMasterIdLst>
    <p:notesMasterId r:id="rId24"/>
  </p:notesMasterIdLst>
  <p:handoutMasterIdLst>
    <p:handoutMasterId r:id="rId25"/>
  </p:handoutMasterIdLst>
  <p:sldIdLst>
    <p:sldId id="256" r:id="rId3"/>
    <p:sldId id="257" r:id="rId4"/>
    <p:sldId id="286" r:id="rId5"/>
    <p:sldId id="336" r:id="rId6"/>
    <p:sldId id="362" r:id="rId7"/>
    <p:sldId id="262" r:id="rId8"/>
    <p:sldId id="364" r:id="rId9"/>
    <p:sldId id="354" r:id="rId10"/>
    <p:sldId id="375" r:id="rId11"/>
    <p:sldId id="371" r:id="rId12"/>
    <p:sldId id="355" r:id="rId13"/>
    <p:sldId id="368" r:id="rId14"/>
    <p:sldId id="370" r:id="rId15"/>
    <p:sldId id="356" r:id="rId16"/>
    <p:sldId id="352" r:id="rId17"/>
    <p:sldId id="361" r:id="rId18"/>
    <p:sldId id="369" r:id="rId19"/>
    <p:sldId id="358" r:id="rId20"/>
    <p:sldId id="374" r:id="rId21"/>
    <p:sldId id="376" r:id="rId22"/>
    <p:sldId id="333" r:id="rId23"/>
  </p:sldIdLst>
  <p:sldSz cx="9144000" cy="6858000" type="screen4x3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4C3"/>
    <a:srgbClr val="005E5C"/>
    <a:srgbClr val="000068"/>
    <a:srgbClr val="000099"/>
    <a:srgbClr val="003399"/>
    <a:srgbClr val="0066CC"/>
    <a:srgbClr val="ED9997"/>
    <a:srgbClr val="E6C8C8"/>
    <a:srgbClr val="1076E6"/>
    <a:srgbClr val="8039CF"/>
  </p:clrMru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68" autoAdjust="0"/>
    <p:restoredTop sz="94660" autoAdjust="0"/>
  </p:normalViewPr>
  <p:slideViewPr>
    <p:cSldViewPr>
      <p:cViewPr varScale="1">
        <p:scale>
          <a:sx n="74" d="100"/>
          <a:sy n="74" d="100"/>
        </p:scale>
        <p:origin x="-147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1536" y="-102"/>
      </p:cViewPr>
      <p:guideLst>
        <p:guide orient="horz" pos="3131"/>
        <p:guide pos="214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0" rIns="91422" bIns="4571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0" rIns="91422" bIns="4571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4EF204D-B2D2-437A-AAE6-9284EF8B4B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5700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5125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0" rIns="91422" bIns="4571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2" tIns="45710" rIns="91422" bIns="4571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DD9F6D1-DD15-490B-B3CC-BC6CB4BD52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9FC0A8-615B-4DD9-8882-CCB0C043F0BF}" type="slidenum">
              <a:rPr lang="en-US" altLang="ko-KR" smtClean="0"/>
              <a:pPr/>
              <a:t>0</a:t>
            </a:fld>
            <a:endParaRPr lang="en-US" altLang="ko-KR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0065ED-F0B0-47EF-9821-7AB49652CDD5}" type="slidenum">
              <a:rPr lang="en-US" altLang="ko-KR" smtClean="0"/>
              <a:pPr/>
              <a:t>1</a:t>
            </a:fld>
            <a:endParaRPr lang="en-US" altLang="ko-KR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BAD54B-64C0-4B53-877C-A8B9B458F45A}" type="slidenum">
              <a:rPr lang="en-US" altLang="ko-KR" smtClean="0"/>
              <a:pPr/>
              <a:t>2</a:t>
            </a:fld>
            <a:endParaRPr lang="en-US" altLang="ko-KR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main00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20685"/>
            <a:ext cx="9144000" cy="765175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8EA77-E02C-45D8-85D8-D6F49FEF6A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ED5D8-46E0-4CFE-B626-D4BC56ABEBD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6D21C-3322-4166-B07A-491EADE44C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A9EE3-2239-4508-88B2-A03E6283870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BCC91-0906-414B-A4C4-8529286F1F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AC9EF-2D45-4ADF-BD1F-25813A50C7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B2995-F766-4B23-BFFD-0FA912B58A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ADE9B-F3F9-4FF7-AEFF-F11664F9CD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1FD8B9-3138-41FE-AA64-525A883F9D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C8858-8524-4F6B-A8AE-68904F9C4C8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master0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34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fld id="{3251551E-FE0A-4E5F-A7C3-170A6BF0F2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</p:sldLayoutIdLst>
  <p:transition>
    <p:fade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4C673-03FF-4FAE-AD99-34148F96AB4B}" type="datetimeFigureOut">
              <a:rPr lang="ko-KR" altLang="en-US" smtClean="0"/>
              <a:pPr/>
              <a:t>2014-12-15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0C0FF-318F-431A-B1F4-43A15FC27D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>
    <p:fade/>
  </p:transition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03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14600"/>
            <a:ext cx="9144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 descr="03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AutoShape 8"/>
          <p:cNvSpPr>
            <a:spLocks noChangeArrowheads="1"/>
          </p:cNvSpPr>
          <p:nvPr/>
        </p:nvSpPr>
        <p:spPr bwMode="auto">
          <a:xfrm>
            <a:off x="3562970" y="3495675"/>
            <a:ext cx="2089150" cy="576263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2400" dirty="0" smtClean="0"/>
              <a:t>2014. 12. 16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785786" y="1357298"/>
            <a:ext cx="784060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48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2014</a:t>
            </a:r>
            <a:r>
              <a:rPr lang="ko-KR" altLang="en-US" sz="48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년</a:t>
            </a:r>
            <a:endParaRPr lang="en-US" altLang="ko-KR" sz="4800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j-ea"/>
              <a:ea typeface="+mj-ea"/>
            </a:endParaRPr>
          </a:p>
          <a:p>
            <a:pPr algn="ctr">
              <a:defRPr/>
            </a:pPr>
            <a:r>
              <a:rPr lang="ko-KR" altLang="en-US" sz="48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+mj-ea"/>
                <a:ea typeface="+mj-ea"/>
              </a:rPr>
              <a:t>외환전산망 보고업무 설명회</a:t>
            </a:r>
            <a:endParaRPr lang="en-US" altLang="ko-KR" sz="480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+mj-ea"/>
              <a:ea typeface="+mj-ea"/>
            </a:endParaRPr>
          </a:p>
        </p:txBody>
      </p:sp>
      <p:pic>
        <p:nvPicPr>
          <p:cNvPr id="12" name="그림 11" descr="무제-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85984" y="5429264"/>
            <a:ext cx="1143008" cy="1143008"/>
          </a:xfrm>
          <a:prstGeom prst="rect">
            <a:avLst/>
          </a:prstGeom>
          <a:effectLst>
            <a:glow rad="139700">
              <a:schemeClr val="tx2">
                <a:lumMod val="60000"/>
                <a:lumOff val="40000"/>
                <a:alpha val="40000"/>
              </a:schemeClr>
            </a:glow>
          </a:effectLst>
        </p:spPr>
      </p:pic>
      <p:sp>
        <p:nvSpPr>
          <p:cNvPr id="13" name="TextBox 12"/>
          <p:cNvSpPr txBox="1"/>
          <p:nvPr/>
        </p:nvSpPr>
        <p:spPr>
          <a:xfrm>
            <a:off x="3357563" y="5753100"/>
            <a:ext cx="34290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금융감독원</a:t>
            </a: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외환감독국</a:t>
            </a:r>
            <a:endParaRPr lang="ko-K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B5962F-CACF-4AB8-A4CC-D1D11C0960EC}" type="slidenum">
              <a:rPr lang="en-US" altLang="ko-KR"/>
              <a:pPr>
                <a:defRPr/>
              </a:pPr>
              <a:t>1</a:t>
            </a:fld>
            <a:endParaRPr lang="en-US" altLang="ko-KR"/>
          </a:p>
        </p:txBody>
      </p:sp>
      <p:pic>
        <p:nvPicPr>
          <p:cNvPr id="4099" name="Picture 32" descr="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30" name="Picture 34" descr="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817938" y="571500"/>
            <a:ext cx="1325562" cy="784225"/>
            <a:chOff x="845" y="641"/>
            <a:chExt cx="957" cy="566"/>
          </a:xfrm>
        </p:grpSpPr>
        <p:pic>
          <p:nvPicPr>
            <p:cNvPr id="4142" name="Picture 30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r="52534"/>
            <a:stretch>
              <a:fillRect/>
            </a:stretch>
          </p:blipFill>
          <p:spPr bwMode="auto">
            <a:xfrm>
              <a:off x="845" y="641"/>
              <a:ext cx="337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43" name="Picture 31" descr="07_01"/>
            <p:cNvPicPr>
              <a:picLocks noChangeAspect="1" noChangeArrowheads="1"/>
            </p:cNvPicPr>
            <p:nvPr/>
          </p:nvPicPr>
          <p:blipFill>
            <a:blip r:embed="rId5" cstate="print">
              <a:lum contrast="12000"/>
            </a:blip>
            <a:srcRect l="47464"/>
            <a:stretch>
              <a:fillRect/>
            </a:stretch>
          </p:blipFill>
          <p:spPr bwMode="auto">
            <a:xfrm>
              <a:off x="1429" y="641"/>
              <a:ext cx="373" cy="5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그룹 69"/>
          <p:cNvGrpSpPr>
            <a:grpSpLocks/>
          </p:cNvGrpSpPr>
          <p:nvPr/>
        </p:nvGrpSpPr>
        <p:grpSpPr bwMode="auto">
          <a:xfrm>
            <a:off x="1643063" y="3092934"/>
            <a:ext cx="7500937" cy="714375"/>
            <a:chOff x="1643042" y="5572141"/>
            <a:chExt cx="7500958" cy="714379"/>
          </a:xfrm>
        </p:grpSpPr>
        <p:pic>
          <p:nvPicPr>
            <p:cNvPr id="4138" name="그림 47" descr="02.png"/>
            <p:cNvPicPr>
              <a:picLocks noChangeAspect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987824" y="5572141"/>
              <a:ext cx="6156176" cy="6929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39" name="그림 48" descr="01.png"/>
            <p:cNvPicPr>
              <a:picLocks noChangeAspect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643042" y="5572141"/>
              <a:ext cx="1000132" cy="714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TextBox 3"/>
            <p:cNvSpPr txBox="1">
              <a:spLocks noChangeArrowheads="1"/>
            </p:cNvSpPr>
            <p:nvPr/>
          </p:nvSpPr>
          <p:spPr bwMode="auto">
            <a:xfrm>
              <a:off x="3328972" y="5672153"/>
              <a:ext cx="5419491" cy="471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2400" spc="3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</a:t>
              </a:r>
              <a:r>
                <a:rPr lang="ko-KR" altLang="en-US" sz="2400" spc="3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외국환포지션 보고서 작성요령</a:t>
              </a:r>
              <a:endParaRPr lang="ko-KR" altLang="en-US" sz="24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  <p:sp>
          <p:nvSpPr>
            <p:cNvPr id="53" name="TextBox 3"/>
            <p:cNvSpPr txBox="1">
              <a:spLocks noChangeArrowheads="1"/>
            </p:cNvSpPr>
            <p:nvPr/>
          </p:nvSpPr>
          <p:spPr bwMode="auto">
            <a:xfrm>
              <a:off x="1857355" y="5621354"/>
              <a:ext cx="512764" cy="593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III</a:t>
              </a:r>
            </a:p>
          </p:txBody>
        </p:sp>
      </p:grpSp>
      <p:grpSp>
        <p:nvGrpSpPr>
          <p:cNvPr id="4" name="그룹 63"/>
          <p:cNvGrpSpPr>
            <a:grpSpLocks/>
          </p:cNvGrpSpPr>
          <p:nvPr/>
        </p:nvGrpSpPr>
        <p:grpSpPr bwMode="auto">
          <a:xfrm>
            <a:off x="2339752" y="1428736"/>
            <a:ext cx="6782400" cy="714375"/>
            <a:chOff x="2571750" y="1800991"/>
            <a:chExt cx="6572250" cy="714375"/>
          </a:xfrm>
        </p:grpSpPr>
        <p:grpSp>
          <p:nvGrpSpPr>
            <p:cNvPr id="4129" name="그룹 38"/>
            <p:cNvGrpSpPr>
              <a:grpSpLocks/>
            </p:cNvGrpSpPr>
            <p:nvPr/>
          </p:nvGrpSpPr>
          <p:grpSpPr bwMode="auto">
            <a:xfrm>
              <a:off x="2571750" y="1800991"/>
              <a:ext cx="6572250" cy="714375"/>
              <a:chOff x="2928926" y="2418131"/>
              <a:chExt cx="6572232" cy="714379"/>
            </a:xfrm>
          </p:grpSpPr>
          <p:grpSp>
            <p:nvGrpSpPr>
              <p:cNvPr id="4132" name="그룹 34"/>
              <p:cNvGrpSpPr>
                <a:grpSpLocks/>
              </p:cNvGrpSpPr>
              <p:nvPr/>
            </p:nvGrpSpPr>
            <p:grpSpPr bwMode="auto">
              <a:xfrm>
                <a:off x="4071966" y="2428868"/>
                <a:ext cx="5429192" cy="692904"/>
                <a:chOff x="4071966" y="1521651"/>
                <a:chExt cx="5429192" cy="692904"/>
              </a:xfrm>
            </p:grpSpPr>
            <p:pic>
              <p:nvPicPr>
                <p:cNvPr id="4136" name="그림 43" descr="02.png"/>
                <p:cNvPicPr>
                  <a:picLocks noChangeAspect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4071966" y="1521651"/>
                  <a:ext cx="5429192" cy="6929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5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257660" y="1633153"/>
                  <a:ext cx="4886311" cy="4699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ko-KR" altLang="en-US" sz="2400" spc="3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endParaRPr>
                </a:p>
              </p:txBody>
            </p:sp>
          </p:grpSp>
          <p:grpSp>
            <p:nvGrpSpPr>
              <p:cNvPr id="4133" name="그룹 37"/>
              <p:cNvGrpSpPr>
                <a:grpSpLocks/>
              </p:cNvGrpSpPr>
              <p:nvPr/>
            </p:nvGrpSpPr>
            <p:grpSpPr bwMode="auto">
              <a:xfrm>
                <a:off x="2928926" y="2418131"/>
                <a:ext cx="1000132" cy="714379"/>
                <a:chOff x="2786050" y="1500175"/>
                <a:chExt cx="1214446" cy="727550"/>
              </a:xfrm>
            </p:grpSpPr>
            <p:pic>
              <p:nvPicPr>
                <p:cNvPr id="4134" name="그림 41" descr="01.png"/>
                <p:cNvPicPr>
                  <a:picLocks noChangeAspect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2786050" y="1500175"/>
                  <a:ext cx="1214446" cy="727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3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3144597" y="1551912"/>
                  <a:ext cx="246742" cy="604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en-US" altLang="ko-KR" sz="3200" spc="-11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endParaRPr>
                </a:p>
              </p:txBody>
            </p:sp>
          </p:grpSp>
        </p:grpSp>
        <p:sp>
          <p:nvSpPr>
            <p:cNvPr id="47" name="TextBox 3"/>
            <p:cNvSpPr txBox="1">
              <a:spLocks noChangeArrowheads="1"/>
            </p:cNvSpPr>
            <p:nvPr/>
          </p:nvSpPr>
          <p:spPr bwMode="auto">
            <a:xfrm>
              <a:off x="2913063" y="1845441"/>
              <a:ext cx="297207" cy="594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0913" tIns="50457" rIns="100913" bIns="50457">
              <a:spAutoFit/>
            </a:bodyPr>
            <a:lstStyle/>
            <a:p>
              <a:pPr>
                <a:defRPr/>
              </a:pPr>
              <a:r>
                <a:rPr lang="en-US" altLang="ko-KR" sz="3200" spc="-11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rPr>
                <a:t>I</a:t>
              </a:r>
            </a:p>
          </p:txBody>
        </p:sp>
        <p:sp>
          <p:nvSpPr>
            <p:cNvPr id="55" name="TextBox 3"/>
            <p:cNvSpPr txBox="1">
              <a:spLocks noChangeArrowheads="1"/>
            </p:cNvSpPr>
            <p:nvPr/>
          </p:nvSpPr>
          <p:spPr bwMode="auto">
            <a:xfrm>
              <a:off x="4104896" y="1872429"/>
              <a:ext cx="4886325" cy="471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2400" spc="3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</a:t>
              </a:r>
              <a:r>
                <a:rPr lang="ko-KR" altLang="en-US" sz="2400" spc="3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외국환포지션 한도 제도 개괄</a:t>
              </a:r>
              <a:endParaRPr lang="ko-KR" altLang="en-US" sz="24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</p:grpSp>
      <p:grpSp>
        <p:nvGrpSpPr>
          <p:cNvPr id="8" name="그룹 65"/>
          <p:cNvGrpSpPr>
            <a:grpSpLocks/>
          </p:cNvGrpSpPr>
          <p:nvPr/>
        </p:nvGrpSpPr>
        <p:grpSpPr bwMode="auto">
          <a:xfrm>
            <a:off x="1979712" y="2260835"/>
            <a:ext cx="7142400" cy="714375"/>
            <a:chOff x="2000250" y="2857496"/>
            <a:chExt cx="7143750" cy="714375"/>
          </a:xfrm>
        </p:grpSpPr>
        <p:grpSp>
          <p:nvGrpSpPr>
            <p:cNvPr id="4121" name="그룹 45"/>
            <p:cNvGrpSpPr>
              <a:grpSpLocks/>
            </p:cNvGrpSpPr>
            <p:nvPr/>
          </p:nvGrpSpPr>
          <p:grpSpPr bwMode="auto">
            <a:xfrm>
              <a:off x="2000250" y="2857496"/>
              <a:ext cx="7143750" cy="714375"/>
              <a:chOff x="2928926" y="3418263"/>
              <a:chExt cx="7143736" cy="714379"/>
            </a:xfrm>
          </p:grpSpPr>
          <p:grpSp>
            <p:nvGrpSpPr>
              <p:cNvPr id="4123" name="그룹 40"/>
              <p:cNvGrpSpPr>
                <a:grpSpLocks/>
              </p:cNvGrpSpPr>
              <p:nvPr/>
            </p:nvGrpSpPr>
            <p:grpSpPr bwMode="auto">
              <a:xfrm>
                <a:off x="4071966" y="3429000"/>
                <a:ext cx="6000696" cy="692904"/>
                <a:chOff x="4071966" y="1521651"/>
                <a:chExt cx="6000696" cy="692904"/>
              </a:xfrm>
            </p:grpSpPr>
            <p:pic>
              <p:nvPicPr>
                <p:cNvPr id="4127" name="그림 50" descr="02.png"/>
                <p:cNvPicPr>
                  <a:picLocks noChangeAspect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4071966" y="1521651"/>
                  <a:ext cx="6000696" cy="6929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2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257662" y="1633153"/>
                  <a:ext cx="4886315" cy="4699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100913" tIns="50457" rIns="100913" bIns="50457">
                  <a:spAutoFit/>
                </a:bodyPr>
                <a:lstStyle/>
                <a:p>
                  <a:pPr>
                    <a:defRPr/>
                  </a:pPr>
                  <a:endParaRPr lang="ko-KR" altLang="en-US" sz="2400" spc="3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endParaRPr>
                </a:p>
              </p:txBody>
            </p:sp>
          </p:grpSp>
          <p:grpSp>
            <p:nvGrpSpPr>
              <p:cNvPr id="4124" name="그룹 43"/>
              <p:cNvGrpSpPr>
                <a:grpSpLocks/>
              </p:cNvGrpSpPr>
              <p:nvPr/>
            </p:nvGrpSpPr>
            <p:grpSpPr bwMode="auto">
              <a:xfrm>
                <a:off x="2928926" y="3418263"/>
                <a:ext cx="1000132" cy="714379"/>
                <a:chOff x="4173988" y="1500175"/>
                <a:chExt cx="1214446" cy="727550"/>
              </a:xfrm>
            </p:grpSpPr>
            <p:pic>
              <p:nvPicPr>
                <p:cNvPr id="4125" name="그림 48" descr="01.png"/>
                <p:cNvPicPr>
                  <a:picLocks noChangeAspect="1"/>
                </p:cNvPicPr>
                <p:nvPr/>
              </p:nvPicPr>
              <p:blipFill>
                <a:blip r:embed="rId7" cstate="print"/>
                <a:srcRect/>
                <a:stretch>
                  <a:fillRect/>
                </a:stretch>
              </p:blipFill>
              <p:spPr bwMode="auto">
                <a:xfrm>
                  <a:off x="4173988" y="1500175"/>
                  <a:ext cx="1214446" cy="727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0" name="TextBox 3"/>
                <p:cNvSpPr txBox="1">
                  <a:spLocks noChangeArrowheads="1"/>
                </p:cNvSpPr>
                <p:nvPr/>
              </p:nvSpPr>
              <p:spPr bwMode="auto">
                <a:xfrm>
                  <a:off x="4515187" y="1551912"/>
                  <a:ext cx="497340" cy="6046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100913" tIns="50457" rIns="100913" bIns="50457">
                  <a:spAutoFit/>
                </a:bodyPr>
                <a:lstStyle/>
                <a:p>
                  <a:pPr>
                    <a:defRPr/>
                  </a:pPr>
                  <a:r>
                    <a:rPr lang="en-US" altLang="ko-KR" sz="3200" spc="-110" dirty="0">
                      <a:solidFill>
                        <a:srgbClr val="00206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HY그래픽M" pitchFamily="18" charset="-127"/>
                      <a:ea typeface="HY그래픽M" pitchFamily="18" charset="-127"/>
                    </a:rPr>
                    <a:t>II</a:t>
                  </a:r>
                </a:p>
              </p:txBody>
            </p:sp>
          </p:grpSp>
        </p:grpSp>
        <p:sp>
          <p:nvSpPr>
            <p:cNvPr id="56" name="TextBox 3"/>
            <p:cNvSpPr txBox="1">
              <a:spLocks noChangeArrowheads="1"/>
            </p:cNvSpPr>
            <p:nvPr/>
          </p:nvSpPr>
          <p:spPr bwMode="auto">
            <a:xfrm>
              <a:off x="3656747" y="2957509"/>
              <a:ext cx="5072063" cy="471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0913" tIns="50457" rIns="100913" bIns="50457">
              <a:spAutoFit/>
            </a:bodyPr>
            <a:lstStyle/>
            <a:p>
              <a:pPr>
                <a:defRPr/>
              </a:pPr>
              <a:r>
                <a:rPr lang="ko-KR" altLang="en-US" sz="2400" spc="3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</a:t>
              </a:r>
              <a:r>
                <a:rPr lang="ko-KR" altLang="en-US" sz="2400" spc="3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외국환포지션 한도 세부내용</a:t>
              </a:r>
              <a:endParaRPr lang="ko-KR" altLang="en-US" sz="24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</p:grpSp>
      <p:grpSp>
        <p:nvGrpSpPr>
          <p:cNvPr id="48" name="그룹 56"/>
          <p:cNvGrpSpPr/>
          <p:nvPr/>
        </p:nvGrpSpPr>
        <p:grpSpPr>
          <a:xfrm>
            <a:off x="1285852" y="3925033"/>
            <a:ext cx="7862400" cy="714379"/>
            <a:chOff x="1500166" y="5286388"/>
            <a:chExt cx="7643834" cy="714379"/>
          </a:xfrm>
        </p:grpSpPr>
        <p:grpSp>
          <p:nvGrpSpPr>
            <p:cNvPr id="49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63" name="그림 62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4" name="TextBox 3"/>
              <p:cNvSpPr txBox="1">
                <a:spLocks noChangeArrowheads="1"/>
              </p:cNvSpPr>
              <p:nvPr/>
            </p:nvSpPr>
            <p:spPr bwMode="auto">
              <a:xfrm>
                <a:off x="4638530" y="1632488"/>
                <a:ext cx="5218356" cy="471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2400" b="1" spc="3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  <a:ea typeface="HY헤드라인M" pitchFamily="18" charset="-127"/>
                  </a:rPr>
                  <a:t>외국환포지션 별도한도 인정제도</a:t>
                </a:r>
                <a:endParaRPr lang="ko-KR" altLang="en-US" sz="2400" b="1" spc="3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grpSp>
          <p:nvGrpSpPr>
            <p:cNvPr id="54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57" name="그림 56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9" name="TextBox 3"/>
              <p:cNvSpPr txBox="1">
                <a:spLocks noChangeArrowheads="1"/>
              </p:cNvSpPr>
              <p:nvPr/>
            </p:nvSpPr>
            <p:spPr bwMode="auto">
              <a:xfrm>
                <a:off x="5838697" y="-684789"/>
                <a:ext cx="660905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b="1" spc="-11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rPr>
                  <a:t>IV</a:t>
                </a:r>
                <a:endParaRPr lang="en-US" altLang="ko-KR" sz="3200" b="1" spc="-11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endParaRPr>
              </a:p>
            </p:txBody>
          </p:sp>
        </p:grpSp>
      </p:grpSp>
      <p:grpSp>
        <p:nvGrpSpPr>
          <p:cNvPr id="66" name="그룹 56"/>
          <p:cNvGrpSpPr/>
          <p:nvPr/>
        </p:nvGrpSpPr>
        <p:grpSpPr>
          <a:xfrm>
            <a:off x="886104" y="4757136"/>
            <a:ext cx="8222400" cy="714379"/>
            <a:chOff x="1500166" y="5286388"/>
            <a:chExt cx="7643834" cy="714379"/>
          </a:xfrm>
        </p:grpSpPr>
        <p:grpSp>
          <p:nvGrpSpPr>
            <p:cNvPr id="67" name="그룹 46"/>
            <p:cNvGrpSpPr/>
            <p:nvPr/>
          </p:nvGrpSpPr>
          <p:grpSpPr>
            <a:xfrm>
              <a:off x="2643206" y="5297125"/>
              <a:ext cx="6500794" cy="692904"/>
              <a:chOff x="4071966" y="1521651"/>
              <a:chExt cx="6322649" cy="692904"/>
            </a:xfrm>
          </p:grpSpPr>
          <p:pic>
            <p:nvPicPr>
              <p:cNvPr id="71" name="그림 70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2" name="TextBox 3"/>
              <p:cNvSpPr txBox="1">
                <a:spLocks noChangeArrowheads="1"/>
              </p:cNvSpPr>
              <p:nvPr/>
            </p:nvSpPr>
            <p:spPr bwMode="auto">
              <a:xfrm>
                <a:off x="4649059" y="1632488"/>
                <a:ext cx="4886973" cy="471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2400" spc="3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rPr>
                  <a:t>외환전산망 </a:t>
                </a:r>
                <a:r>
                  <a:rPr lang="ko-KR" altLang="en-US" sz="2400" spc="300" dirty="0" err="1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rPr>
                  <a:t>보고시</a:t>
                </a:r>
                <a:r>
                  <a:rPr lang="ko-KR" altLang="en-US" sz="2400" spc="3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rPr>
                  <a:t> 유의사항</a:t>
                </a:r>
                <a:endParaRPr lang="ko-KR" altLang="en-US" sz="2400" b="1" spc="3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grpSp>
          <p:nvGrpSpPr>
            <p:cNvPr id="68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69" name="그림 68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0" name="TextBox 3"/>
              <p:cNvSpPr txBox="1">
                <a:spLocks noChangeArrowheads="1"/>
              </p:cNvSpPr>
              <p:nvPr/>
            </p:nvSpPr>
            <p:spPr bwMode="auto">
              <a:xfrm>
                <a:off x="5902295" y="-684789"/>
                <a:ext cx="498228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b="1" spc="-11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rPr>
                  <a:t>V</a:t>
                </a:r>
                <a:endParaRPr lang="en-US" altLang="ko-KR" sz="3200" b="1" spc="-11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endParaRPr>
              </a:p>
            </p:txBody>
          </p:sp>
        </p:grpSp>
      </p:grpSp>
      <p:grpSp>
        <p:nvGrpSpPr>
          <p:cNvPr id="73" name="그룹 56"/>
          <p:cNvGrpSpPr/>
          <p:nvPr/>
        </p:nvGrpSpPr>
        <p:grpSpPr>
          <a:xfrm>
            <a:off x="561600" y="5589240"/>
            <a:ext cx="8582400" cy="962137"/>
            <a:chOff x="1500166" y="5286388"/>
            <a:chExt cx="7643834" cy="962137"/>
          </a:xfrm>
        </p:grpSpPr>
        <p:grpSp>
          <p:nvGrpSpPr>
            <p:cNvPr id="74" name="그룹 46"/>
            <p:cNvGrpSpPr/>
            <p:nvPr/>
          </p:nvGrpSpPr>
          <p:grpSpPr>
            <a:xfrm>
              <a:off x="2643206" y="5297125"/>
              <a:ext cx="6500794" cy="951400"/>
              <a:chOff x="4071966" y="1521651"/>
              <a:chExt cx="6322649" cy="951400"/>
            </a:xfrm>
          </p:grpSpPr>
          <p:pic>
            <p:nvPicPr>
              <p:cNvPr id="78" name="그림 77" descr="02.png"/>
              <p:cNvPicPr>
                <a:picLocks noChangeAspect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071966" y="1521651"/>
                <a:ext cx="6322649" cy="6929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9" name="TextBox 3"/>
              <p:cNvSpPr txBox="1">
                <a:spLocks noChangeArrowheads="1"/>
              </p:cNvSpPr>
              <p:nvPr/>
            </p:nvSpPr>
            <p:spPr bwMode="auto">
              <a:xfrm>
                <a:off x="4582019" y="1632488"/>
                <a:ext cx="4886973" cy="8405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ko-KR" altLang="en-US" sz="2400" spc="3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rPr>
                  <a:t>외환전산망 보고서 작성 오류사례</a:t>
                </a:r>
                <a:r>
                  <a:rPr lang="en-US" altLang="ko-KR" sz="2400" spc="3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rPr>
                  <a:t/>
                </a:r>
                <a:br>
                  <a:rPr lang="en-US" altLang="ko-KR" sz="2400" spc="30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헤드라인M" pitchFamily="18" charset="-127"/>
                  </a:rPr>
                </a:br>
                <a:endParaRPr lang="ko-KR" altLang="en-US" sz="2400" b="1" spc="3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grpSp>
          <p:nvGrpSpPr>
            <p:cNvPr id="75" name="그룹 49"/>
            <p:cNvGrpSpPr/>
            <p:nvPr/>
          </p:nvGrpSpPr>
          <p:grpSpPr>
            <a:xfrm>
              <a:off x="1500166" y="5286388"/>
              <a:ext cx="1000132" cy="714379"/>
              <a:chOff x="5561926" y="-744298"/>
              <a:chExt cx="1214446" cy="727550"/>
            </a:xfrm>
          </p:grpSpPr>
          <p:pic>
            <p:nvPicPr>
              <p:cNvPr id="76" name="그림 75" descr="01.png"/>
              <p:cNvPicPr>
                <a:picLocks noChangeAspect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561926" y="-744298"/>
                <a:ext cx="1214446" cy="727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7" name="TextBox 3"/>
              <p:cNvSpPr txBox="1">
                <a:spLocks noChangeArrowheads="1"/>
              </p:cNvSpPr>
              <p:nvPr/>
            </p:nvSpPr>
            <p:spPr bwMode="auto">
              <a:xfrm>
                <a:off x="5887069" y="-684789"/>
                <a:ext cx="588629" cy="6053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100913" tIns="50457" rIns="100913" bIns="50457">
                <a:spAutoFit/>
              </a:bodyPr>
              <a:lstStyle/>
              <a:p>
                <a:pPr>
                  <a:defRPr/>
                </a:pPr>
                <a:r>
                  <a:rPr lang="en-US" altLang="ko-KR" sz="3200" spc="-110" dirty="0" smtClean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그래픽M" pitchFamily="18" charset="-127"/>
                    <a:ea typeface="HY그래픽M" pitchFamily="18" charset="-127"/>
                  </a:rPr>
                  <a:t>VI</a:t>
                </a:r>
                <a:endParaRPr lang="en-US" altLang="ko-KR" sz="3200" b="1" spc="-11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그래픽M" pitchFamily="18" charset="-127"/>
                  <a:ea typeface="HY그래픽M" pitchFamily="18" charset="-127"/>
                </a:endParaRPr>
              </a:p>
            </p:txBody>
          </p:sp>
        </p:grp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771AB-9608-4034-B1DF-5C18528F6230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pic>
        <p:nvPicPr>
          <p:cNvPr id="5123" name="Picture 11" descr="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4" name="Picture 6" descr="0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12" descr="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38576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10" descr="0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03648" y="2501900"/>
            <a:ext cx="6433841" cy="133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2627784" y="2852936"/>
            <a:ext cx="244951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ko-KR" altLang="en-US" sz="2800" b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rPr>
              <a:t>외국환포지션 한도 제도 개괄</a:t>
            </a:r>
            <a:endParaRPr lang="ko-KR" altLang="en-US" sz="2800" b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979712" y="2780928"/>
            <a:ext cx="354012" cy="5000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/>
          <a:lstStyle/>
          <a:p>
            <a:pPr algn="ctr">
              <a:defRPr/>
            </a:pPr>
            <a:r>
              <a:rPr lang="en-US" altLang="ko-KR" sz="3200" dirty="0" smtClean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rPr>
              <a:t>Ⅰ</a:t>
            </a:r>
            <a:endParaRPr lang="en-US" altLang="ko-KR" sz="3200" dirty="0">
              <a:solidFill>
                <a:srgbClr val="FFFF99"/>
              </a:solidFill>
              <a:latin typeface="HY견명조" pitchFamily="18" charset="-127"/>
              <a:ea typeface="HY견명조" pitchFamily="18" charset="-127"/>
            </a:endParaRPr>
          </a:p>
        </p:txBody>
      </p:sp>
      <p:sp>
        <p:nvSpPr>
          <p:cNvPr id="9" name="슬라이드 번호 개체 틀 2"/>
          <p:cNvSpPr txBox="1">
            <a:spLocks/>
          </p:cNvSpPr>
          <p:nvPr/>
        </p:nvSpPr>
        <p:spPr bwMode="auto">
          <a:xfrm>
            <a:off x="4283968" y="6519118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F4E4440-5762-490C-AAA9-64F8DA630D83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2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3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한도 제도 개괄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금융투자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82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0" name="그룹 4"/>
          <p:cNvGrpSpPr>
            <a:grpSpLocks noChangeAspect="1"/>
          </p:cNvGrpSpPr>
          <p:nvPr/>
        </p:nvGrpSpPr>
        <p:grpSpPr>
          <a:xfrm>
            <a:off x="500034" y="4925248"/>
            <a:ext cx="7861229" cy="1456080"/>
            <a:chOff x="354110" y="3261639"/>
            <a:chExt cx="7861229" cy="951685"/>
          </a:xfrm>
        </p:grpSpPr>
        <p:sp>
          <p:nvSpPr>
            <p:cNvPr id="103" name="모서리가 둥근 직사각형 5"/>
            <p:cNvSpPr/>
            <p:nvPr/>
          </p:nvSpPr>
          <p:spPr>
            <a:xfrm>
              <a:off x="2000232" y="3261639"/>
              <a:ext cx="6215107" cy="942213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FX4441 (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종합 포지션상황보고서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FX4442 (</a:t>
              </a:r>
              <a:r>
                <a:rPr lang="ko-KR" altLang="en-US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통화별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포지션상황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FX4444 (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외화자산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부채 현황 월보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0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FX4450 (</a:t>
              </a:r>
              <a:r>
                <a:rPr kumimoji="0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선물환 포지션상황보고서</a:t>
              </a:r>
              <a:r>
                <a:rPr kumimoji="0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)</a:t>
              </a:r>
              <a:endPara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4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보고서명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91" name="그룹 7"/>
          <p:cNvGrpSpPr>
            <a:grpSpLocks noChangeAspect="1"/>
          </p:cNvGrpSpPr>
          <p:nvPr/>
        </p:nvGrpSpPr>
        <p:grpSpPr>
          <a:xfrm>
            <a:off x="500034" y="1884283"/>
            <a:ext cx="7861229" cy="633336"/>
            <a:chOff x="354110" y="3261640"/>
            <a:chExt cx="7861229" cy="951684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금융투자업규정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제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3-48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조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관련법령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92" name="그룹 10"/>
          <p:cNvGrpSpPr>
            <a:grpSpLocks noChangeAspect="1"/>
          </p:cNvGrpSpPr>
          <p:nvPr/>
        </p:nvGrpSpPr>
        <p:grpSpPr>
          <a:xfrm>
            <a:off x="500034" y="2685706"/>
            <a:ext cx="7861229" cy="951684"/>
            <a:chOff x="354110" y="3261640"/>
            <a:chExt cx="7861229" cy="951684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금융감독원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한은 외환전산망을 통해 보고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보고대상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93" name="그룹 13"/>
          <p:cNvGrpSpPr>
            <a:grpSpLocks noChangeAspect="1"/>
          </p:cNvGrpSpPr>
          <p:nvPr/>
        </p:nvGrpSpPr>
        <p:grpSpPr>
          <a:xfrm>
            <a:off x="500034" y="3805477"/>
            <a:ext cx="7861229" cy="951684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일별 포지션 상황을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매월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보고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익월 말까지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위반시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영업일 내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금융감독원에 보고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보고주기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94" name="그룹 16"/>
          <p:cNvGrpSpPr>
            <a:grpSpLocks noChangeAspect="1"/>
          </p:cNvGrpSpPr>
          <p:nvPr/>
        </p:nvGrpSpPr>
        <p:grpSpPr>
          <a:xfrm>
            <a:off x="500034" y="1140134"/>
            <a:ext cx="7861229" cy="576062"/>
            <a:chOff x="354110" y="3261641"/>
            <a:chExt cx="7861229" cy="95168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00232" y="3261641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전월말</a:t>
              </a:r>
              <a:r>
                <a:rPr kumimoji="0"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자기자본의 </a:t>
              </a:r>
              <a:r>
                <a:rPr kumimoji="0" lang="en-US" altLang="ko-KR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50%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한      도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4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한도 제도 개괄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보험</a:t>
            </a: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82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4"/>
          <p:cNvGrpSpPr>
            <a:grpSpLocks noChangeAspect="1"/>
          </p:cNvGrpSpPr>
          <p:nvPr/>
        </p:nvGrpSpPr>
        <p:grpSpPr>
          <a:xfrm>
            <a:off x="500034" y="4997256"/>
            <a:ext cx="7861229" cy="1312064"/>
            <a:chOff x="354110" y="3261639"/>
            <a:chExt cx="7861229" cy="951685"/>
          </a:xfrm>
        </p:grpSpPr>
        <p:sp>
          <p:nvSpPr>
            <p:cNvPr id="103" name="모서리가 둥근 직사각형 5"/>
            <p:cNvSpPr/>
            <p:nvPr/>
          </p:nvSpPr>
          <p:spPr>
            <a:xfrm>
              <a:off x="2000232" y="3261639"/>
              <a:ext cx="6215107" cy="942213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FX4441 (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종합 포지션상황보고서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FX4442 (</a:t>
              </a:r>
              <a:r>
                <a:rPr lang="ko-KR" altLang="en-US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통화별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포지션상황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FX4444 (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외화자산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부채 현황 월보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</p:txBody>
        </p:sp>
        <p:sp>
          <p:nvSpPr>
            <p:cNvPr id="104" name="모서리가 둥근 직사각형 6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보고서명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3" name="그룹 7"/>
          <p:cNvGrpSpPr>
            <a:grpSpLocks noChangeAspect="1"/>
          </p:cNvGrpSpPr>
          <p:nvPr/>
        </p:nvGrpSpPr>
        <p:grpSpPr>
          <a:xfrm>
            <a:off x="500034" y="1956291"/>
            <a:ext cx="7861229" cy="633336"/>
            <a:chOff x="354110" y="3261640"/>
            <a:chExt cx="7861229" cy="951684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보험업감독규정 제</a:t>
              </a: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5-21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조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관련법령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4" name="그룹 10"/>
          <p:cNvGrpSpPr>
            <a:grpSpLocks noChangeAspect="1"/>
          </p:cNvGrpSpPr>
          <p:nvPr/>
        </p:nvGrpSpPr>
        <p:grpSpPr>
          <a:xfrm>
            <a:off x="500034" y="2757714"/>
            <a:ext cx="7861229" cy="951684"/>
            <a:chOff x="354110" y="3261640"/>
            <a:chExt cx="7861229" cy="951684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금융감독원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한은 외환전산망을 통해 보고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보고대상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5" name="그룹 13"/>
          <p:cNvGrpSpPr>
            <a:grpSpLocks noChangeAspect="1"/>
          </p:cNvGrpSpPr>
          <p:nvPr/>
        </p:nvGrpSpPr>
        <p:grpSpPr>
          <a:xfrm>
            <a:off x="500034" y="3877485"/>
            <a:ext cx="7861229" cy="951684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일별 포지션 상황을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매월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보고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익월 말까지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위반시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3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A000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영업일 내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금융감독원에 보고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</a:t>
              </a: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보고주기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6" name="그룹 16"/>
          <p:cNvGrpSpPr>
            <a:grpSpLocks noChangeAspect="1"/>
          </p:cNvGrpSpPr>
          <p:nvPr/>
        </p:nvGrpSpPr>
        <p:grpSpPr>
          <a:xfrm>
            <a:off x="500034" y="1212142"/>
            <a:ext cx="7861229" cy="576062"/>
            <a:chOff x="354110" y="3261641"/>
            <a:chExt cx="7861229" cy="951681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00232" y="3261641"/>
              <a:ext cx="6215107" cy="942215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전분기말 지급여력금액의</a:t>
              </a:r>
              <a:r>
                <a:rPr kumimoji="0" lang="ko-KR" altLang="en-US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en-US" altLang="ko-KR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20%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한      도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E855EA-C76F-4883-98E0-2A86DDBDA59F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8195" name="Picture 9" descr="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96975" y="2703513"/>
            <a:ext cx="7191375" cy="1247775"/>
            <a:chOff x="754" y="1703"/>
            <a:chExt cx="4530" cy="786"/>
          </a:xfrm>
        </p:grpSpPr>
        <p:pic>
          <p:nvPicPr>
            <p:cNvPr id="8198" name="Picture 12" descr="0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4" y="1703"/>
              <a:ext cx="4530" cy="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9" name="Text Box 10"/>
            <p:cNvSpPr txBox="1">
              <a:spLocks noChangeArrowheads="1"/>
            </p:cNvSpPr>
            <p:nvPr/>
          </p:nvSpPr>
          <p:spPr bwMode="auto">
            <a:xfrm>
              <a:off x="1701" y="1909"/>
              <a:ext cx="1989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외국환포지션 한도 세부내용</a:t>
              </a:r>
              <a:endParaRPr lang="ko-KR" altLang="ko-KR" sz="2800" b="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1199" y="1882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Ⅱ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8" name="슬라이드 번호 개체 틀 2"/>
          <p:cNvSpPr txBox="1">
            <a:spLocks/>
          </p:cNvSpPr>
          <p:nvPr/>
        </p:nvSpPr>
        <p:spPr bwMode="auto">
          <a:xfrm>
            <a:off x="4357688" y="6500813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C735301-AB27-4835-B272-9BCC48DB8F1E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5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/>
          <p:cNvSpPr/>
          <p:nvPr/>
        </p:nvSpPr>
        <p:spPr>
          <a:xfrm>
            <a:off x="571472" y="4891222"/>
            <a:ext cx="8001056" cy="1395298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현물 외화자산</a:t>
            </a:r>
            <a:r>
              <a:rPr kumimoji="0" lang="en-US" altLang="ko-KR" kern="0" spc="-1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부채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: 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대차대조표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난내계정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외화자산 및 부채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선물 외화자산</a:t>
            </a:r>
            <a:r>
              <a:rPr kumimoji="0" lang="en-US" altLang="ko-KR" kern="0" spc="-1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부채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: 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통화관련  파생상품거래  매입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매도분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		      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※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이자만 교환하는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Coupon Swap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은 제외</a:t>
            </a:r>
            <a:endParaRPr kumimoji="0" lang="ko-KR" altLang="en-US" kern="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571472" y="2000240"/>
            <a:ext cx="8001056" cy="2000240"/>
          </a:xfrm>
          <a:prstGeom prst="roundRect">
            <a:avLst/>
          </a:prstGeom>
          <a:solidFill>
            <a:srgbClr val="EEECE1"/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매영업일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잔액기준</a:t>
            </a:r>
            <a:r>
              <a:rPr kumimoji="0" lang="ko-KR" altLang="en-US" kern="0" spc="-18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외화자산과  부채의  차액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매입초과포지션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(O/B) :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매입액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&gt;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매도액</a:t>
            </a:r>
            <a:endParaRPr kumimoji="0" lang="ko-KR" altLang="en-US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-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매각초과포지션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(O/S) :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매입액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&lt;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매도액</a:t>
            </a:r>
            <a:endParaRPr kumimoji="0" lang="ko-KR" altLang="en-US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endParaRPr kumimoji="0" lang="en-US" altLang="ko-KR" sz="7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종합포지션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간편포지션 방식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,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선물환포지션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순합산포지션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방식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279900" y="6542992"/>
            <a:ext cx="584200" cy="222250"/>
          </a:xfrm>
        </p:spPr>
        <p:txBody>
          <a:bodyPr/>
          <a:lstStyle/>
          <a:p>
            <a:pPr>
              <a:defRPr/>
            </a:pPr>
            <a:fld id="{05A4411E-4535-477C-BE1B-BB21193BC2B2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12293" name="Rectangle 45"/>
          <p:cNvSpPr>
            <a:spLocks noChangeArrowheads="1"/>
          </p:cNvSpPr>
          <p:nvPr/>
        </p:nvSpPr>
        <p:spPr bwMode="auto">
          <a:xfrm>
            <a:off x="4279900" y="6542992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6</a:t>
            </a:fld>
            <a:endParaRPr lang="en-US" altLang="ko-KR" sz="1200" dirty="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한도 세부 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AutoShape 15"/>
          <p:cNvSpPr>
            <a:spLocks noChangeArrowheads="1"/>
          </p:cNvSpPr>
          <p:nvPr/>
        </p:nvSpPr>
        <p:spPr bwMode="auto">
          <a:xfrm>
            <a:off x="536006" y="1319903"/>
            <a:ext cx="2163786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포지션 산정방식</a:t>
            </a:r>
            <a:endParaRPr kumimoji="0" lang="ko-KR" altLang="en-US" sz="20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AutoShape 15"/>
          <p:cNvSpPr>
            <a:spLocks noChangeArrowheads="1"/>
          </p:cNvSpPr>
          <p:nvPr/>
        </p:nvSpPr>
        <p:spPr bwMode="auto">
          <a:xfrm>
            <a:off x="539552" y="4180467"/>
            <a:ext cx="3024336" cy="482600"/>
          </a:xfrm>
          <a:prstGeom prst="bevel">
            <a:avLst>
              <a:gd name="adj" fmla="val 12500"/>
            </a:avLst>
          </a:prstGeom>
          <a:gradFill rotWithShape="1">
            <a:gsLst>
              <a:gs pos="0">
                <a:srgbClr val="33CCFF"/>
              </a:gs>
              <a:gs pos="100000">
                <a:srgbClr val="33CCFF">
                  <a:gamma/>
                  <a:shade val="45882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외화자산</a:t>
            </a:r>
            <a:r>
              <a:rPr kumimoji="0" lang="en-US" altLang="ko-KR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20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및 부채의 범위</a:t>
            </a:r>
            <a:endParaRPr kumimoji="0" lang="ko-KR" altLang="en-US" sz="20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모서리가 둥근 직사각형 86"/>
          <p:cNvSpPr/>
          <p:nvPr/>
        </p:nvSpPr>
        <p:spPr>
          <a:xfrm>
            <a:off x="214282" y="1088929"/>
            <a:ext cx="8640960" cy="5328592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/>
        </p:nvGraphicFramePr>
        <p:xfrm>
          <a:off x="811516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3547820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표 89"/>
          <p:cNvGraphicFramePr>
            <a:graphicFrameLocks noGrp="1"/>
          </p:cNvGraphicFramePr>
          <p:nvPr/>
        </p:nvGraphicFramePr>
        <p:xfrm>
          <a:off x="6284124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884946" y="4749214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달러화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($)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09282" y="4749214"/>
            <a:ext cx="1238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엔화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￥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73578" y="4749214"/>
            <a:ext cx="14548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유로화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€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71778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+6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564066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+3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444386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-4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4686724" y="5396109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매각 초과 포지션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: -4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유로화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-4)</a:t>
            </a:r>
            <a:endParaRPr kumimoji="0" lang="ko-KR" altLang="en-US" sz="1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798292" y="5396109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매입 초과 포지션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: +9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달러화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+6,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엔화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+3)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7584" y="1167494"/>
            <a:ext cx="2376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간편포지션</a:t>
            </a:r>
            <a:r>
              <a:rPr lang="en-US" altLang="ko-K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]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279900" y="6542992"/>
            <a:ext cx="584200" cy="222250"/>
          </a:xfrm>
        </p:spPr>
        <p:txBody>
          <a:bodyPr/>
          <a:lstStyle/>
          <a:p>
            <a:pPr>
              <a:defRPr/>
            </a:pPr>
            <a:fld id="{05A4411E-4535-477C-BE1B-BB21193BC2B2}" type="slidenum">
              <a:rPr lang="en-US" altLang="ko-KR">
                <a:latin typeface="맑은 고딕" pitchFamily="50" charset="-127"/>
                <a:ea typeface="맑은 고딕" pitchFamily="50" charset="-127"/>
              </a:rPr>
              <a:pPr>
                <a:defRPr/>
              </a:pPr>
              <a:t>7</a:t>
            </a:fld>
            <a:endParaRPr lang="en-US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3" name="Rectangle 45"/>
          <p:cNvSpPr>
            <a:spLocks noChangeArrowheads="1"/>
          </p:cNvSpPr>
          <p:nvPr/>
        </p:nvSpPr>
        <p:spPr bwMode="auto">
          <a:xfrm>
            <a:off x="4279900" y="6542992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latin typeface="맑은 고딕" pitchFamily="50" charset="-127"/>
                <a:ea typeface="맑은 고딕" pitchFamily="50" charset="-127"/>
              </a:rPr>
              <a:pPr algn="ctr"/>
              <a:t>7</a:t>
            </a:fld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한도 세부 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55576" y="5157192"/>
            <a:ext cx="7560840" cy="1224136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각 </a:t>
            </a:r>
            <a:r>
              <a:rPr kumimoji="0" lang="ko-KR" altLang="en-US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통화별</a:t>
            </a:r>
            <a:r>
              <a:rPr kumimoji="0" lang="ko-KR" altLang="en-US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금액 상계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후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‘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∑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매입초과포지션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과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‘∑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매각초과포지션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을</a:t>
            </a:r>
            <a:endParaRPr kumimoji="0" lang="en-US" altLang="ko-KR" kern="0" dirty="0" smtClea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비교하여 절대값이 큰 금액을 선정</a:t>
            </a:r>
            <a:endParaRPr kumimoji="0" lang="en-US" altLang="ko-KR" kern="0" dirty="0" smtClea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sz="1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sz="16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예</a:t>
            </a:r>
            <a:r>
              <a:rPr kumimoji="0" lang="en-US" altLang="ko-KR" sz="16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) +6 + 3 = 9 &gt; |-4| </a:t>
            </a:r>
            <a:r>
              <a:rPr kumimoji="0" lang="ko-KR" altLang="en-US" sz="16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이므로 </a:t>
            </a:r>
            <a:r>
              <a:rPr kumimoji="0" lang="en-US" altLang="ko-KR" sz="16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ko-KR" altLang="en-US" sz="16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가 관리 대상</a:t>
            </a:r>
            <a:endParaRPr kumimoji="0" lang="en-US" altLang="ko-KR" sz="1600" u="sng" kern="0" dirty="0" smtClea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mph" presetSubtype="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2000" fill="hold"/>
                                        <p:tgtEl>
                                          <p:spTgt spid="9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4" presetClass="emph" presetSubtype="2" grpId="2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to="1.3" calcmode="lin" valueType="num">
                                      <p:cBhvr override="childStyle">
                                        <p:cTn id="83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500" fill="hold"/>
                                        <p:tgtEl>
                                          <p:spTgt spid="98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4" presetClass="emph" presetSubtype="2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to="1" calcmode="lin" valueType="num">
                                      <p:cBhvr override="childStyle">
                                        <p:cTn id="8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9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91" grpId="0"/>
      <p:bldP spid="92" grpId="0"/>
      <p:bldP spid="93" grpId="0"/>
      <p:bldP spid="94" grpId="0"/>
      <p:bldP spid="95" grpId="0"/>
      <p:bldP spid="96" grpId="0"/>
      <p:bldP spid="97" grpId="0" animBg="1"/>
      <p:bldP spid="98" grpId="0" animBg="1"/>
      <p:bldP spid="98" grpId="1" animBg="1"/>
      <p:bldP spid="98" grpId="2" animBg="1"/>
      <p:bldP spid="98" grpId="3" animBg="1"/>
      <p:bldP spid="98" grpId="4" animBg="1"/>
      <p:bldP spid="99" grpId="0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모서리가 둥근 직사각형 86"/>
          <p:cNvSpPr/>
          <p:nvPr/>
        </p:nvSpPr>
        <p:spPr>
          <a:xfrm>
            <a:off x="214282" y="1088929"/>
            <a:ext cx="8640960" cy="5328592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/>
        </p:nvGraphicFramePr>
        <p:xfrm>
          <a:off x="811516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3547820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표 89"/>
          <p:cNvGraphicFramePr>
            <a:graphicFrameLocks noGrp="1"/>
          </p:cNvGraphicFramePr>
          <p:nvPr/>
        </p:nvGraphicFramePr>
        <p:xfrm>
          <a:off x="6284124" y="1639637"/>
          <a:ext cx="1944072" cy="3114199"/>
        </p:xfrm>
        <a:graphic>
          <a:graphicData uri="http://schemas.openxmlformats.org/drawingml/2006/table">
            <a:tbl>
              <a:tblPr/>
              <a:tblGrid>
                <a:gridCol w="972036"/>
                <a:gridCol w="972036"/>
              </a:tblGrid>
              <a:tr h="37535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자산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 smtClean="0">
                          <a:latin typeface="HY울릉도M" pitchFamily="18" charset="-127"/>
                          <a:ea typeface="HY울릉도M" pitchFamily="18" charset="-127"/>
                        </a:rPr>
                        <a:t>부채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8666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  <a:tr h="39203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0D64C3"/>
                    </a:solidFill>
                  </a:tcPr>
                </a:tc>
              </a:tr>
            </a:tbl>
          </a:graphicData>
        </a:graphic>
      </p:graphicFrame>
      <p:sp>
        <p:nvSpPr>
          <p:cNvPr id="91" name="TextBox 90"/>
          <p:cNvSpPr txBox="1"/>
          <p:nvPr/>
        </p:nvSpPr>
        <p:spPr>
          <a:xfrm>
            <a:off x="884946" y="4749214"/>
            <a:ext cx="1772130" cy="43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달러화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($)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09282" y="4749214"/>
            <a:ext cx="1238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엔화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￥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73578" y="4749214"/>
            <a:ext cx="14548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유로화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200" dirty="0" smtClean="0">
                <a:latin typeface="맑은 고딕" pitchFamily="50" charset="-127"/>
                <a:ea typeface="맑은 고딕" pitchFamily="50" charset="-127"/>
              </a:rPr>
              <a:t>€</a:t>
            </a:r>
            <a:r>
              <a:rPr lang="en-US" altLang="ko-KR" sz="22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71778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+6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564066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+3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444386" y="2185902"/>
            <a:ext cx="959903" cy="561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-4</a:t>
            </a:r>
            <a:endParaRPr lang="ko-KR" altLang="en-US" sz="30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4686724" y="5396109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매각 초과 포지션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: -4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유로화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-4)</a:t>
            </a:r>
            <a:endParaRPr kumimoji="0" lang="ko-KR" altLang="en-US" sz="1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798292" y="5396109"/>
            <a:ext cx="3544257" cy="719117"/>
          </a:xfrm>
          <a:prstGeom prst="round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매입 초과 포지션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: +9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달러화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+6,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엔화 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+3)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7584" y="1167494"/>
            <a:ext cx="2376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2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순합산포지션</a:t>
            </a:r>
            <a:r>
              <a:rPr lang="en-US" altLang="ko-K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]</a:t>
            </a:r>
            <a:endParaRPr lang="ko-KR" alt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4279900" y="6542992"/>
            <a:ext cx="584200" cy="222250"/>
          </a:xfrm>
        </p:spPr>
        <p:txBody>
          <a:bodyPr/>
          <a:lstStyle/>
          <a:p>
            <a:pPr>
              <a:defRPr/>
            </a:pPr>
            <a:fld id="{05A4411E-4535-477C-BE1B-BB21193BC2B2}" type="slidenum">
              <a:rPr lang="en-US" altLang="ko-KR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12293" name="Rectangle 45"/>
          <p:cNvSpPr>
            <a:spLocks noChangeArrowheads="1"/>
          </p:cNvSpPr>
          <p:nvPr/>
        </p:nvSpPr>
        <p:spPr bwMode="auto">
          <a:xfrm>
            <a:off x="4279900" y="6542992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8</a:t>
            </a:fld>
            <a:endParaRPr lang="en-US" altLang="ko-KR" sz="1200" dirty="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한도 세부 내용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55576" y="5157192"/>
            <a:ext cx="7560840" cy="1224136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=‘∑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매입초과포지션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과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‘∑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매각초과포지션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상계</a:t>
            </a:r>
            <a:endParaRPr kumimoji="0" lang="en-US" altLang="ko-KR" kern="0" dirty="0" smtClea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| ∑ 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매입초과포지션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 | - | ∑ </a:t>
            </a:r>
            <a:r>
              <a:rPr kumimoji="0" lang="ko-KR" altLang="en-US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매각초과포지션</a:t>
            </a:r>
            <a:r>
              <a:rPr kumimoji="0" lang="en-US" altLang="ko-KR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|</a:t>
            </a:r>
          </a:p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" kern="0" dirty="0" smtClea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예</a:t>
            </a:r>
            <a:r>
              <a:rPr kumimoji="0" lang="en-US" altLang="ko-KR" sz="1600" u="sng" kern="0" dirty="0" smtClea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)  |+6+3| - |-4|  = 5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90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4" presetClass="emph" presetSubtype="2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to="1" calcmode="lin" valueType="num">
                                      <p:cBhvr override="childStyle">
                                        <p:cTn id="8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42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91" grpId="0"/>
      <p:bldP spid="92" grpId="0"/>
      <p:bldP spid="93" grpId="0"/>
      <p:bldP spid="94" grpId="0"/>
      <p:bldP spid="95" grpId="0"/>
      <p:bldP spid="96" grpId="0"/>
      <p:bldP spid="97" grpId="0" animBg="1"/>
      <p:bldP spid="98" grpId="0" animBg="1"/>
      <p:bldP spid="98" grpId="4" animBg="1"/>
      <p:bldP spid="99" grpId="0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E855EA-C76F-4883-98E0-2A86DDBDA59F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8195" name="Picture 9" descr="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96975" y="2703513"/>
            <a:ext cx="7191375" cy="1247775"/>
            <a:chOff x="754" y="1703"/>
            <a:chExt cx="4530" cy="786"/>
          </a:xfrm>
        </p:grpSpPr>
        <p:pic>
          <p:nvPicPr>
            <p:cNvPr id="8198" name="Picture 12" descr="0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4" y="1703"/>
              <a:ext cx="4530" cy="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9" name="Text Box 10"/>
            <p:cNvSpPr txBox="1">
              <a:spLocks noChangeArrowheads="1"/>
            </p:cNvSpPr>
            <p:nvPr/>
          </p:nvSpPr>
          <p:spPr bwMode="auto">
            <a:xfrm>
              <a:off x="1701" y="1909"/>
              <a:ext cx="1989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외국환포지션 보고서 작성요령</a:t>
              </a:r>
              <a:endParaRPr lang="ko-KR" altLang="ko-KR" sz="2800" b="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1199" y="1882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Ⅲ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8" name="슬라이드 번호 개체 틀 2"/>
          <p:cNvSpPr txBox="1">
            <a:spLocks/>
          </p:cNvSpPr>
          <p:nvPr/>
        </p:nvSpPr>
        <p:spPr bwMode="auto">
          <a:xfrm>
            <a:off x="4357688" y="6500813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6C735301-AB27-4835-B272-9BCC48DB8F1E}" type="slidenum">
              <a:rPr lang="en-US" altLang="ko-KR" sz="1200">
                <a:latin typeface="Arial" pitchFamily="34" charset="0"/>
                <a:ea typeface="+mn-ea"/>
              </a:rPr>
              <a:pPr algn="ctr">
                <a:defRPr/>
              </a:pPr>
              <a:t>9</a:t>
            </a:fld>
            <a:endParaRPr lang="en-US" altLang="ko-KR" sz="1200" dirty="0">
              <a:latin typeface="Arial" pitchFamily="34" charset="0"/>
              <a:ea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보고서 작성요령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8" name="Picture 2"/>
          <p:cNvPicPr preferRelativeResize="0">
            <a:picLocks noChangeArrowheads="1"/>
          </p:cNvPicPr>
          <p:nvPr/>
        </p:nvPicPr>
        <p:blipFill>
          <a:blip r:embed="rId3" cstate="print"/>
          <a:srcRect t="19738" r="8072" b="33333"/>
          <a:stretch>
            <a:fillRect/>
          </a:stretch>
        </p:blipFill>
        <p:spPr bwMode="auto">
          <a:xfrm>
            <a:off x="142876" y="1124744"/>
            <a:ext cx="8929718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10</a:t>
            </a:fld>
            <a:endParaRPr lang="en-US" altLang="ko-KR" sz="1200" dirty="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E75D7-2F5D-4CC2-B82E-83A258875493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11267" name="Picture 2" descr="master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E83C7017-9573-410C-A3ED-4748E0637C4C}" type="slidenum">
              <a:rPr lang="en-US" altLang="ko-KR" sz="1200">
                <a:ea typeface="굴림" pitchFamily="50" charset="-127"/>
              </a:rPr>
              <a:pPr algn="ctr"/>
              <a:t>11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보고서 작성요령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82" name="Picture 42" descr="08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" name="TextBox 126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7"/>
          <p:cNvGrpSpPr>
            <a:grpSpLocks noChangeAspect="1"/>
          </p:cNvGrpSpPr>
          <p:nvPr/>
        </p:nvGrpSpPr>
        <p:grpSpPr>
          <a:xfrm>
            <a:off x="467544" y="3068960"/>
            <a:ext cx="8352928" cy="936104"/>
            <a:chOff x="354110" y="3261639"/>
            <a:chExt cx="7861229" cy="951685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2000232" y="3261639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납입자본금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적립금</a:t>
              </a: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이월이익잉여금의 합계액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※ 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외국계 지점의 경우 영업기금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적립금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이월이익잉여금의 합계액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자기자본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5" name="그룹 13"/>
          <p:cNvGrpSpPr>
            <a:grpSpLocks noChangeAspect="1"/>
          </p:cNvGrpSpPr>
          <p:nvPr/>
        </p:nvGrpSpPr>
        <p:grpSpPr>
          <a:xfrm>
            <a:off x="467544" y="4365104"/>
            <a:ext cx="8352928" cy="1728192"/>
            <a:chOff x="354110" y="3261640"/>
            <a:chExt cx="7861229" cy="951684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000232" y="3261640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자본금 또는 영업기금의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환위험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회피를 위한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외국환매입분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lang="en-US" altLang="ko-KR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  </a:t>
              </a:r>
              <a:r>
                <a:rPr kumimoji="0" lang="en-US" altLang="ko-KR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⇒</a:t>
              </a:r>
              <a:r>
                <a:rPr lang="en-US" altLang="ko-KR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자기자본 </a:t>
              </a:r>
              <a:r>
                <a:rPr kumimoji="0" lang="ko-KR" altLang="en-US" kern="0" dirty="0" err="1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실제헤지분</a:t>
              </a:r>
              <a:endParaRPr kumimoji="0" lang="en-US" altLang="ko-KR" sz="2200" kern="0" dirty="0" smtClean="0">
                <a:solidFill>
                  <a:srgbClr val="8A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endParaRPr kumimoji="1" lang="en-US" altLang="ko-KR" sz="10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tabLst/>
                <a:defRPr/>
              </a:pPr>
              <a:r>
                <a:rPr kumimoji="1" lang="en-US" altLang="ko-KR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이월이익잉여금 </a:t>
              </a:r>
              <a:r>
                <a:rPr kumimoji="1" lang="ko-KR" altLang="en-US" sz="180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환위험</a:t>
              </a:r>
              <a:r>
                <a:rPr kumimoji="1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회피를 위해 인정받은 별도한도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1F497D">
                    <a:lumMod val="75000"/>
                  </a:srgbClr>
                </a:buClr>
                <a:buSzPct val="145000"/>
                <a:tabLst/>
                <a:defRPr/>
              </a:pPr>
              <a:r>
                <a:rPr kumimoji="0" lang="en-US" altLang="ko-KR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   ⇒</a:t>
              </a:r>
              <a:r>
                <a:rPr lang="en-US" altLang="ko-KR" kern="0" dirty="0" smtClean="0">
                  <a:solidFill>
                    <a:srgbClr val="1F497D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kumimoji="0" lang="ko-KR" altLang="en-US" kern="0" dirty="0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이월이익잉여금 </a:t>
              </a:r>
              <a:r>
                <a:rPr kumimoji="0" lang="ko-KR" altLang="en-US" kern="0" dirty="0" err="1" smtClean="0">
                  <a:solidFill>
                    <a:srgbClr val="8A0000"/>
                  </a:solidFill>
                  <a:latin typeface="맑은 고딕" pitchFamily="50" charset="-127"/>
                  <a:ea typeface="맑은 고딕" pitchFamily="50" charset="-127"/>
                </a:rPr>
                <a:t>실제헤지분</a:t>
              </a:r>
              <a:endParaRPr kumimoji="1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54110" y="3267750"/>
              <a:ext cx="1500198" cy="945574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한도관리</a:t>
              </a:r>
              <a:r>
                <a:rPr kumimoji="0" lang="en-US" altLang="ko-KR" sz="2000" i="0" u="none" strike="noStrike" kern="0" cap="none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/>
              </a:r>
              <a:br>
                <a:rPr kumimoji="0" lang="en-US" altLang="ko-KR" sz="2000" i="0" u="none" strike="noStrike" kern="0" cap="none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</a:br>
              <a:r>
                <a:rPr kumimoji="0" lang="ko-KR" altLang="en-US" sz="2000" i="0" u="none" strike="noStrike" kern="0" cap="none" normalizeH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제외대상</a:t>
              </a:r>
              <a:endParaRPr kumimoji="0" lang="ko-KR" altLang="en-US" sz="2000" i="0" u="none" strike="noStrike" kern="0" cap="none" normalizeH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  <p:grpSp>
        <p:nvGrpSpPr>
          <p:cNvPr id="6" name="그룹 16"/>
          <p:cNvGrpSpPr>
            <a:grpSpLocks noChangeAspect="1"/>
          </p:cNvGrpSpPr>
          <p:nvPr/>
        </p:nvGrpSpPr>
        <p:grpSpPr>
          <a:xfrm>
            <a:off x="467544" y="1340769"/>
            <a:ext cx="8352928" cy="1368154"/>
            <a:chOff x="354110" y="3261639"/>
            <a:chExt cx="7861229" cy="951683"/>
          </a:xfrm>
        </p:grpSpPr>
        <p:sp>
          <p:nvSpPr>
            <p:cNvPr id="95" name="모서리가 둥근 직사각형 94"/>
            <p:cNvSpPr/>
            <p:nvPr/>
          </p:nvSpPr>
          <p:spPr>
            <a:xfrm>
              <a:off x="2000232" y="3261639"/>
              <a:ext cx="6215107" cy="942214"/>
            </a:xfrm>
            <a:prstGeom prst="roundRect">
              <a:avLst/>
            </a:prstGeom>
            <a:solidFill>
              <a:srgbClr val="EEECE1"/>
            </a:soli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288000" indent="-288000" algn="just" fontAlgn="auto" latinLnBrk="0"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buFont typeface="Arial" pitchFamily="34" charset="0"/>
                <a:buChar char="•"/>
                <a:defRPr/>
              </a:pPr>
              <a:r>
                <a:rPr kumimoji="0"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전년도 외국환포지션 한도 </a:t>
              </a:r>
              <a:r>
                <a:rPr kumimoji="0" lang="ko-KR" altLang="en-US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산정시</a:t>
              </a:r>
              <a:r>
                <a:rPr kumimoji="0" lang="ko-KR" altLang="en-US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적용환율 및 전년도 평균 매매기준율의 평균</a:t>
              </a:r>
              <a:endPara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540000" indent="-720000" algn="just" fontAlgn="auto" latinLnBrk="0">
                <a:spcBef>
                  <a:spcPts val="0"/>
                </a:spcBef>
                <a:spcAft>
                  <a:spcPts val="600"/>
                </a:spcAft>
                <a:buClr>
                  <a:srgbClr val="4F81BD">
                    <a:lumMod val="75000"/>
                  </a:srgbClr>
                </a:buClr>
                <a:buSzPct val="145000"/>
                <a:defRPr/>
              </a:pPr>
              <a:r>
                <a:rPr lang="en-US" altLang="ko-KR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   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※ 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미 달러화 이외 외국통화의 대미달러환율은 </a:t>
              </a:r>
              <a:r>
                <a:rPr lang="ko-KR" altLang="en-US" sz="1400" kern="0" dirty="0" err="1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매영업일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 외국환중개회사의 장이 산출</a:t>
              </a:r>
              <a:r>
                <a:rPr lang="en-US" altLang="ko-KR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·</a:t>
              </a:r>
              <a:r>
                <a:rPr lang="ko-KR" altLang="en-US" sz="1400" kern="0" dirty="0" smtClean="0">
                  <a:solidFill>
                    <a:srgbClr val="002060"/>
                  </a:solidFill>
                  <a:latin typeface="맑은 고딕" pitchFamily="50" charset="-127"/>
                  <a:ea typeface="맑은 고딕" pitchFamily="50" charset="-127"/>
                </a:rPr>
                <a:t>통보하는 환율 적용</a:t>
              </a:r>
              <a:endPara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모서리가 둥근 직사각형 95"/>
            <p:cNvSpPr/>
            <p:nvPr/>
          </p:nvSpPr>
          <p:spPr>
            <a:xfrm>
              <a:off x="354110" y="3267747"/>
              <a:ext cx="1500198" cy="945575"/>
            </a:xfrm>
            <a:prstGeom prst="roundRect">
              <a:avLst/>
            </a:prstGeom>
            <a:gradFill rotWithShape="1">
              <a:gsLst>
                <a:gs pos="0">
                  <a:srgbClr val="1F497D">
                    <a:tint val="40000"/>
                    <a:satMod val="350000"/>
                  </a:srgbClr>
                </a:gs>
                <a:gs pos="40000">
                  <a:srgbClr val="1F497D">
                    <a:tint val="45000"/>
                    <a:shade val="99000"/>
                    <a:satMod val="350000"/>
                  </a:srgbClr>
                </a:gs>
                <a:gs pos="100000">
                  <a:srgbClr val="1F497D">
                    <a:shade val="20000"/>
                    <a:satMod val="255000"/>
                  </a:srgbClr>
                </a:gs>
              </a:gsLst>
              <a:path path="circle">
                <a:fillToRect l="50000" t="-80000" r="50000" b="180000"/>
              </a:path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환</a:t>
              </a:r>
              <a:r>
                <a:rPr kumimoji="0" lang="ko-KR" altLang="en-US" sz="2000" i="0" u="none" strike="noStrike" kern="0" cap="none" spc="-15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      </a:t>
              </a:r>
              <a:r>
                <a:rPr kumimoji="0" lang="ko-KR" altLang="en-US" sz="2000" kern="0" spc="-150" dirty="0" smtClean="0">
                  <a:solidFill>
                    <a:sysClr val="window" lastClr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  <a:cs typeface="한컴돋움" pitchFamily="18" charset="-127"/>
                </a:rPr>
                <a:t>율</a:t>
              </a:r>
              <a:endParaRPr kumimoji="0" lang="ko-KR" altLang="en-US" sz="2000" i="0" u="none" strike="noStrike" kern="0" cap="none" spc="-15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한컴돋움" pitchFamily="18" charset="-127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043608" y="2590800"/>
            <a:ext cx="7056784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외국환포지션 별도한도 인정제도</a:t>
              </a:r>
              <a:endParaRPr lang="ko-KR" altLang="ko-KR" sz="2800" b="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Ⅳ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12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27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외국환포지션 별도한도 인정제도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0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TextBox 40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7DD57775-E915-4F0B-BFAA-2A210537C6EA}" type="slidenum">
              <a:rPr lang="en-US" altLang="ko-KR" sz="1200">
                <a:ea typeface="굴림" pitchFamily="50" charset="-127"/>
              </a:rPr>
              <a:pPr algn="ctr"/>
              <a:t>13</a:t>
            </a:fld>
            <a:endParaRPr lang="en-US" altLang="ko-KR" sz="1200" dirty="0">
              <a:ea typeface="굴림" pitchFamily="50" charset="-127"/>
            </a:endParaRPr>
          </a:p>
        </p:txBody>
      </p:sp>
      <p:grpSp>
        <p:nvGrpSpPr>
          <p:cNvPr id="15" name="Group 4"/>
          <p:cNvGrpSpPr>
            <a:grpSpLocks/>
          </p:cNvGrpSpPr>
          <p:nvPr/>
        </p:nvGrpSpPr>
        <p:grpSpPr bwMode="auto">
          <a:xfrm>
            <a:off x="144463" y="1571625"/>
            <a:ext cx="4427537" cy="4224338"/>
            <a:chOff x="34" y="1123"/>
            <a:chExt cx="1980" cy="3118"/>
          </a:xfrm>
        </p:grpSpPr>
        <p:pic>
          <p:nvPicPr>
            <p:cNvPr id="16" name="Picture 5" descr="02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4" y="1224"/>
              <a:ext cx="1980" cy="30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Picture 6" descr="04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08" y="1123"/>
              <a:ext cx="792" cy="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366" y="1215"/>
              <a:ext cx="475" cy="217"/>
            </a:xfrm>
            <a:prstGeom prst="rect">
              <a:avLst/>
            </a:prstGeom>
            <a:noFill/>
            <a:ln w="762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dirty="0" smtClean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인정사유</a:t>
              </a:r>
              <a:endParaRPr lang="ko-KR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9" name="Group 4"/>
          <p:cNvGrpSpPr>
            <a:grpSpLocks/>
          </p:cNvGrpSpPr>
          <p:nvPr/>
        </p:nvGrpSpPr>
        <p:grpSpPr bwMode="auto">
          <a:xfrm>
            <a:off x="4397375" y="1571625"/>
            <a:ext cx="4746625" cy="4227513"/>
            <a:chOff x="34" y="1122"/>
            <a:chExt cx="1980" cy="3119"/>
          </a:xfrm>
        </p:grpSpPr>
        <p:pic>
          <p:nvPicPr>
            <p:cNvPr id="20" name="Picture 5" descr="02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4" y="1224"/>
              <a:ext cx="1980" cy="30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Picture 6" descr="04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1" y="1122"/>
              <a:ext cx="697" cy="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Rectangle 8"/>
            <p:cNvSpPr>
              <a:spLocks noChangeArrowheads="1"/>
            </p:cNvSpPr>
            <p:nvPr/>
          </p:nvSpPr>
          <p:spPr bwMode="auto">
            <a:xfrm>
              <a:off x="329" y="1214"/>
              <a:ext cx="475" cy="217"/>
            </a:xfrm>
            <a:prstGeom prst="rect">
              <a:avLst/>
            </a:prstGeom>
            <a:noFill/>
            <a:ln w="762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dirty="0" smtClean="0">
                  <a:solidFill>
                    <a:srgbClr val="FF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절  차</a:t>
              </a:r>
              <a:endParaRPr lang="ko-KR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653345" y="2708275"/>
            <a:ext cx="3240088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>
              <a:buClr>
                <a:srgbClr val="3E7F15"/>
              </a:buClr>
              <a:buSzPts val="900"/>
              <a:buFont typeface="Arial" charset="0"/>
              <a:buNone/>
              <a:defRPr/>
            </a:pPr>
            <a:r>
              <a:rPr lang="ko-KR" altLang="en-US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외국금융회사 국내지점이 이월</a:t>
            </a:r>
            <a:endParaRPr lang="en-US" altLang="ko-KR" dirty="0" smtClean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  <a:defRPr/>
            </a:pPr>
            <a:r>
              <a:rPr lang="ko-KR" altLang="en-US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이익잉여금의 </a:t>
            </a:r>
            <a:r>
              <a:rPr lang="ko-KR" altLang="en-US" dirty="0" err="1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환위험을</a:t>
            </a:r>
            <a:r>
              <a:rPr lang="ko-KR" altLang="en-US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회피하기</a:t>
            </a:r>
            <a:endParaRPr lang="en-US" altLang="ko-KR" dirty="0" smtClean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  <a:defRPr/>
            </a:pPr>
            <a:r>
              <a:rPr lang="ko-KR" altLang="en-US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위해 외국환을 매입하는 경우</a:t>
            </a:r>
            <a:endParaRPr lang="en-US" altLang="ko-KR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653345" y="3994150"/>
            <a:ext cx="2447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ko-KR" altLang="en-US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부</a:t>
            </a:r>
            <a:r>
              <a:rPr lang="ko-KR" altLang="en-US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득이하게 외국환포지션 한도 </a:t>
            </a:r>
            <a:endParaRPr lang="en-US" altLang="ko-KR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ko-KR" altLang="en-US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초과가</a:t>
            </a:r>
            <a:r>
              <a:rPr lang="en-US" altLang="ko-KR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필요하다고 </a:t>
            </a:r>
            <a:r>
              <a:rPr lang="ko-KR" altLang="en-US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금감원장이</a:t>
            </a:r>
            <a:r>
              <a:rPr lang="ko-KR" altLang="en-US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ko-KR" altLang="en-US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인정하는 경우</a:t>
            </a:r>
            <a:endParaRPr lang="en-US" altLang="ko-KR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5" name="Picture 78" descr="AQU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3784" y="4116134"/>
            <a:ext cx="92075" cy="92075"/>
          </a:xfrm>
          <a:prstGeom prst="rect">
            <a:avLst/>
          </a:prstGeom>
          <a:noFill/>
          <a:effectLst>
            <a:outerShdw dist="17961" dir="2700000" algn="ctr" rotWithShape="0">
              <a:schemeClr val="tx1"/>
            </a:outerShdw>
          </a:effectLst>
        </p:spPr>
      </p:pic>
      <p:pic>
        <p:nvPicPr>
          <p:cNvPr id="26" name="Picture 78" descr="AQU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0032" y="2806686"/>
            <a:ext cx="92075" cy="92075"/>
          </a:xfrm>
          <a:prstGeom prst="rect">
            <a:avLst/>
          </a:prstGeom>
          <a:noFill/>
          <a:effectLst>
            <a:outerShdw dist="17961" dir="2700000" algn="ctr" rotWithShape="0">
              <a:schemeClr val="tx1"/>
            </a:outerShdw>
          </a:effectLst>
        </p:spPr>
      </p:pic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4900640" y="3429000"/>
            <a:ext cx="3671888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이월이익잉여금 </a:t>
            </a:r>
            <a:r>
              <a:rPr lang="ko-KR" altLang="en-US" sz="160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환위험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헤지를</a:t>
            </a:r>
            <a:r>
              <a:rPr lang="en-US" altLang="ko-KR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위해 </a:t>
            </a:r>
            <a:endParaRPr lang="en-US" altLang="ko-KR" sz="160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별도한도를 인정받는 경우</a:t>
            </a:r>
            <a:r>
              <a:rPr lang="en-US" altLang="ko-KR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매년 </a:t>
            </a:r>
            <a:endParaRPr lang="en-US" altLang="ko-KR" sz="160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결산일 </a:t>
            </a:r>
            <a:r>
              <a:rPr lang="en-US" altLang="ko-KR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개월 전까지</a:t>
            </a:r>
            <a:endParaRPr lang="en-US" altLang="ko-KR" sz="160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endParaRPr lang="en-US" altLang="ko-KR" sz="100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다음 연도 별도한도를 인정받고자</a:t>
            </a:r>
            <a:endParaRPr lang="en-US" altLang="ko-KR" sz="160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en-US" altLang="ko-KR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하는 경우 매년 </a:t>
            </a:r>
            <a:r>
              <a:rPr lang="en-US" altLang="ko-KR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11</a:t>
            </a:r>
            <a:r>
              <a:rPr lang="ko-KR" altLang="en-US" sz="160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월말까지</a:t>
            </a:r>
            <a:endParaRPr lang="en-US" altLang="ko-KR" sz="1600" dirty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4972050" y="2666932"/>
            <a:ext cx="2592388" cy="72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ko-KR" altLang="en-US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별도한도 인정신청서를 다음의</a:t>
            </a:r>
            <a:endParaRPr lang="en-US" altLang="ko-KR" dirty="0" smtClean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rgbClr val="3E7F15"/>
              </a:buClr>
              <a:buSzPts val="900"/>
              <a:buFont typeface="Arial" charset="0"/>
              <a:buNone/>
            </a:pPr>
            <a:r>
              <a:rPr lang="ko-KR" altLang="en-US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기한 내에 </a:t>
            </a:r>
            <a:r>
              <a:rPr lang="ko-KR" altLang="en-US" dirty="0" err="1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금감원장에게</a:t>
            </a:r>
            <a:r>
              <a:rPr lang="ko-KR" altLang="en-US" dirty="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제출</a:t>
            </a:r>
            <a:endParaRPr lang="en-US" altLang="ko-KR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0" name="Picture 78" descr="AQU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4896" y="2832869"/>
            <a:ext cx="92075" cy="92075"/>
          </a:xfrm>
          <a:prstGeom prst="rect">
            <a:avLst/>
          </a:prstGeom>
          <a:noFill/>
          <a:effectLst>
            <a:outerShdw dist="17961" dir="2700000" algn="ctr" rotWithShape="0">
              <a:schemeClr val="tx1"/>
            </a:outerShdw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776413" y="2590800"/>
            <a:ext cx="6086475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815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외환전산망 </a:t>
              </a:r>
              <a:r>
                <a:rPr lang="ko-KR" altLang="en-US" sz="2800" b="0" dirty="0" err="1" smtClean="0">
                  <a:solidFill>
                    <a:srgbClr val="00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보고시</a:t>
              </a:r>
              <a:r>
                <a:rPr lang="ko-KR" altLang="en-US" sz="2800" b="0" dirty="0" smtClean="0">
                  <a:solidFill>
                    <a:srgbClr val="00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 유의사항</a:t>
              </a:r>
              <a:endParaRPr lang="ko-KR" altLang="ko-KR" sz="2800" b="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Ⅴ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14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15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81350" y="1500174"/>
            <a:ext cx="7776864" cy="3143272"/>
          </a:xfrm>
          <a:prstGeom prst="roundRect">
            <a:avLst/>
          </a:prstGeom>
          <a:gradFill>
            <a:gsLst>
              <a:gs pos="4000">
                <a:sysClr val="window" lastClr="FFFFFF"/>
              </a:gs>
              <a:gs pos="100000">
                <a:srgbClr val="8064A2">
                  <a:lumMod val="40000"/>
                  <a:lumOff val="60000"/>
                </a:srgbClr>
              </a:gs>
            </a:gsLst>
            <a:lin ang="2700000" scaled="1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Tx/>
              <a:buNone/>
              <a:tabLst/>
              <a:defRPr/>
            </a:pPr>
            <a:r>
              <a:rPr kumimoji="0" lang="en-US" altLang="ko-KR" sz="220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&lt;</a:t>
            </a:r>
            <a:r>
              <a:rPr kumimoji="0" lang="ko-KR" altLang="en-US" sz="220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제출해야 할 보고서</a:t>
            </a:r>
            <a:r>
              <a:rPr kumimoji="0" lang="en-US" altLang="ko-KR" sz="220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rPr>
              <a:t>&gt;</a:t>
            </a: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Tx/>
              <a:buNone/>
              <a:tabLst/>
              <a:defRPr/>
            </a:pPr>
            <a:endParaRPr kumimoji="0" lang="en-US" altLang="ko-KR" sz="500" i="0" u="none" strike="noStrike" kern="0" cap="none" spc="0" normalizeH="0" baseline="0" noProof="0" dirty="0" smtClean="0">
              <a:ln>
                <a:noFill/>
              </a:ln>
              <a:solidFill>
                <a:srgbClr val="8A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FX4441(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종합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포지션상황보고서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 :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월보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FX4442(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통화별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포지션상황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 :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월보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FX4444(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외화자산·부채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현황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분기보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 : </a:t>
            </a:r>
            <a:r>
              <a:rPr kumimoji="0" lang="ko-KR" altLang="en-US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분기보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FX4450(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선물환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포지션상황보고서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 :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월보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64"/>
          <p:cNvGrpSpPr/>
          <p:nvPr/>
        </p:nvGrpSpPr>
        <p:grpSpPr>
          <a:xfrm>
            <a:off x="1043608" y="2348880"/>
            <a:ext cx="7135485" cy="1428088"/>
            <a:chOff x="1013398" y="1976608"/>
            <a:chExt cx="7135485" cy="1428088"/>
          </a:xfrm>
        </p:grpSpPr>
        <p:sp>
          <p:nvSpPr>
            <p:cNvPr id="59" name="직사각형 58"/>
            <p:cNvSpPr/>
            <p:nvPr/>
          </p:nvSpPr>
          <p:spPr>
            <a:xfrm>
              <a:off x="1013398" y="2202096"/>
              <a:ext cx="5760640" cy="1202600"/>
            </a:xfrm>
            <a:prstGeom prst="rect">
              <a:avLst/>
            </a:prstGeom>
            <a:noFill/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0" name="모서리가 둥근 직사각형 59"/>
            <p:cNvSpPr/>
            <p:nvPr/>
          </p:nvSpPr>
          <p:spPr>
            <a:xfrm>
              <a:off x="5988643" y="1976608"/>
              <a:ext cx="2160240" cy="375812"/>
            </a:xfrm>
            <a:prstGeom prst="round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보고서간 상호체크</a:t>
              </a:r>
              <a:endParaRPr kumimoji="0" lang="ko-KR" altLang="en-US" sz="180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63" name="모서리가 둥근 직사각형 62"/>
          <p:cNvSpPr/>
          <p:nvPr/>
        </p:nvSpPr>
        <p:spPr>
          <a:xfrm>
            <a:off x="571472" y="5000636"/>
            <a:ext cx="7776864" cy="823960"/>
          </a:xfrm>
          <a:prstGeom prst="roundRect">
            <a:avLst/>
          </a:prstGeom>
          <a:gradFill>
            <a:gsLst>
              <a:gs pos="4000">
                <a:sysClr val="window" lastClr="FFFFFF"/>
              </a:gs>
              <a:gs pos="100000">
                <a:srgbClr val="F79646">
                  <a:lumMod val="60000"/>
                  <a:lumOff val="40000"/>
                </a:srgbClr>
              </a:gs>
            </a:gsLst>
            <a:lin ang="2700000" scaled="1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중계기관 시스템에서 </a:t>
            </a:r>
            <a:r>
              <a:rPr kumimoji="0" lang="ko-KR" altLang="en-US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보고서별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누락여부</a:t>
            </a:r>
            <a:r>
              <a:rPr kumimoji="0" lang="en-US" altLang="ko-KR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보고서 </a:t>
            </a:r>
            <a:r>
              <a:rPr kumimoji="0" lang="ko-KR" altLang="en-US" sz="1800" i="0" u="none" strike="noStrike" kern="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미입수율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등의 </a:t>
            </a:r>
            <a:r>
              <a:rPr kumimoji="0" lang="ko-KR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보고현황을 점검</a:t>
            </a:r>
            <a:endParaRPr kumimoji="0" lang="en-US" altLang="ko-KR" sz="180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1043608" y="3140968"/>
            <a:ext cx="7128792" cy="1008112"/>
            <a:chOff x="1043608" y="3140968"/>
            <a:chExt cx="7128792" cy="1008112"/>
          </a:xfrm>
        </p:grpSpPr>
        <p:sp>
          <p:nvSpPr>
            <p:cNvPr id="11" name="직사각형 10"/>
            <p:cNvSpPr/>
            <p:nvPr/>
          </p:nvSpPr>
          <p:spPr>
            <a:xfrm>
              <a:off x="1043608" y="3360782"/>
              <a:ext cx="5760640" cy="788298"/>
            </a:xfrm>
            <a:prstGeom prst="rect">
              <a:avLst/>
            </a:prstGeom>
            <a:noFill/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6012160" y="3140968"/>
              <a:ext cx="2160240" cy="375812"/>
            </a:xfrm>
            <a:prstGeom prst="round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보고서간 상호체크</a:t>
              </a:r>
              <a:endParaRPr kumimoji="0" lang="ko-KR" altLang="en-US" sz="180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외환전산망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유의사항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16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81350" y="1500174"/>
            <a:ext cx="7951090" cy="4665130"/>
          </a:xfrm>
          <a:prstGeom prst="roundRect">
            <a:avLst/>
          </a:prstGeom>
          <a:gradFill>
            <a:gsLst>
              <a:gs pos="50000">
                <a:schemeClr val="accent5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Tx/>
              <a:buNone/>
              <a:tabLst/>
              <a:defRPr/>
            </a:pPr>
            <a:r>
              <a:rPr kumimoji="0" lang="en-US" altLang="ko-K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&lt;</a:t>
            </a:r>
            <a:r>
              <a:rPr kumimoji="0" lang="ko-KR" altLang="en-US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보고서간 주요 </a:t>
            </a:r>
            <a:r>
              <a:rPr kumimoji="0" lang="ko-KR" altLang="en-US" sz="2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체크로직</a:t>
            </a:r>
            <a:r>
              <a:rPr kumimoji="0" lang="en-US" altLang="ko-KR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&gt;</a:t>
            </a: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Tx/>
              <a:buNone/>
              <a:tabLst/>
              <a:defRPr/>
            </a:pPr>
            <a:endParaRPr kumimoji="0" lang="en-US" altLang="ko-KR" sz="500" b="0" i="0" u="none" strike="noStrike" kern="0" cap="none" spc="0" normalizeH="0" baseline="0" noProof="0" dirty="0" smtClean="0">
              <a:ln>
                <a:noFill/>
              </a:ln>
              <a:solidFill>
                <a:srgbClr val="8A000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(FX4441)</a:t>
            </a:r>
            <a:r>
              <a:rPr kumimoji="0" lang="ko-KR" altLang="en-US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관리대상포지션 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/>
            </a:r>
            <a:b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</a:b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=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(FX4442)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max(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｜매입초과포지션｜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｜매각초과포지션｜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</a:t>
            </a: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(FX4444)</a:t>
            </a:r>
            <a:r>
              <a:rPr kumimoji="0" lang="ko-KR" altLang="en-US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월말종합</a:t>
            </a:r>
            <a:r>
              <a:rPr kumimoji="0" lang="en-US" altLang="ko-KR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포지션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/>
            </a:r>
            <a:b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</a:b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=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(FX4442)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매입초과포지션계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-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(FX4442)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매각초과포지션계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/>
            </a:r>
            <a:b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</a:b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+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kumimoji="0" lang="en-US" altLang="ko-KR" kern="0" dirty="0" smtClean="0">
                <a:solidFill>
                  <a:srgbClr val="8A0000"/>
                </a:solidFill>
                <a:latin typeface="맑은 고딕" pitchFamily="50" charset="-127"/>
                <a:ea typeface="맑은 고딕" pitchFamily="50" charset="-127"/>
              </a:rPr>
              <a:t>FX4441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자기자본헤지분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+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(FX4441)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이월이익잉여금헤지분</a:t>
            </a:r>
            <a:endParaRPr kumimoji="0" lang="en-US" altLang="ko-KR" b="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  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※ FX4441 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및 </a:t>
            </a:r>
            <a:r>
              <a:rPr kumimoji="0" lang="en-US" altLang="ko-KR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FX4442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중 말일자에 해당하는 수치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endParaRPr kumimoji="0" lang="en-US" altLang="ko-KR" sz="1000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(FX4444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월말선물</a:t>
            </a:r>
            <a:r>
              <a:rPr kumimoji="0" lang="en-US" altLang="ko-KR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포지션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/>
            </a:r>
            <a:b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</a:b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=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(FX4450) 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관리대상 선물환포지션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/>
            </a:r>
            <a:b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</a:b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+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(FX4450)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자기자본헤지분</a:t>
            </a:r>
            <a:r>
              <a:rPr kumimoji="0" lang="ko-KR" altLang="en-US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+</a:t>
            </a:r>
            <a:r>
              <a:rPr kumimoji="0" lang="en-US" altLang="ko-KR" b="0" kern="0" dirty="0" smtClean="0">
                <a:solidFill>
                  <a:srgbClr val="1F497D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kumimoji="0" lang="en-US" altLang="ko-KR" b="0" kern="0" dirty="0" smtClean="0">
                <a:solidFill>
                  <a:srgbClr val="8A0000"/>
                </a:solidFill>
                <a:latin typeface="HY견고딕" pitchFamily="18" charset="-127"/>
                <a:ea typeface="HY견고딕" pitchFamily="18" charset="-127"/>
              </a:rPr>
              <a:t>(FX4450) </a:t>
            </a:r>
            <a:r>
              <a:rPr kumimoji="0" lang="ko-KR" altLang="en-US" b="0" kern="0" dirty="0" err="1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이월이익잉여금헤지분</a:t>
            </a:r>
            <a:endParaRPr kumimoji="0" lang="en-US" altLang="ko-KR" b="0" kern="0" dirty="0" smtClean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n-cs"/>
              </a:rPr>
              <a:t>    </a:t>
            </a:r>
            <a:r>
              <a:rPr kumimoji="0" lang="en-US" altLang="ko-KR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※ FX4450</a:t>
            </a:r>
            <a:r>
              <a:rPr kumimoji="0" lang="ko-KR" altLang="en-US" sz="1400" b="0" kern="0" dirty="0" smtClean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 중 말일자에 해당하는 수치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외환전산망 </a:t>
            </a:r>
            <a:r>
              <a:rPr lang="ko-KR" altLang="en-US" sz="2200" b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보고시</a:t>
            </a: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유의사항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679CC6-E96E-47DC-9C39-5B6127F2F8BE}" type="slidenum">
              <a:rPr lang="en-US" altLang="ko-KR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18435" name="Picture 8" descr="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827584" y="2590800"/>
            <a:ext cx="7848872" cy="1339850"/>
            <a:chOff x="1119" y="1632"/>
            <a:chExt cx="3834" cy="844"/>
          </a:xfrm>
        </p:grpSpPr>
        <p:pic>
          <p:nvPicPr>
            <p:cNvPr id="18438" name="Picture 9" descr="0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119" y="1632"/>
              <a:ext cx="3834" cy="8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9" name="Text Box 10"/>
            <p:cNvSpPr txBox="1">
              <a:spLocks noChangeArrowheads="1"/>
            </p:cNvSpPr>
            <p:nvPr/>
          </p:nvSpPr>
          <p:spPr bwMode="auto">
            <a:xfrm>
              <a:off x="1972" y="1877"/>
              <a:ext cx="154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ko-KR" altLang="en-US" sz="2800" b="0" dirty="0" smtClean="0">
                  <a:solidFill>
                    <a:srgbClr val="00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>외환전산망 보고서 작성 오류사례</a:t>
              </a:r>
              <a:r>
                <a:rPr lang="en-US" altLang="ko-KR" sz="2800" b="0" dirty="0" smtClean="0">
                  <a:solidFill>
                    <a:srgbClr val="00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  <a:t/>
              </a:r>
              <a:br>
                <a:rPr lang="en-US" altLang="ko-KR" sz="2800" b="0" dirty="0" smtClean="0">
                  <a:solidFill>
                    <a:srgbClr val="00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</a:rPr>
              </a:br>
              <a:endParaRPr lang="ko-KR" altLang="ko-KR" sz="2800" b="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</a:endParaRPr>
            </a:p>
          </p:txBody>
        </p:sp>
        <p:sp>
          <p:nvSpPr>
            <p:cNvPr id="14347" name="Text Box 11"/>
            <p:cNvSpPr txBox="1">
              <a:spLocks noChangeArrowheads="1"/>
            </p:cNvSpPr>
            <p:nvPr/>
          </p:nvSpPr>
          <p:spPr bwMode="auto">
            <a:xfrm>
              <a:off x="1445" y="1834"/>
              <a:ext cx="223" cy="31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/>
            <a:lstStyle/>
            <a:p>
              <a:pPr algn="ctr">
                <a:defRPr/>
              </a:pPr>
              <a:r>
                <a:rPr lang="en-US" altLang="ko-KR" sz="3200" dirty="0" smtClean="0">
                  <a:solidFill>
                    <a:srgbClr val="FFFF99"/>
                  </a:solidFill>
                  <a:latin typeface="HY견명조" pitchFamily="18" charset="-127"/>
                  <a:ea typeface="HY견명조" pitchFamily="18" charset="-127"/>
                </a:rPr>
                <a:t>Ⅵ</a:t>
              </a:r>
              <a:endParaRPr lang="en-US" altLang="ko-KR" sz="3200" dirty="0">
                <a:solidFill>
                  <a:srgbClr val="FFFF99"/>
                </a:solidFill>
                <a:latin typeface="HY견명조" pitchFamily="18" charset="-127"/>
                <a:ea typeface="HY견명조" pitchFamily="18" charset="-127"/>
              </a:endParaRPr>
            </a:p>
          </p:txBody>
        </p:sp>
      </p:grpSp>
      <p:sp>
        <p:nvSpPr>
          <p:cNvPr id="18437" name="Rectangle 45"/>
          <p:cNvSpPr>
            <a:spLocks noChangeArrowheads="1"/>
          </p:cNvSpPr>
          <p:nvPr/>
        </p:nvSpPr>
        <p:spPr bwMode="auto">
          <a:xfrm>
            <a:off x="4357688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83CC7071-C8EC-49A3-A0B0-2281D88DCEEE}" type="slidenum">
              <a:rPr lang="en-US" altLang="ko-KR" sz="1200">
                <a:ea typeface="굴림" pitchFamily="50" charset="-127"/>
              </a:rPr>
              <a:pPr algn="ctr"/>
              <a:t>17</a:t>
            </a:fld>
            <a:endParaRPr lang="en-US" altLang="ko-KR" sz="1200">
              <a:ea typeface="굴림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18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81350" y="1500174"/>
            <a:ext cx="7951090" cy="4665130"/>
          </a:xfrm>
          <a:prstGeom prst="roundRect">
            <a:avLst/>
          </a:prstGeom>
          <a:gradFill>
            <a:gsLst>
              <a:gs pos="50000">
                <a:schemeClr val="accent5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非대상 금액 포함</a:t>
            </a:r>
            <a: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관리대상의 포지션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산정시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원화확정 상품 등 환리스크가 제거된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비대상금액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포함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kumimoji="0" lang="en-US" altLang="ko-KR" sz="100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자기자본 금액 산정 오류</a:t>
            </a:r>
            <a: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‘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납입자본금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+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적립금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이월이익잉여금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 아닌 회계기준 상의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총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자본금액 반영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tabLst/>
              <a:defRPr/>
            </a:pP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※ </a:t>
            </a:r>
            <a:r>
              <a:rPr kumimoji="0" lang="ko-KR" altLang="en-US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외국계 지점의 경우 영업기금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+ </a:t>
            </a:r>
            <a:r>
              <a:rPr kumimoji="0" lang="ko-KR" altLang="en-US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적립금 </a:t>
            </a:r>
            <a:r>
              <a:rPr kumimoji="0" lang="en-US" altLang="ko-KR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kumimoji="0" lang="ko-KR" altLang="en-US" sz="1400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이월이익잉여금</a:t>
            </a:r>
            <a:endParaRPr kumimoji="0" lang="en-US" altLang="ko-KR" sz="1400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indent="-288000" fontAlgn="auto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defRPr/>
            </a:pPr>
            <a:endParaRPr kumimoji="0" lang="en-US" altLang="ko-KR" sz="100" b="0" kern="0" dirty="0" smtClean="0">
              <a:solidFill>
                <a:srgbClr val="8A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indent="-288000" fontAlgn="auto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포지션 산정방식 </a:t>
            </a:r>
            <a:r>
              <a:rPr kumimoji="0" lang="ko-KR" altLang="en-US" sz="2400" kern="0" dirty="0" err="1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미숙지</a:t>
            </a:r>
            <a: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종합포지션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산정시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‘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순합산포지션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으로 금액 산출하는 오류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6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외환전산망 보고서 작성 오류사례</a:t>
            </a:r>
            <a:endParaRPr lang="en-US" altLang="ko-KR" sz="2200" b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D29664-908E-468F-8565-CDF01B1C2280}" type="slidenum">
              <a:rPr lang="en-US" altLang="ko-KR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16387" name="Rectangle 45"/>
          <p:cNvSpPr>
            <a:spLocks noChangeArrowheads="1"/>
          </p:cNvSpPr>
          <p:nvPr/>
        </p:nvSpPr>
        <p:spPr bwMode="auto">
          <a:xfrm>
            <a:off x="4279900" y="6572250"/>
            <a:ext cx="5842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fld id="{AE47FF85-0C7A-4799-A521-5A62FEB58E4A}" type="slidenum">
              <a:rPr lang="en-US" altLang="ko-KR" sz="1200">
                <a:ea typeface="굴림" pitchFamily="50" charset="-127"/>
              </a:rPr>
              <a:pPr algn="ctr"/>
              <a:t>19</a:t>
            </a:fld>
            <a:endParaRPr lang="en-US" altLang="ko-KR" sz="1200">
              <a:ea typeface="굴림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581350" y="1500174"/>
            <a:ext cx="7951090" cy="4665130"/>
          </a:xfrm>
          <a:prstGeom prst="roundRect">
            <a:avLst/>
          </a:prstGeom>
          <a:gradFill>
            <a:gsLst>
              <a:gs pos="50000">
                <a:schemeClr val="accent5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0"/>
          </a:gra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288000" indent="-288000" fontAlgn="auto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포지션 상계 누락</a:t>
            </a:r>
            <a: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동일한 통화 표시 외화자산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부채 금액 또는 외환거래금액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종합포지션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반영시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매입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매각 오류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indent="-288000" fontAlgn="auto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defRPr/>
            </a:pPr>
            <a:endParaRPr kumimoji="0" lang="en-US" altLang="ko-KR" sz="100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통화 환산 오류</a:t>
            </a:r>
            <a:r>
              <a:rPr kumimoji="0" lang="en-US" altLang="ko-KR" kern="0" dirty="0" smtClean="0">
                <a:solidFill>
                  <a:srgbClr val="8A000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8A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‘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천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미달러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환산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과정에 있어서 단위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(1,000)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미 반영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원화 금액으로 반영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적절하지 않은 환율 적용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endParaRPr kumimoji="0" lang="en-US" altLang="ko-KR" sz="500" b="0" kern="0" dirty="0" smtClean="0">
              <a:solidFill>
                <a:srgbClr val="1F497D"/>
              </a:solidFill>
              <a:latin typeface="HY견고딕" pitchFamily="18" charset="-127"/>
              <a:ea typeface="HY견고딕" pitchFamily="18" charset="-127"/>
            </a:endParaRPr>
          </a:p>
          <a:p>
            <a:pPr marL="288000" marR="0" lvl="0" indent="-2880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4F81BD">
                  <a:lumMod val="75000"/>
                </a:srgbClr>
              </a:buClr>
              <a:buSzPct val="145000"/>
              <a:buFont typeface="Arial" pitchFamily="34" charset="0"/>
              <a:buChar char="•"/>
              <a:tabLst/>
              <a:defRPr/>
            </a:pP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규제 </a:t>
            </a:r>
            <a:r>
              <a:rPr kumimoji="0" lang="ko-KR" altLang="en-US" sz="2400" kern="0" dirty="0" err="1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위반시</a:t>
            </a: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보고 지연</a:t>
            </a:r>
            <a:r>
              <a:rPr kumimoji="0" lang="en-US" altLang="ko-KR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0" lang="ko-KR" altLang="en-US" sz="2400" kern="0" dirty="0" smtClean="0">
                <a:solidFill>
                  <a:srgbClr val="8A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누락 </a:t>
            </a:r>
            <a: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err="1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위반시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영업일 내 감독원 보고 의무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배당금 지급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자기자본 변동</a:t>
            </a:r>
            <a:r>
              <a:rPr kumimoji="0" lang="en-US" altLang="ko-KR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kern="0" dirty="0" smtClean="0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rPr>
              <a:t>등</a:t>
            </a:r>
            <a:endParaRPr kumimoji="0" lang="en-US" altLang="ko-KR" kern="0" dirty="0" smtClean="0">
              <a:solidFill>
                <a:srgbClr val="00206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Picture 42" descr="08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825" y="115888"/>
            <a:ext cx="64928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20937" y="214041"/>
            <a:ext cx="351573" cy="430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6</a:t>
            </a: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84" y="214041"/>
            <a:ext cx="6912768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2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외환전산망 보고서 작성 오류사례</a:t>
            </a:r>
            <a:endParaRPr lang="en-US" altLang="ko-KR" sz="2200" b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ko-KR" altLang="en-US" sz="2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5B95F55-72E6-4687-A0BD-8C3569076848}" type="slidenum">
              <a:rPr lang="en-US" altLang="ko-KR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19459" name="Picture 2" descr="end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7" name="Picture 7" descr="0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1400" y="1628775"/>
            <a:ext cx="4505325" cy="145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그림 4" descr="금감원CI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14750" y="3703638"/>
            <a:ext cx="1571625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HY헤드라인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HY헤드라인M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6361</TotalTime>
  <Words>713</Words>
  <Application>Microsoft Office PowerPoint</Application>
  <PresentationFormat>화면 슬라이드 쇼(4:3)</PresentationFormat>
  <Paragraphs>228</Paragraphs>
  <Slides>21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23" baseType="lpstr">
      <vt:lpstr>기본 디자인</vt:lpstr>
      <vt:lpstr>디자인 사용자 지정</vt:lpstr>
      <vt:lpstr>슬라이드 0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TitlesOfParts>
  <Company>FINAL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블랙에디션</dc:creator>
  <cp:lastModifiedBy>금융감독원_270B</cp:lastModifiedBy>
  <cp:revision>536</cp:revision>
  <dcterms:created xsi:type="dcterms:W3CDTF">2008-11-12T16:13:11Z</dcterms:created>
  <dcterms:modified xsi:type="dcterms:W3CDTF">2014-12-15T07:50:07Z</dcterms:modified>
</cp:coreProperties>
</file>