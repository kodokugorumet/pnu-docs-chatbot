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diagrams/quickStyle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995" r:id="rId2"/>
  </p:sldMasterIdLst>
  <p:notesMasterIdLst>
    <p:notesMasterId r:id="rId21"/>
  </p:notesMasterIdLst>
  <p:handoutMasterIdLst>
    <p:handoutMasterId r:id="rId22"/>
  </p:handoutMasterIdLst>
  <p:sldIdLst>
    <p:sldId id="256" r:id="rId3"/>
    <p:sldId id="257" r:id="rId4"/>
    <p:sldId id="286" r:id="rId5"/>
    <p:sldId id="372" r:id="rId6"/>
    <p:sldId id="373" r:id="rId7"/>
    <p:sldId id="374" r:id="rId8"/>
    <p:sldId id="262" r:id="rId9"/>
    <p:sldId id="376" r:id="rId10"/>
    <p:sldId id="385" r:id="rId11"/>
    <p:sldId id="386" r:id="rId12"/>
    <p:sldId id="387" r:id="rId13"/>
    <p:sldId id="388" r:id="rId14"/>
    <p:sldId id="371" r:id="rId15"/>
    <p:sldId id="355" r:id="rId16"/>
    <p:sldId id="370" r:id="rId17"/>
    <p:sldId id="381" r:id="rId18"/>
    <p:sldId id="358" r:id="rId19"/>
    <p:sldId id="333" r:id="rId20"/>
  </p:sldIdLst>
  <p:sldSz cx="9144000" cy="6858000" type="screen4x3"/>
  <p:notesSz cx="6815138" cy="99425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64C3"/>
    <a:srgbClr val="003399"/>
    <a:srgbClr val="000068"/>
    <a:srgbClr val="000099"/>
    <a:srgbClr val="005E5C"/>
    <a:srgbClr val="0066CC"/>
    <a:srgbClr val="ED9997"/>
    <a:srgbClr val="E6C8C8"/>
    <a:srgbClr val="1076E6"/>
    <a:srgbClr val="8039CF"/>
  </p:clrMru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15" autoAdjust="0"/>
    <p:restoredTop sz="94660"/>
  </p:normalViewPr>
  <p:slideViewPr>
    <p:cSldViewPr>
      <p:cViewPr varScale="1">
        <p:scale>
          <a:sx n="116" d="100"/>
          <a:sy n="116" d="100"/>
        </p:scale>
        <p:origin x="-17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-1536" y="-102"/>
      </p:cViewPr>
      <p:guideLst>
        <p:guide orient="horz" pos="3132"/>
        <p:guide pos="2147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B7BEAC-21A0-4675-ADF7-365188210F17}" type="doc">
      <dgm:prSet loTypeId="urn:microsoft.com/office/officeart/2005/8/layout/vList2" loCatId="list" qsTypeId="urn:microsoft.com/office/officeart/2005/8/quickstyle/3d4" qsCatId="3D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2D42F09D-F1F9-421D-B792-F287207525EB}">
      <dgm:prSet phldrT="[텍스트]" custT="1"/>
      <dgm:spPr/>
      <dgm:t>
        <a:bodyPr/>
        <a:lstStyle/>
        <a:p>
          <a:pPr latinLnBrk="1"/>
          <a:r>
            <a:rPr lang="en-US" altLang="ko-KR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1. 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외화자산</a:t>
          </a:r>
          <a:r>
            <a:rPr lang="en-US" altLang="ko-KR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·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부채의 만기 분류</a:t>
          </a:r>
          <a:endParaRPr lang="ko-KR" altLang="en-US" sz="20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gm:t>
    </dgm:pt>
    <dgm:pt modelId="{290A45FA-21CF-4D50-9FE2-17AF2388C34B}" type="parTrans" cxnId="{5D36032A-579D-4AB9-8E26-14713B5E503F}">
      <dgm:prSet/>
      <dgm:spPr/>
      <dgm:t>
        <a:bodyPr/>
        <a:lstStyle/>
        <a:p>
          <a:pPr latinLnBrk="1"/>
          <a:endParaRPr lang="ko-KR" altLang="en-US"/>
        </a:p>
      </dgm:t>
    </dgm:pt>
    <dgm:pt modelId="{D9B07243-48DD-4D6F-ACA4-52D8C2C5B8B7}" type="sibTrans" cxnId="{5D36032A-579D-4AB9-8E26-14713B5E503F}">
      <dgm:prSet/>
      <dgm:spPr/>
      <dgm:t>
        <a:bodyPr/>
        <a:lstStyle/>
        <a:p>
          <a:pPr latinLnBrk="1"/>
          <a:endParaRPr lang="ko-KR" altLang="en-US"/>
        </a:p>
      </dgm:t>
    </dgm:pt>
    <dgm:pt modelId="{E39FFCA3-4FD8-40CE-8650-09BD4CA4E0F6}">
      <dgm:prSet phldrT="[텍스트]" custT="1"/>
      <dgm:spPr/>
      <dgm:t>
        <a:bodyPr/>
        <a:lstStyle/>
        <a:p>
          <a:pPr latinLnBrk="1"/>
          <a:r>
            <a:rPr lang="ko-KR" altLang="en-US" sz="1800" dirty="0" err="1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잔존만기별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 분류 및 누적기준 작성</a:t>
          </a:r>
          <a:endParaRPr lang="ko-KR" altLang="en-US" sz="18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gm:t>
    </dgm:pt>
    <dgm:pt modelId="{D9085589-7D68-4548-8F63-6FB2A76B7FD1}" type="parTrans" cxnId="{D74E7100-87FB-4E5C-965B-C28E93B50207}">
      <dgm:prSet/>
      <dgm:spPr/>
      <dgm:t>
        <a:bodyPr/>
        <a:lstStyle/>
        <a:p>
          <a:pPr latinLnBrk="1"/>
          <a:endParaRPr lang="ko-KR" altLang="en-US"/>
        </a:p>
      </dgm:t>
    </dgm:pt>
    <dgm:pt modelId="{128913E6-8B70-4B70-BE40-D69291F8EE05}" type="sibTrans" cxnId="{D74E7100-87FB-4E5C-965B-C28E93B50207}">
      <dgm:prSet/>
      <dgm:spPr/>
      <dgm:t>
        <a:bodyPr/>
        <a:lstStyle/>
        <a:p>
          <a:pPr latinLnBrk="1"/>
          <a:endParaRPr lang="ko-KR" altLang="en-US"/>
        </a:p>
      </dgm:t>
    </dgm:pt>
    <dgm:pt modelId="{05F52955-58DE-41C8-9B1C-BDF936395AF4}">
      <dgm:prSet phldrT="[텍스트]" custT="1"/>
      <dgm:spPr/>
      <dgm:t>
        <a:bodyPr/>
        <a:lstStyle/>
        <a:p>
          <a:pPr latinLnBrk="1"/>
          <a:r>
            <a:rPr lang="en-US" altLang="ko-KR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2. 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회계처리 관련 오류</a:t>
          </a:r>
          <a:endParaRPr lang="ko-KR" altLang="en-US" sz="20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gm:t>
    </dgm:pt>
    <dgm:pt modelId="{1F0C1952-F1A6-48CA-944B-453F05932B80}" type="parTrans" cxnId="{94D02934-E607-440E-A287-F32994D57DC3}">
      <dgm:prSet/>
      <dgm:spPr/>
      <dgm:t>
        <a:bodyPr/>
        <a:lstStyle/>
        <a:p>
          <a:pPr latinLnBrk="1"/>
          <a:endParaRPr lang="ko-KR" altLang="en-US"/>
        </a:p>
      </dgm:t>
    </dgm:pt>
    <dgm:pt modelId="{3995883A-658B-4BA4-B73D-889B3A91E4F6}" type="sibTrans" cxnId="{94D02934-E607-440E-A287-F32994D57DC3}">
      <dgm:prSet/>
      <dgm:spPr/>
      <dgm:t>
        <a:bodyPr/>
        <a:lstStyle/>
        <a:p>
          <a:pPr latinLnBrk="1"/>
          <a:endParaRPr lang="ko-KR" altLang="en-US"/>
        </a:p>
      </dgm:t>
    </dgm:pt>
    <dgm:pt modelId="{DDF772CD-74E4-4F04-BD3F-312673A9318A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개별 외화자산</a:t>
          </a:r>
          <a:r>
            <a:rPr lang="en-US" altLang="ko-KR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·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부채계정의 회계처리 문제</a:t>
          </a:r>
          <a:endParaRPr lang="ko-KR" altLang="en-US" sz="18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gm:t>
    </dgm:pt>
    <dgm:pt modelId="{A69F30F1-327B-4B74-BF6D-FA993646DFDF}" type="parTrans" cxnId="{574F2CD5-3271-42D7-81C4-D642ECF0382B}">
      <dgm:prSet/>
      <dgm:spPr/>
      <dgm:t>
        <a:bodyPr/>
        <a:lstStyle/>
        <a:p>
          <a:pPr latinLnBrk="1"/>
          <a:endParaRPr lang="ko-KR" altLang="en-US"/>
        </a:p>
      </dgm:t>
    </dgm:pt>
    <dgm:pt modelId="{476AF9EC-6FC7-4D83-BFF7-F10ABBDA012E}" type="sibTrans" cxnId="{574F2CD5-3271-42D7-81C4-D642ECF0382B}">
      <dgm:prSet/>
      <dgm:spPr/>
      <dgm:t>
        <a:bodyPr/>
        <a:lstStyle/>
        <a:p>
          <a:pPr latinLnBrk="1"/>
          <a:endParaRPr lang="ko-KR" altLang="en-US"/>
        </a:p>
      </dgm:t>
    </dgm:pt>
    <dgm:pt modelId="{810D0F99-C6CB-47FF-9798-E3EDE6878CFA}">
      <dgm:prSet phldrT="[텍스트]" custT="1"/>
      <dgm:spPr/>
      <dgm:t>
        <a:bodyPr/>
        <a:lstStyle/>
        <a:p>
          <a:pPr latinLnBrk="1"/>
          <a:r>
            <a:rPr lang="en-US" altLang="ko-KR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3. 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통화파생상품 관련 오류</a:t>
          </a:r>
          <a:endParaRPr lang="ko-KR" altLang="en-US" sz="20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gm:t>
    </dgm:pt>
    <dgm:pt modelId="{758D5E1E-3AE9-4E57-9771-F960C9A48F11}" type="parTrans" cxnId="{3557AE0F-5A11-4134-9D46-B0C67293D31B}">
      <dgm:prSet/>
      <dgm:spPr/>
      <dgm:t>
        <a:bodyPr/>
        <a:lstStyle/>
        <a:p>
          <a:pPr latinLnBrk="1"/>
          <a:endParaRPr lang="ko-KR" altLang="en-US"/>
        </a:p>
      </dgm:t>
    </dgm:pt>
    <dgm:pt modelId="{4AB3B309-376F-4D61-95BA-E9553137DF30}" type="sibTrans" cxnId="{3557AE0F-5A11-4134-9D46-B0C67293D31B}">
      <dgm:prSet/>
      <dgm:spPr/>
      <dgm:t>
        <a:bodyPr/>
        <a:lstStyle/>
        <a:p>
          <a:pPr latinLnBrk="1"/>
          <a:endParaRPr lang="ko-KR" altLang="en-US"/>
        </a:p>
      </dgm:t>
    </dgm:pt>
    <dgm:pt modelId="{5112DE8C-EE52-4117-9C77-2F4CA7CFC3B9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난외계정으로 분류</a:t>
          </a:r>
          <a:r>
            <a:rPr lang="en-US" altLang="ko-KR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외화 </a:t>
          </a:r>
          <a:r>
            <a:rPr lang="en-US" altLang="ko-KR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B/S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에 불포함</a:t>
          </a:r>
          <a:endParaRPr lang="ko-KR" altLang="en-US" sz="18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gm:t>
    </dgm:pt>
    <dgm:pt modelId="{0339B4EA-D0D8-49D9-91A5-15C36EA3EA8B}" type="parTrans" cxnId="{1B0BA5A0-E6EF-4B95-ADC3-0E6BDE075B5C}">
      <dgm:prSet/>
      <dgm:spPr/>
      <dgm:t>
        <a:bodyPr/>
        <a:lstStyle/>
        <a:p>
          <a:pPr latinLnBrk="1"/>
          <a:endParaRPr lang="ko-KR" altLang="en-US"/>
        </a:p>
      </dgm:t>
    </dgm:pt>
    <dgm:pt modelId="{A7C30E36-1D55-4D93-A3BD-2E842DA2A6C2}" type="sibTrans" cxnId="{1B0BA5A0-E6EF-4B95-ADC3-0E6BDE075B5C}">
      <dgm:prSet/>
      <dgm:spPr/>
      <dgm:t>
        <a:bodyPr/>
        <a:lstStyle/>
        <a:p>
          <a:pPr latinLnBrk="1"/>
          <a:endParaRPr lang="ko-KR" altLang="en-US"/>
        </a:p>
      </dgm:t>
    </dgm:pt>
    <dgm:pt modelId="{B9BB0E79-15E0-4D12-9C0B-1887CB695415}">
      <dgm:prSet phldrT="[텍스트]" custT="1"/>
      <dgm:spPr/>
      <dgm:t>
        <a:bodyPr/>
        <a:lstStyle/>
        <a:p>
          <a:pPr latinLnBrk="1"/>
          <a:r>
            <a:rPr lang="en-US" altLang="ko-KR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4. 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통화단위 환산 오류</a:t>
          </a:r>
          <a:endParaRPr lang="ko-KR" altLang="en-US" sz="20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gm:t>
    </dgm:pt>
    <dgm:pt modelId="{F4A9C835-7FB3-484D-B0D8-6870172C6992}" type="parTrans" cxnId="{F9AB3284-316F-4FB3-A42C-C5DCAD6E0BCB}">
      <dgm:prSet/>
      <dgm:spPr/>
      <dgm:t>
        <a:bodyPr/>
        <a:lstStyle/>
        <a:p>
          <a:pPr latinLnBrk="1"/>
          <a:endParaRPr lang="ko-KR" altLang="en-US"/>
        </a:p>
      </dgm:t>
    </dgm:pt>
    <dgm:pt modelId="{DE173196-37FC-4D40-82CA-5CFAE33CEF23}" type="sibTrans" cxnId="{F9AB3284-316F-4FB3-A42C-C5DCAD6E0BCB}">
      <dgm:prSet/>
      <dgm:spPr/>
      <dgm:t>
        <a:bodyPr/>
        <a:lstStyle/>
        <a:p>
          <a:pPr latinLnBrk="1"/>
          <a:endParaRPr lang="ko-KR" altLang="en-US"/>
        </a:p>
      </dgm:t>
    </dgm:pt>
    <dgm:pt modelId="{07A79BA0-84CC-4FCC-9537-D1B42C87F1D7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보고서 작성시 </a:t>
          </a:r>
          <a:r>
            <a:rPr lang="ko-KR" altLang="en-US" sz="1800" dirty="0" err="1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천미달러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 단위로 금액 기재</a:t>
          </a:r>
          <a:endParaRPr lang="ko-KR" altLang="en-US" sz="18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gm:t>
    </dgm:pt>
    <dgm:pt modelId="{CF9C9112-958B-446D-AE06-6E4D3EBFB673}" type="parTrans" cxnId="{2A20A961-7B8F-4608-98ED-3DE6DDB85947}">
      <dgm:prSet/>
      <dgm:spPr/>
      <dgm:t>
        <a:bodyPr/>
        <a:lstStyle/>
        <a:p>
          <a:pPr latinLnBrk="1"/>
          <a:endParaRPr lang="ko-KR" altLang="en-US"/>
        </a:p>
      </dgm:t>
    </dgm:pt>
    <dgm:pt modelId="{C90B6991-A2D0-4FE5-9098-D4611E8236F9}" type="sibTrans" cxnId="{2A20A961-7B8F-4608-98ED-3DE6DDB85947}">
      <dgm:prSet/>
      <dgm:spPr/>
      <dgm:t>
        <a:bodyPr/>
        <a:lstStyle/>
        <a:p>
          <a:pPr latinLnBrk="1"/>
          <a:endParaRPr lang="ko-KR" altLang="en-US"/>
        </a:p>
      </dgm:t>
    </dgm:pt>
    <dgm:pt modelId="{3EBE5508-2CB6-4548-9E03-7C9FC2A3A255}">
      <dgm:prSet phldrT="[텍스트]" custT="1"/>
      <dgm:spPr/>
      <dgm:t>
        <a:bodyPr/>
        <a:lstStyle/>
        <a:p>
          <a:pPr latinLnBrk="1"/>
          <a:r>
            <a:rPr lang="en-US" altLang="ko-KR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5. 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외화유동성 지도비율 </a:t>
          </a:r>
          <a:r>
            <a:rPr lang="ko-KR" altLang="en-US" sz="2000" dirty="0" err="1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위반시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 미보고</a:t>
          </a:r>
          <a:endParaRPr lang="ko-KR" altLang="en-US" sz="20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gm:t>
    </dgm:pt>
    <dgm:pt modelId="{C4A4A009-BA03-4C6F-843C-E162FB6B7A56}" type="parTrans" cxnId="{6A8603F4-69C1-4FC5-A832-6986B14841FD}">
      <dgm:prSet/>
      <dgm:spPr/>
      <dgm:t>
        <a:bodyPr/>
        <a:lstStyle/>
        <a:p>
          <a:pPr latinLnBrk="1"/>
          <a:endParaRPr lang="ko-KR" altLang="en-US"/>
        </a:p>
      </dgm:t>
    </dgm:pt>
    <dgm:pt modelId="{9B15BFE9-908B-4ABA-A888-A418268DCE44}" type="sibTrans" cxnId="{6A8603F4-69C1-4FC5-A832-6986B14841FD}">
      <dgm:prSet/>
      <dgm:spPr/>
      <dgm:t>
        <a:bodyPr/>
        <a:lstStyle/>
        <a:p>
          <a:pPr latinLnBrk="1"/>
          <a:endParaRPr lang="ko-KR" altLang="en-US"/>
        </a:p>
      </dgm:t>
    </dgm:pt>
    <dgm:pt modelId="{09688A04-701C-475D-BE9E-2D9D9E57C480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금융회사에서 위반내역을 파악하여 </a:t>
          </a:r>
          <a:r>
            <a:rPr lang="ko-KR" altLang="en-US" sz="1800" dirty="0" err="1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금감원에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 보고</a:t>
          </a:r>
          <a:endParaRPr lang="ko-KR" altLang="en-US" sz="18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gm:t>
    </dgm:pt>
    <dgm:pt modelId="{23FAB02E-BC44-4FF9-B325-F262E225879D}" type="parTrans" cxnId="{EF007C36-7FE8-4567-82A9-F04AE763FA67}">
      <dgm:prSet/>
      <dgm:spPr/>
      <dgm:t>
        <a:bodyPr/>
        <a:lstStyle/>
        <a:p>
          <a:pPr latinLnBrk="1"/>
          <a:endParaRPr lang="ko-KR" altLang="en-US"/>
        </a:p>
      </dgm:t>
    </dgm:pt>
    <dgm:pt modelId="{E613FF8A-5A1B-4C77-B86D-84D0D7B8CCC4}" type="sibTrans" cxnId="{EF007C36-7FE8-4567-82A9-F04AE763FA67}">
      <dgm:prSet/>
      <dgm:spPr/>
      <dgm:t>
        <a:bodyPr/>
        <a:lstStyle/>
        <a:p>
          <a:pPr latinLnBrk="1"/>
          <a:endParaRPr lang="ko-KR" altLang="en-US"/>
        </a:p>
      </dgm:t>
    </dgm:pt>
    <dgm:pt modelId="{2AB327C3-5D5D-4261-80F0-983A0EDD0977}" type="pres">
      <dgm:prSet presAssocID="{FCB7BEAC-21A0-4675-ADF7-365188210F1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89F961A-F795-4E7A-B452-BB75FD0B0CD3}" type="pres">
      <dgm:prSet presAssocID="{2D42F09D-F1F9-421D-B792-F287207525EB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CAE8E14-B5CD-4982-9B01-0B008B35D45F}" type="pres">
      <dgm:prSet presAssocID="{2D42F09D-F1F9-421D-B792-F287207525EB}" presName="childText" presStyleLbl="revTx" presStyleIdx="0" presStyleCnt="5" custLinFactNeighborY="1480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6405415-7522-4B4C-8A56-A68FAAEEA5DE}" type="pres">
      <dgm:prSet presAssocID="{05F52955-58DE-41C8-9B1C-BDF936395AF4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DA532E3-C64D-4B5F-ADAB-3B6AC27C0142}" type="pres">
      <dgm:prSet presAssocID="{05F52955-58DE-41C8-9B1C-BDF936395AF4}" presName="childText" presStyleLbl="revTx" presStyleIdx="1" presStyleCnt="5" custLinFactNeighborY="1097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73FC0A9-4789-4F2C-A944-5CF9F5CA2098}" type="pres">
      <dgm:prSet presAssocID="{810D0F99-C6CB-47FF-9798-E3EDE6878CFA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D4897AD-1734-4387-8EE6-74EA25AD6B7B}" type="pres">
      <dgm:prSet presAssocID="{810D0F99-C6CB-47FF-9798-E3EDE6878CFA}" presName="childText" presStyleLbl="revTx" presStyleIdx="2" presStyleCnt="5" custLinFactNeighborY="880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0475F2E-1347-40B9-B224-209B7BFEC151}" type="pres">
      <dgm:prSet presAssocID="{B9BB0E79-15E0-4D12-9C0B-1887CB695415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A9F1074-AC25-402B-A1E9-A718EC2CD28B}" type="pres">
      <dgm:prSet presAssocID="{B9BB0E79-15E0-4D12-9C0B-1887CB695415}" presName="childText" presStyleLbl="revTx" presStyleIdx="3" presStyleCnt="5" custLinFactNeighborY="1267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315BCD5-C536-4F2E-812A-18C86E4D48B8}" type="pres">
      <dgm:prSet presAssocID="{3EBE5508-2CB6-4548-9E03-7C9FC2A3A25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E4F4143-E3CB-43C9-A88B-319D7A512B97}" type="pres">
      <dgm:prSet presAssocID="{3EBE5508-2CB6-4548-9E03-7C9FC2A3A255}" presName="childText" presStyleLbl="revTx" presStyleIdx="4" presStyleCnt="5" custLinFactNeighborY="883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95AAE041-1A83-45DA-812F-1C940805177C}" type="presOf" srcId="{5112DE8C-EE52-4117-9C77-2F4CA7CFC3B9}" destId="{9D4897AD-1734-4387-8EE6-74EA25AD6B7B}" srcOrd="0" destOrd="0" presId="urn:microsoft.com/office/officeart/2005/8/layout/vList2"/>
    <dgm:cxn modelId="{2A20A961-7B8F-4608-98ED-3DE6DDB85947}" srcId="{B9BB0E79-15E0-4D12-9C0B-1887CB695415}" destId="{07A79BA0-84CC-4FCC-9537-D1B42C87F1D7}" srcOrd="0" destOrd="0" parTransId="{CF9C9112-958B-446D-AE06-6E4D3EBFB673}" sibTransId="{C90B6991-A2D0-4FE5-9098-D4611E8236F9}"/>
    <dgm:cxn modelId="{328834AC-77D7-4472-A25D-14B99048B0F4}" type="presOf" srcId="{3EBE5508-2CB6-4548-9E03-7C9FC2A3A255}" destId="{7315BCD5-C536-4F2E-812A-18C86E4D48B8}" srcOrd="0" destOrd="0" presId="urn:microsoft.com/office/officeart/2005/8/layout/vList2"/>
    <dgm:cxn modelId="{90960C07-15EA-422A-859B-D035EBBD25E6}" type="presOf" srcId="{B9BB0E79-15E0-4D12-9C0B-1887CB695415}" destId="{20475F2E-1347-40B9-B224-209B7BFEC151}" srcOrd="0" destOrd="0" presId="urn:microsoft.com/office/officeart/2005/8/layout/vList2"/>
    <dgm:cxn modelId="{924594F0-017C-4CCB-8063-E6E03EE1209F}" type="presOf" srcId="{DDF772CD-74E4-4F04-BD3F-312673A9318A}" destId="{5DA532E3-C64D-4B5F-ADAB-3B6AC27C0142}" srcOrd="0" destOrd="0" presId="urn:microsoft.com/office/officeart/2005/8/layout/vList2"/>
    <dgm:cxn modelId="{DE7F88C3-0C79-4BB2-B9EC-C63A0FEDB972}" type="presOf" srcId="{FCB7BEAC-21A0-4675-ADF7-365188210F17}" destId="{2AB327C3-5D5D-4261-80F0-983A0EDD0977}" srcOrd="0" destOrd="0" presId="urn:microsoft.com/office/officeart/2005/8/layout/vList2"/>
    <dgm:cxn modelId="{A8AC2E54-E5DA-4B67-8DC6-DEEB1D51FE30}" type="presOf" srcId="{09688A04-701C-475D-BE9E-2D9D9E57C480}" destId="{2E4F4143-E3CB-43C9-A88B-319D7A512B97}" srcOrd="0" destOrd="0" presId="urn:microsoft.com/office/officeart/2005/8/layout/vList2"/>
    <dgm:cxn modelId="{94D02934-E607-440E-A287-F32994D57DC3}" srcId="{FCB7BEAC-21A0-4675-ADF7-365188210F17}" destId="{05F52955-58DE-41C8-9B1C-BDF936395AF4}" srcOrd="1" destOrd="0" parTransId="{1F0C1952-F1A6-48CA-944B-453F05932B80}" sibTransId="{3995883A-658B-4BA4-B73D-889B3A91E4F6}"/>
    <dgm:cxn modelId="{68FBF692-FAAA-4741-955A-B4C30A18F4B8}" type="presOf" srcId="{810D0F99-C6CB-47FF-9798-E3EDE6878CFA}" destId="{273FC0A9-4789-4F2C-A944-5CF9F5CA2098}" srcOrd="0" destOrd="0" presId="urn:microsoft.com/office/officeart/2005/8/layout/vList2"/>
    <dgm:cxn modelId="{99506E9C-F3B3-4F94-A20F-3C0134DAD01A}" type="presOf" srcId="{05F52955-58DE-41C8-9B1C-BDF936395AF4}" destId="{56405415-7522-4B4C-8A56-A68FAAEEA5DE}" srcOrd="0" destOrd="0" presId="urn:microsoft.com/office/officeart/2005/8/layout/vList2"/>
    <dgm:cxn modelId="{2D601EB7-7215-4EC6-9AF1-205BC69DCF1A}" type="presOf" srcId="{07A79BA0-84CC-4FCC-9537-D1B42C87F1D7}" destId="{AA9F1074-AC25-402B-A1E9-A718EC2CD28B}" srcOrd="0" destOrd="0" presId="urn:microsoft.com/office/officeart/2005/8/layout/vList2"/>
    <dgm:cxn modelId="{1B0BA5A0-E6EF-4B95-ADC3-0E6BDE075B5C}" srcId="{810D0F99-C6CB-47FF-9798-E3EDE6878CFA}" destId="{5112DE8C-EE52-4117-9C77-2F4CA7CFC3B9}" srcOrd="0" destOrd="0" parTransId="{0339B4EA-D0D8-49D9-91A5-15C36EA3EA8B}" sibTransId="{A7C30E36-1D55-4D93-A3BD-2E842DA2A6C2}"/>
    <dgm:cxn modelId="{574F2CD5-3271-42D7-81C4-D642ECF0382B}" srcId="{05F52955-58DE-41C8-9B1C-BDF936395AF4}" destId="{DDF772CD-74E4-4F04-BD3F-312673A9318A}" srcOrd="0" destOrd="0" parTransId="{A69F30F1-327B-4B74-BF6D-FA993646DFDF}" sibTransId="{476AF9EC-6FC7-4D83-BFF7-F10ABBDA012E}"/>
    <dgm:cxn modelId="{79916EC9-A7A4-4A11-B33C-AFBD5AA56934}" type="presOf" srcId="{E39FFCA3-4FD8-40CE-8650-09BD4CA4E0F6}" destId="{3CAE8E14-B5CD-4982-9B01-0B008B35D45F}" srcOrd="0" destOrd="0" presId="urn:microsoft.com/office/officeart/2005/8/layout/vList2"/>
    <dgm:cxn modelId="{F9AB3284-316F-4FB3-A42C-C5DCAD6E0BCB}" srcId="{FCB7BEAC-21A0-4675-ADF7-365188210F17}" destId="{B9BB0E79-15E0-4D12-9C0B-1887CB695415}" srcOrd="3" destOrd="0" parTransId="{F4A9C835-7FB3-484D-B0D8-6870172C6992}" sibTransId="{DE173196-37FC-4D40-82CA-5CFAE33CEF23}"/>
    <dgm:cxn modelId="{3557AE0F-5A11-4134-9D46-B0C67293D31B}" srcId="{FCB7BEAC-21A0-4675-ADF7-365188210F17}" destId="{810D0F99-C6CB-47FF-9798-E3EDE6878CFA}" srcOrd="2" destOrd="0" parTransId="{758D5E1E-3AE9-4E57-9771-F960C9A48F11}" sibTransId="{4AB3B309-376F-4D61-95BA-E9553137DF30}"/>
    <dgm:cxn modelId="{170A9D2B-4B0C-4D5A-85BE-B8B28E24765E}" type="presOf" srcId="{2D42F09D-F1F9-421D-B792-F287207525EB}" destId="{489F961A-F795-4E7A-B452-BB75FD0B0CD3}" srcOrd="0" destOrd="0" presId="urn:microsoft.com/office/officeart/2005/8/layout/vList2"/>
    <dgm:cxn modelId="{D74E7100-87FB-4E5C-965B-C28E93B50207}" srcId="{2D42F09D-F1F9-421D-B792-F287207525EB}" destId="{E39FFCA3-4FD8-40CE-8650-09BD4CA4E0F6}" srcOrd="0" destOrd="0" parTransId="{D9085589-7D68-4548-8F63-6FB2A76B7FD1}" sibTransId="{128913E6-8B70-4B70-BE40-D69291F8EE05}"/>
    <dgm:cxn modelId="{5D36032A-579D-4AB9-8E26-14713B5E503F}" srcId="{FCB7BEAC-21A0-4675-ADF7-365188210F17}" destId="{2D42F09D-F1F9-421D-B792-F287207525EB}" srcOrd="0" destOrd="0" parTransId="{290A45FA-21CF-4D50-9FE2-17AF2388C34B}" sibTransId="{D9B07243-48DD-4D6F-ACA4-52D8C2C5B8B7}"/>
    <dgm:cxn modelId="{EF007C36-7FE8-4567-82A9-F04AE763FA67}" srcId="{3EBE5508-2CB6-4548-9E03-7C9FC2A3A255}" destId="{09688A04-701C-475D-BE9E-2D9D9E57C480}" srcOrd="0" destOrd="0" parTransId="{23FAB02E-BC44-4FF9-B325-F262E225879D}" sibTransId="{E613FF8A-5A1B-4C77-B86D-84D0D7B8CCC4}"/>
    <dgm:cxn modelId="{6A8603F4-69C1-4FC5-A832-6986B14841FD}" srcId="{FCB7BEAC-21A0-4675-ADF7-365188210F17}" destId="{3EBE5508-2CB6-4548-9E03-7C9FC2A3A255}" srcOrd="4" destOrd="0" parTransId="{C4A4A009-BA03-4C6F-843C-E162FB6B7A56}" sibTransId="{9B15BFE9-908B-4ABA-A888-A418268DCE44}"/>
    <dgm:cxn modelId="{CF6AEACE-9500-4A18-8E9D-A761C4CEA654}" type="presParOf" srcId="{2AB327C3-5D5D-4261-80F0-983A0EDD0977}" destId="{489F961A-F795-4E7A-B452-BB75FD0B0CD3}" srcOrd="0" destOrd="0" presId="urn:microsoft.com/office/officeart/2005/8/layout/vList2"/>
    <dgm:cxn modelId="{FCBE504E-BCA1-4AB9-8A30-B80EE988C0A3}" type="presParOf" srcId="{2AB327C3-5D5D-4261-80F0-983A0EDD0977}" destId="{3CAE8E14-B5CD-4982-9B01-0B008B35D45F}" srcOrd="1" destOrd="0" presId="urn:microsoft.com/office/officeart/2005/8/layout/vList2"/>
    <dgm:cxn modelId="{D1E86194-2C50-4EB8-9654-CBC062BF7BC0}" type="presParOf" srcId="{2AB327C3-5D5D-4261-80F0-983A0EDD0977}" destId="{56405415-7522-4B4C-8A56-A68FAAEEA5DE}" srcOrd="2" destOrd="0" presId="urn:microsoft.com/office/officeart/2005/8/layout/vList2"/>
    <dgm:cxn modelId="{B3DF2078-D40B-4664-A94F-4944A7603CAD}" type="presParOf" srcId="{2AB327C3-5D5D-4261-80F0-983A0EDD0977}" destId="{5DA532E3-C64D-4B5F-ADAB-3B6AC27C0142}" srcOrd="3" destOrd="0" presId="urn:microsoft.com/office/officeart/2005/8/layout/vList2"/>
    <dgm:cxn modelId="{4D4FFED2-B565-4453-AA2D-FFA375475FF6}" type="presParOf" srcId="{2AB327C3-5D5D-4261-80F0-983A0EDD0977}" destId="{273FC0A9-4789-4F2C-A944-5CF9F5CA2098}" srcOrd="4" destOrd="0" presId="urn:microsoft.com/office/officeart/2005/8/layout/vList2"/>
    <dgm:cxn modelId="{26687545-986E-4B5D-AF41-6E9FA24D3B8B}" type="presParOf" srcId="{2AB327C3-5D5D-4261-80F0-983A0EDD0977}" destId="{9D4897AD-1734-4387-8EE6-74EA25AD6B7B}" srcOrd="5" destOrd="0" presId="urn:microsoft.com/office/officeart/2005/8/layout/vList2"/>
    <dgm:cxn modelId="{E627675B-95FC-4FE8-9538-7FA6C71B2299}" type="presParOf" srcId="{2AB327C3-5D5D-4261-80F0-983A0EDD0977}" destId="{20475F2E-1347-40B9-B224-209B7BFEC151}" srcOrd="6" destOrd="0" presId="urn:microsoft.com/office/officeart/2005/8/layout/vList2"/>
    <dgm:cxn modelId="{B1DC874B-4633-4898-8AD6-8D331A190319}" type="presParOf" srcId="{2AB327C3-5D5D-4261-80F0-983A0EDD0977}" destId="{AA9F1074-AC25-402B-A1E9-A718EC2CD28B}" srcOrd="7" destOrd="0" presId="urn:microsoft.com/office/officeart/2005/8/layout/vList2"/>
    <dgm:cxn modelId="{2AE6C700-62C6-4B08-9D45-7AE1EA80B52A}" type="presParOf" srcId="{2AB327C3-5D5D-4261-80F0-983A0EDD0977}" destId="{7315BCD5-C536-4F2E-812A-18C86E4D48B8}" srcOrd="8" destOrd="0" presId="urn:microsoft.com/office/officeart/2005/8/layout/vList2"/>
    <dgm:cxn modelId="{08C5503A-F082-4211-88D5-CF420FF213C3}" type="presParOf" srcId="{2AB327C3-5D5D-4261-80F0-983A0EDD0977}" destId="{2E4F4143-E3CB-43C9-A88B-319D7A512B97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89F961A-F795-4E7A-B452-BB75FD0B0CD3}">
      <dsp:nvSpPr>
        <dsp:cNvPr id="0" name=""/>
        <dsp:cNvSpPr/>
      </dsp:nvSpPr>
      <dsp:spPr>
        <a:xfrm>
          <a:off x="0" y="86684"/>
          <a:ext cx="6096000" cy="524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1. </a:t>
          </a:r>
          <a:r>
            <a:rPr lang="ko-KR" altLang="en-US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외화자산</a:t>
          </a:r>
          <a:r>
            <a:rPr lang="en-US" altLang="ko-KR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·</a:t>
          </a:r>
          <a:r>
            <a:rPr lang="ko-KR" altLang="en-US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부채의 만기 분류</a:t>
          </a:r>
          <a:endParaRPr lang="ko-KR" altLang="en-US" sz="2000" kern="12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86684"/>
        <a:ext cx="6096000" cy="524160"/>
      </dsp:txXfrm>
    </dsp:sp>
    <dsp:sp modelId="{3CAE8E14-B5CD-4982-9B01-0B008B35D45F}">
      <dsp:nvSpPr>
        <dsp:cNvPr id="0" name=""/>
        <dsp:cNvSpPr/>
      </dsp:nvSpPr>
      <dsp:spPr>
        <a:xfrm>
          <a:off x="0" y="688445"/>
          <a:ext cx="60960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22860" rIns="128016" bIns="2286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800" kern="1200" dirty="0" err="1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잔존만기별</a:t>
          </a: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 분류 및 누적기준 작성</a:t>
          </a:r>
          <a:endParaRPr lang="ko-KR" altLang="en-US" sz="1800" kern="12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688445"/>
        <a:ext cx="6096000" cy="463680"/>
      </dsp:txXfrm>
    </dsp:sp>
    <dsp:sp modelId="{56405415-7522-4B4C-8A56-A68FAAEEA5DE}">
      <dsp:nvSpPr>
        <dsp:cNvPr id="0" name=""/>
        <dsp:cNvSpPr/>
      </dsp:nvSpPr>
      <dsp:spPr>
        <a:xfrm>
          <a:off x="0" y="1074524"/>
          <a:ext cx="6096000" cy="524160"/>
        </a:xfrm>
        <a:prstGeom prst="roundRect">
          <a:avLst/>
        </a:prstGeom>
        <a:solidFill>
          <a:schemeClr val="accent5">
            <a:hueOff val="814256"/>
            <a:satOff val="2799"/>
            <a:lumOff val="-13432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2. </a:t>
          </a:r>
          <a:r>
            <a:rPr lang="ko-KR" altLang="en-US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회계처리 관련 오류</a:t>
          </a:r>
          <a:endParaRPr lang="ko-KR" altLang="en-US" sz="2000" kern="12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1074524"/>
        <a:ext cx="6096000" cy="524160"/>
      </dsp:txXfrm>
    </dsp:sp>
    <dsp:sp modelId="{5DA532E3-C64D-4B5F-ADAB-3B6AC27C0142}">
      <dsp:nvSpPr>
        <dsp:cNvPr id="0" name=""/>
        <dsp:cNvSpPr/>
      </dsp:nvSpPr>
      <dsp:spPr>
        <a:xfrm>
          <a:off x="0" y="1656184"/>
          <a:ext cx="60960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22860" rIns="128016" bIns="2286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개별 외화자산</a:t>
          </a:r>
          <a:r>
            <a:rPr lang="en-US" altLang="ko-KR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·</a:t>
          </a: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부채계정의 회계처리 문제</a:t>
          </a:r>
          <a:endParaRPr lang="ko-KR" altLang="en-US" sz="1800" kern="12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1656184"/>
        <a:ext cx="6096000" cy="463680"/>
      </dsp:txXfrm>
    </dsp:sp>
    <dsp:sp modelId="{273FC0A9-4789-4F2C-A944-5CF9F5CA2098}">
      <dsp:nvSpPr>
        <dsp:cNvPr id="0" name=""/>
        <dsp:cNvSpPr/>
      </dsp:nvSpPr>
      <dsp:spPr>
        <a:xfrm>
          <a:off x="0" y="2062364"/>
          <a:ext cx="6096000" cy="524160"/>
        </a:xfrm>
        <a:prstGeom prst="roundRect">
          <a:avLst/>
        </a:prstGeom>
        <a:solidFill>
          <a:schemeClr val="accent5">
            <a:hueOff val="1628512"/>
            <a:satOff val="5598"/>
            <a:lumOff val="-26863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3. </a:t>
          </a:r>
          <a:r>
            <a:rPr lang="ko-KR" altLang="en-US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통화파생상품 관련 오류</a:t>
          </a:r>
          <a:endParaRPr lang="ko-KR" altLang="en-US" sz="2000" kern="12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2062364"/>
        <a:ext cx="6096000" cy="524160"/>
      </dsp:txXfrm>
    </dsp:sp>
    <dsp:sp modelId="{9D4897AD-1734-4387-8EE6-74EA25AD6B7B}">
      <dsp:nvSpPr>
        <dsp:cNvPr id="0" name=""/>
        <dsp:cNvSpPr/>
      </dsp:nvSpPr>
      <dsp:spPr>
        <a:xfrm>
          <a:off x="0" y="2632665"/>
          <a:ext cx="60960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22860" rIns="128016" bIns="2286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난외계정으로 분류</a:t>
          </a:r>
          <a:r>
            <a:rPr lang="en-US" altLang="ko-KR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외화 </a:t>
          </a:r>
          <a:r>
            <a:rPr lang="en-US" altLang="ko-KR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B/S</a:t>
          </a: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에 불포함</a:t>
          </a:r>
          <a:endParaRPr lang="ko-KR" altLang="en-US" sz="1800" kern="12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2632665"/>
        <a:ext cx="6096000" cy="463680"/>
      </dsp:txXfrm>
    </dsp:sp>
    <dsp:sp modelId="{20475F2E-1347-40B9-B224-209B7BFEC151}">
      <dsp:nvSpPr>
        <dsp:cNvPr id="0" name=""/>
        <dsp:cNvSpPr/>
      </dsp:nvSpPr>
      <dsp:spPr>
        <a:xfrm>
          <a:off x="0" y="3050204"/>
          <a:ext cx="6096000" cy="524160"/>
        </a:xfrm>
        <a:prstGeom prst="roundRect">
          <a:avLst/>
        </a:prstGeom>
        <a:solidFill>
          <a:schemeClr val="accent5">
            <a:hueOff val="2442768"/>
            <a:satOff val="8397"/>
            <a:lumOff val="-40295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4. </a:t>
          </a:r>
          <a:r>
            <a:rPr lang="ko-KR" altLang="en-US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통화단위 환산 오류</a:t>
          </a:r>
          <a:endParaRPr lang="ko-KR" altLang="en-US" sz="2000" kern="12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3050204"/>
        <a:ext cx="6096000" cy="524160"/>
      </dsp:txXfrm>
    </dsp:sp>
    <dsp:sp modelId="{AA9F1074-AC25-402B-A1E9-A718EC2CD28B}">
      <dsp:nvSpPr>
        <dsp:cNvPr id="0" name=""/>
        <dsp:cNvSpPr/>
      </dsp:nvSpPr>
      <dsp:spPr>
        <a:xfrm>
          <a:off x="0" y="3640775"/>
          <a:ext cx="60960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22860" rIns="128016" bIns="2286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보고서 작성시 </a:t>
          </a:r>
          <a:r>
            <a:rPr lang="ko-KR" altLang="en-US" sz="1800" kern="1200" dirty="0" err="1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천미달러</a:t>
          </a: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 단위로 금액 기재</a:t>
          </a:r>
          <a:endParaRPr lang="ko-KR" altLang="en-US" sz="1800" kern="12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3640775"/>
        <a:ext cx="6096000" cy="463680"/>
      </dsp:txXfrm>
    </dsp:sp>
    <dsp:sp modelId="{7315BCD5-C536-4F2E-812A-18C86E4D48B8}">
      <dsp:nvSpPr>
        <dsp:cNvPr id="0" name=""/>
        <dsp:cNvSpPr/>
      </dsp:nvSpPr>
      <dsp:spPr>
        <a:xfrm>
          <a:off x="0" y="4038044"/>
          <a:ext cx="6096000" cy="524160"/>
        </a:xfrm>
        <a:prstGeom prst="roundRect">
          <a:avLst/>
        </a:prstGeom>
        <a:solidFill>
          <a:schemeClr val="accent5">
            <a:hueOff val="3257024"/>
            <a:satOff val="11196"/>
            <a:lumOff val="-53726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5. </a:t>
          </a:r>
          <a:r>
            <a:rPr lang="ko-KR" altLang="en-US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외화유동성 지도비율 </a:t>
          </a:r>
          <a:r>
            <a:rPr lang="ko-KR" altLang="en-US" sz="2000" kern="1200" dirty="0" err="1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위반시</a:t>
          </a:r>
          <a:r>
            <a:rPr lang="ko-KR" altLang="en-US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 미보고</a:t>
          </a:r>
          <a:endParaRPr lang="ko-KR" altLang="en-US" sz="2000" kern="12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4038044"/>
        <a:ext cx="6096000" cy="524160"/>
      </dsp:txXfrm>
    </dsp:sp>
    <dsp:sp modelId="{2E4F4143-E3CB-43C9-A88B-319D7A512B97}">
      <dsp:nvSpPr>
        <dsp:cNvPr id="0" name=""/>
        <dsp:cNvSpPr/>
      </dsp:nvSpPr>
      <dsp:spPr>
        <a:xfrm>
          <a:off x="0" y="4608513"/>
          <a:ext cx="60960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22860" rIns="128016" bIns="2286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금융회사에서 위반내역을 파악하여 </a:t>
          </a:r>
          <a:r>
            <a:rPr lang="ko-KR" altLang="en-US" sz="1800" kern="1200" dirty="0" err="1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금감원에</a:t>
          </a: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 보고</a:t>
          </a:r>
          <a:endParaRPr lang="ko-KR" altLang="en-US" sz="1800" kern="12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4608513"/>
        <a:ext cx="6096000" cy="463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3015" cy="49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535" y="0"/>
            <a:ext cx="2953015" cy="49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3879"/>
            <a:ext cx="2953015" cy="497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7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535" y="9443879"/>
            <a:ext cx="2953015" cy="497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4EF204D-B2D2-437A-AAE6-9284EF8B4B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3015" cy="49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535" y="0"/>
            <a:ext cx="2953015" cy="49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46125"/>
            <a:ext cx="4970462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833" y="4722733"/>
            <a:ext cx="5451475" cy="447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860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3879"/>
            <a:ext cx="2953015" cy="497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60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535" y="9443879"/>
            <a:ext cx="2953015" cy="497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6DD9F6D1-DD15-490B-B3CC-BC6CB4BD52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9FC0A8-615B-4DD9-8882-CCB0C043F0BF}" type="slidenum">
              <a:rPr lang="en-US" altLang="ko-KR" smtClean="0"/>
              <a:pPr/>
              <a:t>0</a:t>
            </a:fld>
            <a:endParaRPr lang="en-US" altLang="ko-KR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0065ED-F0B0-47EF-9821-7AB49652CDD5}" type="slidenum">
              <a:rPr lang="en-US" altLang="ko-KR" smtClean="0"/>
              <a:pPr/>
              <a:t>1</a:t>
            </a:fld>
            <a:endParaRPr lang="en-US" altLang="ko-KR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BAD54B-64C0-4B53-877C-A8B9B458F45A}" type="slidenum">
              <a:rPr lang="en-US" altLang="ko-KR" smtClean="0"/>
              <a:pPr/>
              <a:t>2</a:t>
            </a:fld>
            <a:endParaRPr lang="en-US" altLang="ko-KR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main00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20685"/>
            <a:ext cx="9144000" cy="765175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8EA77-E02C-45D8-85D8-D6F49FEF6A3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6ED5D8-46E0-4CFE-B626-D4BC56ABEBD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6D21C-3322-4166-B07A-491EADE44C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A9EE3-2239-4508-88B2-A03E6283870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2BCC91-0906-414B-A4C4-8529286F1FE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AC9EF-2D45-4ADF-BD1F-25813A50C7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FB2995-F766-4B23-BFFD-0FA912B58AF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ADE9B-F3F9-4FF7-AEFF-F11664F9CD2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1FD8B9-3138-41FE-AA64-525A883F9D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2C8858-8524-4F6B-A8AE-68904F9C4C8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master0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3400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fld id="{3251551E-FE0A-4E5F-A7C3-170A6BF0F2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</p:sldLayoutIdLst>
  <p:transition>
    <p:fade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>
    <p:fade/>
  </p:transition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03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514600"/>
            <a:ext cx="91440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9" name="Picture 11" descr="03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AutoShape 8"/>
          <p:cNvSpPr>
            <a:spLocks noChangeArrowheads="1"/>
          </p:cNvSpPr>
          <p:nvPr/>
        </p:nvSpPr>
        <p:spPr bwMode="auto">
          <a:xfrm>
            <a:off x="3562970" y="3495675"/>
            <a:ext cx="2089150" cy="57626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2400" dirty="0" smtClean="0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2014.12</a:t>
            </a:r>
            <a:r>
              <a:rPr lang="ko-KR" altLang="en-US" sz="2400" dirty="0" smtClean="0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월</a:t>
            </a:r>
            <a:endParaRPr lang="en-US" altLang="ko-KR" sz="2400" dirty="0">
              <a:ln w="11430"/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7500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11560" y="1357298"/>
            <a:ext cx="7840608" cy="156966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ko-KR" sz="4800" dirty="0" smtClean="0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2014</a:t>
            </a:r>
            <a:r>
              <a:rPr lang="ko-KR" altLang="en-US" sz="4800" dirty="0" smtClean="0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년</a:t>
            </a:r>
            <a:endParaRPr lang="en-US" altLang="ko-KR" sz="4800" dirty="0" smtClean="0">
              <a:ln w="11430"/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7500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ko-KR" altLang="en-US" sz="4800" dirty="0" smtClean="0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외환건전성 업무보고 설명회</a:t>
            </a:r>
            <a:endParaRPr lang="en-US" altLang="ko-KR" sz="4800" dirty="0">
              <a:ln w="11430"/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7500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12" name="그림 11" descr="무제-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85984" y="5429264"/>
            <a:ext cx="1143008" cy="1143008"/>
          </a:xfrm>
          <a:prstGeom prst="rect">
            <a:avLst/>
          </a:prstGeom>
          <a:effectLst>
            <a:glow rad="139700">
              <a:schemeClr val="tx2">
                <a:lumMod val="60000"/>
                <a:lumOff val="40000"/>
                <a:alpha val="40000"/>
              </a:schemeClr>
            </a:glow>
          </a:effectLst>
        </p:spPr>
      </p:pic>
      <p:sp>
        <p:nvSpPr>
          <p:cNvPr id="13" name="TextBox 12"/>
          <p:cNvSpPr txBox="1"/>
          <p:nvPr/>
        </p:nvSpPr>
        <p:spPr>
          <a:xfrm>
            <a:off x="3357563" y="5753100"/>
            <a:ext cx="34290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400" dirty="0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금융감독원</a:t>
            </a:r>
            <a:r>
              <a:rPr lang="en-US" altLang="ko-KR" sz="2400" dirty="0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 </a:t>
            </a:r>
            <a:r>
              <a:rPr lang="ko-KR" altLang="en-US" sz="2400" dirty="0" err="1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외환감독국</a:t>
            </a:r>
            <a:endParaRPr lang="ko-KR" altLang="en-US" sz="2400" dirty="0">
              <a:ln w="11430"/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7500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j-ea"/>
              <a:ea typeface="+mj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B5962F-CACF-4AB8-A4CC-D1D11C0960EC}" type="slidenum">
              <a:rPr lang="en-US" altLang="ko-KR"/>
              <a:pPr>
                <a:defRPr/>
              </a:pPr>
              <a:t>1</a:t>
            </a:fld>
            <a:endParaRPr lang="en-US" altLang="ko-KR"/>
          </a:p>
        </p:txBody>
      </p:sp>
      <p:pic>
        <p:nvPicPr>
          <p:cNvPr id="4099" name="Picture 32" descr="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30" name="Picture 34" descr="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38576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3817938" y="571500"/>
            <a:ext cx="1325562" cy="784225"/>
            <a:chOff x="845" y="641"/>
            <a:chExt cx="957" cy="566"/>
          </a:xfrm>
        </p:grpSpPr>
        <p:pic>
          <p:nvPicPr>
            <p:cNvPr id="4142" name="Picture 30" descr="07_01"/>
            <p:cNvPicPr>
              <a:picLocks noChangeAspect="1" noChangeArrowheads="1"/>
            </p:cNvPicPr>
            <p:nvPr/>
          </p:nvPicPr>
          <p:blipFill>
            <a:blip r:embed="rId5" cstate="print">
              <a:lum contrast="12000"/>
            </a:blip>
            <a:srcRect r="52534"/>
            <a:stretch>
              <a:fillRect/>
            </a:stretch>
          </p:blipFill>
          <p:spPr bwMode="auto">
            <a:xfrm>
              <a:off x="845" y="641"/>
              <a:ext cx="337" cy="5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43" name="Picture 31" descr="07_01"/>
            <p:cNvPicPr>
              <a:picLocks noChangeAspect="1" noChangeArrowheads="1"/>
            </p:cNvPicPr>
            <p:nvPr/>
          </p:nvPicPr>
          <p:blipFill>
            <a:blip r:embed="rId5" cstate="print">
              <a:lum contrast="12000"/>
            </a:blip>
            <a:srcRect l="47464"/>
            <a:stretch>
              <a:fillRect/>
            </a:stretch>
          </p:blipFill>
          <p:spPr bwMode="auto">
            <a:xfrm>
              <a:off x="1429" y="641"/>
              <a:ext cx="373" cy="5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그룹 69"/>
          <p:cNvGrpSpPr>
            <a:grpSpLocks/>
          </p:cNvGrpSpPr>
          <p:nvPr/>
        </p:nvGrpSpPr>
        <p:grpSpPr bwMode="auto">
          <a:xfrm>
            <a:off x="1643063" y="3140968"/>
            <a:ext cx="7500937" cy="714375"/>
            <a:chOff x="1643042" y="5572141"/>
            <a:chExt cx="7500958" cy="714379"/>
          </a:xfrm>
        </p:grpSpPr>
        <p:pic>
          <p:nvPicPr>
            <p:cNvPr id="4138" name="그림 47" descr="02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987824" y="5572141"/>
              <a:ext cx="6156176" cy="6929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39" name="그림 48" descr="01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643042" y="5572141"/>
              <a:ext cx="1000132" cy="714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" name="TextBox 3"/>
            <p:cNvSpPr txBox="1">
              <a:spLocks noChangeArrowheads="1"/>
            </p:cNvSpPr>
            <p:nvPr/>
          </p:nvSpPr>
          <p:spPr bwMode="auto">
            <a:xfrm>
              <a:off x="3328972" y="5672153"/>
              <a:ext cx="5419491" cy="471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0913" tIns="50457" rIns="100913" bIns="50457">
              <a:spAutoFit/>
            </a:bodyPr>
            <a:lstStyle/>
            <a:p>
              <a:pPr>
                <a:defRPr/>
              </a:pPr>
              <a:r>
                <a:rPr lang="ko-KR" altLang="en-US" sz="2400" spc="300" dirty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 </a:t>
              </a:r>
              <a:r>
                <a:rPr lang="ko-KR" altLang="en-US" sz="2400" spc="300" dirty="0" smtClean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외환전산망 </a:t>
              </a:r>
              <a:r>
                <a:rPr lang="ko-KR" altLang="en-US" sz="2400" spc="300" dirty="0" err="1" smtClean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보고시</a:t>
              </a:r>
              <a:r>
                <a:rPr lang="ko-KR" altLang="en-US" sz="2400" spc="300" dirty="0" smtClean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 유의사항</a:t>
              </a:r>
              <a:endParaRPr lang="ko-KR" altLang="en-US" sz="2400" spc="300" dirty="0">
                <a:solidFill>
                  <a:srgbClr val="23589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endParaRPr>
            </a:p>
          </p:txBody>
        </p:sp>
        <p:sp>
          <p:nvSpPr>
            <p:cNvPr id="53" name="TextBox 3"/>
            <p:cNvSpPr txBox="1">
              <a:spLocks noChangeArrowheads="1"/>
            </p:cNvSpPr>
            <p:nvPr/>
          </p:nvSpPr>
          <p:spPr bwMode="auto">
            <a:xfrm>
              <a:off x="1857355" y="5621354"/>
              <a:ext cx="512764" cy="593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III</a:t>
              </a:r>
            </a:p>
          </p:txBody>
        </p:sp>
      </p:grpSp>
      <p:grpSp>
        <p:nvGrpSpPr>
          <p:cNvPr id="4" name="그룹 63"/>
          <p:cNvGrpSpPr>
            <a:grpSpLocks/>
          </p:cNvGrpSpPr>
          <p:nvPr/>
        </p:nvGrpSpPr>
        <p:grpSpPr bwMode="auto">
          <a:xfrm>
            <a:off x="2339752" y="1428736"/>
            <a:ext cx="6782400" cy="714375"/>
            <a:chOff x="2571750" y="1800991"/>
            <a:chExt cx="6572250" cy="714375"/>
          </a:xfrm>
        </p:grpSpPr>
        <p:grpSp>
          <p:nvGrpSpPr>
            <p:cNvPr id="4129" name="그룹 38"/>
            <p:cNvGrpSpPr>
              <a:grpSpLocks/>
            </p:cNvGrpSpPr>
            <p:nvPr/>
          </p:nvGrpSpPr>
          <p:grpSpPr bwMode="auto">
            <a:xfrm>
              <a:off x="2571750" y="1800991"/>
              <a:ext cx="6572250" cy="714375"/>
              <a:chOff x="2928926" y="2418131"/>
              <a:chExt cx="6572232" cy="714379"/>
            </a:xfrm>
          </p:grpSpPr>
          <p:grpSp>
            <p:nvGrpSpPr>
              <p:cNvPr id="4132" name="그룹 34"/>
              <p:cNvGrpSpPr>
                <a:grpSpLocks/>
              </p:cNvGrpSpPr>
              <p:nvPr/>
            </p:nvGrpSpPr>
            <p:grpSpPr bwMode="auto">
              <a:xfrm>
                <a:off x="4071966" y="2428868"/>
                <a:ext cx="5429192" cy="692904"/>
                <a:chOff x="4071966" y="1521651"/>
                <a:chExt cx="5429192" cy="692904"/>
              </a:xfrm>
            </p:grpSpPr>
            <p:pic>
              <p:nvPicPr>
                <p:cNvPr id="4136" name="그림 43" descr="02.png"/>
                <p:cNvPicPr>
                  <a:picLocks noChangeAspect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4071966" y="1521651"/>
                  <a:ext cx="5429192" cy="69290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5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4257660" y="1633153"/>
                  <a:ext cx="4886311" cy="4699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100913" tIns="50457" rIns="100913" bIns="50457">
                  <a:spAutoFit/>
                </a:bodyPr>
                <a:lstStyle/>
                <a:p>
                  <a:pPr>
                    <a:defRPr/>
                  </a:pPr>
                  <a:endParaRPr lang="ko-KR" altLang="en-US" sz="2400" spc="300" dirty="0">
                    <a:solidFill>
                      <a:srgbClr val="23589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</a:endParaRPr>
                </a:p>
              </p:txBody>
            </p:sp>
          </p:grpSp>
          <p:grpSp>
            <p:nvGrpSpPr>
              <p:cNvPr id="4133" name="그룹 37"/>
              <p:cNvGrpSpPr>
                <a:grpSpLocks/>
              </p:cNvGrpSpPr>
              <p:nvPr/>
            </p:nvGrpSpPr>
            <p:grpSpPr bwMode="auto">
              <a:xfrm>
                <a:off x="2928926" y="2418131"/>
                <a:ext cx="1000132" cy="714379"/>
                <a:chOff x="2786050" y="1500175"/>
                <a:chExt cx="1214446" cy="727550"/>
              </a:xfrm>
            </p:grpSpPr>
            <p:pic>
              <p:nvPicPr>
                <p:cNvPr id="4134" name="그림 41" descr="01.png"/>
                <p:cNvPicPr>
                  <a:picLocks noChangeAspect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2786050" y="1500175"/>
                  <a:ext cx="1214446" cy="7275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3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3144597" y="1551912"/>
                  <a:ext cx="246742" cy="604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100913" tIns="50457" rIns="100913" bIns="50457">
                  <a:spAutoFit/>
                </a:bodyPr>
                <a:lstStyle/>
                <a:p>
                  <a:pPr>
                    <a:defRPr/>
                  </a:pPr>
                  <a:endParaRPr lang="en-US" altLang="ko-KR" sz="3200" spc="-11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그래픽M" pitchFamily="18" charset="-127"/>
                    <a:ea typeface="HY그래픽M" pitchFamily="18" charset="-127"/>
                  </a:endParaRPr>
                </a:p>
              </p:txBody>
            </p:sp>
          </p:grpSp>
        </p:grpSp>
        <p:sp>
          <p:nvSpPr>
            <p:cNvPr id="47" name="TextBox 3"/>
            <p:cNvSpPr txBox="1">
              <a:spLocks noChangeArrowheads="1"/>
            </p:cNvSpPr>
            <p:nvPr/>
          </p:nvSpPr>
          <p:spPr bwMode="auto">
            <a:xfrm>
              <a:off x="2913063" y="1845441"/>
              <a:ext cx="252412" cy="58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I</a:t>
              </a:r>
            </a:p>
          </p:txBody>
        </p:sp>
        <p:sp>
          <p:nvSpPr>
            <p:cNvPr id="55" name="TextBox 3"/>
            <p:cNvSpPr txBox="1">
              <a:spLocks noChangeArrowheads="1"/>
            </p:cNvSpPr>
            <p:nvPr/>
          </p:nvSpPr>
          <p:spPr bwMode="auto">
            <a:xfrm>
              <a:off x="4104896" y="1872429"/>
              <a:ext cx="4886325" cy="471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00913" tIns="50457" rIns="100913" bIns="50457">
              <a:spAutoFit/>
            </a:bodyPr>
            <a:lstStyle/>
            <a:p>
              <a:pPr>
                <a:defRPr/>
              </a:pPr>
              <a:r>
                <a:rPr lang="ko-KR" altLang="en-US" sz="2400" spc="300" dirty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 </a:t>
              </a:r>
              <a:r>
                <a:rPr lang="ko-KR" altLang="en-US" sz="2400" spc="300" dirty="0" smtClean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외화유동성비율제도 개괄</a:t>
              </a:r>
              <a:endParaRPr lang="ko-KR" altLang="en-US" sz="2400" spc="300" dirty="0">
                <a:solidFill>
                  <a:srgbClr val="23589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endParaRPr>
            </a:p>
          </p:txBody>
        </p:sp>
      </p:grpSp>
      <p:grpSp>
        <p:nvGrpSpPr>
          <p:cNvPr id="8" name="그룹 65"/>
          <p:cNvGrpSpPr>
            <a:grpSpLocks/>
          </p:cNvGrpSpPr>
          <p:nvPr/>
        </p:nvGrpSpPr>
        <p:grpSpPr bwMode="auto">
          <a:xfrm>
            <a:off x="1979712" y="2276872"/>
            <a:ext cx="7142400" cy="714375"/>
            <a:chOff x="2000250" y="2857496"/>
            <a:chExt cx="7143750" cy="714375"/>
          </a:xfrm>
        </p:grpSpPr>
        <p:grpSp>
          <p:nvGrpSpPr>
            <p:cNvPr id="4121" name="그룹 45"/>
            <p:cNvGrpSpPr>
              <a:grpSpLocks/>
            </p:cNvGrpSpPr>
            <p:nvPr/>
          </p:nvGrpSpPr>
          <p:grpSpPr bwMode="auto">
            <a:xfrm>
              <a:off x="2000250" y="2857496"/>
              <a:ext cx="7143750" cy="714375"/>
              <a:chOff x="2928926" y="3418263"/>
              <a:chExt cx="7143736" cy="714379"/>
            </a:xfrm>
          </p:grpSpPr>
          <p:grpSp>
            <p:nvGrpSpPr>
              <p:cNvPr id="4123" name="그룹 40"/>
              <p:cNvGrpSpPr>
                <a:grpSpLocks/>
              </p:cNvGrpSpPr>
              <p:nvPr/>
            </p:nvGrpSpPr>
            <p:grpSpPr bwMode="auto">
              <a:xfrm>
                <a:off x="4071966" y="3429000"/>
                <a:ext cx="6000696" cy="692904"/>
                <a:chOff x="4071966" y="1521651"/>
                <a:chExt cx="6000696" cy="692904"/>
              </a:xfrm>
            </p:grpSpPr>
            <p:pic>
              <p:nvPicPr>
                <p:cNvPr id="4127" name="그림 50" descr="02.png"/>
                <p:cNvPicPr>
                  <a:picLocks noChangeAspect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4071966" y="1521651"/>
                  <a:ext cx="6000696" cy="69290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2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4257662" y="1633153"/>
                  <a:ext cx="4886315" cy="4699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100913" tIns="50457" rIns="100913" bIns="50457">
                  <a:spAutoFit/>
                </a:bodyPr>
                <a:lstStyle/>
                <a:p>
                  <a:pPr>
                    <a:defRPr/>
                  </a:pPr>
                  <a:endParaRPr lang="ko-KR" altLang="en-US" sz="2400" spc="300" dirty="0">
                    <a:solidFill>
                      <a:srgbClr val="23589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</a:endParaRPr>
                </a:p>
              </p:txBody>
            </p:sp>
          </p:grpSp>
          <p:grpSp>
            <p:nvGrpSpPr>
              <p:cNvPr id="4124" name="그룹 43"/>
              <p:cNvGrpSpPr>
                <a:grpSpLocks/>
              </p:cNvGrpSpPr>
              <p:nvPr/>
            </p:nvGrpSpPr>
            <p:grpSpPr bwMode="auto">
              <a:xfrm>
                <a:off x="2928926" y="3418263"/>
                <a:ext cx="1000132" cy="714379"/>
                <a:chOff x="4173988" y="1500175"/>
                <a:chExt cx="1214446" cy="727550"/>
              </a:xfrm>
            </p:grpSpPr>
            <p:pic>
              <p:nvPicPr>
                <p:cNvPr id="4125" name="그림 48" descr="01.png"/>
                <p:cNvPicPr>
                  <a:picLocks noChangeAspect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4173988" y="1500175"/>
                  <a:ext cx="1214446" cy="7275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0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4515187" y="1551912"/>
                  <a:ext cx="497340" cy="604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100913" tIns="50457" rIns="100913" bIns="50457">
                  <a:spAutoFit/>
                </a:bodyPr>
                <a:lstStyle/>
                <a:p>
                  <a:pPr>
                    <a:defRPr/>
                  </a:pPr>
                  <a:r>
                    <a:rPr lang="en-US" altLang="ko-KR" sz="3200" spc="-11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HY그래픽M" pitchFamily="18" charset="-127"/>
                      <a:ea typeface="HY그래픽M" pitchFamily="18" charset="-127"/>
                    </a:rPr>
                    <a:t>II</a:t>
                  </a:r>
                </a:p>
              </p:txBody>
            </p:sp>
          </p:grpSp>
        </p:grpSp>
        <p:sp>
          <p:nvSpPr>
            <p:cNvPr id="56" name="TextBox 3"/>
            <p:cNvSpPr txBox="1">
              <a:spLocks noChangeArrowheads="1"/>
            </p:cNvSpPr>
            <p:nvPr/>
          </p:nvSpPr>
          <p:spPr bwMode="auto">
            <a:xfrm>
              <a:off x="3656747" y="2957509"/>
              <a:ext cx="5072063" cy="471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00913" tIns="50457" rIns="100913" bIns="50457">
              <a:spAutoFit/>
            </a:bodyPr>
            <a:lstStyle/>
            <a:p>
              <a:pPr>
                <a:defRPr/>
              </a:pPr>
              <a:r>
                <a:rPr lang="ko-KR" altLang="en-US" sz="2400" spc="300" dirty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 </a:t>
              </a:r>
              <a:r>
                <a:rPr lang="ko-KR" altLang="en-US" sz="2400" spc="300" dirty="0" smtClean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외화유동성비율 세부내용</a:t>
              </a:r>
              <a:endParaRPr lang="ko-KR" altLang="en-US" sz="2400" spc="300" dirty="0">
                <a:solidFill>
                  <a:srgbClr val="23589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endParaRPr>
            </a:p>
          </p:txBody>
        </p:sp>
      </p:grpSp>
      <p:grpSp>
        <p:nvGrpSpPr>
          <p:cNvPr id="48" name="그룹 56"/>
          <p:cNvGrpSpPr/>
          <p:nvPr/>
        </p:nvGrpSpPr>
        <p:grpSpPr>
          <a:xfrm>
            <a:off x="1285852" y="4005064"/>
            <a:ext cx="7862400" cy="714379"/>
            <a:chOff x="1500166" y="5286388"/>
            <a:chExt cx="7643834" cy="714379"/>
          </a:xfrm>
        </p:grpSpPr>
        <p:grpSp>
          <p:nvGrpSpPr>
            <p:cNvPr id="49" name="그룹 46"/>
            <p:cNvGrpSpPr/>
            <p:nvPr/>
          </p:nvGrpSpPr>
          <p:grpSpPr>
            <a:xfrm>
              <a:off x="2643206" y="5297125"/>
              <a:ext cx="6500794" cy="692904"/>
              <a:chOff x="4071966" y="1521651"/>
              <a:chExt cx="6322649" cy="692904"/>
            </a:xfrm>
          </p:grpSpPr>
          <p:pic>
            <p:nvPicPr>
              <p:cNvPr id="63" name="그림 62" descr="02.png"/>
              <p:cNvPicPr>
                <a:picLocks noChangeAspect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071966" y="1521651"/>
                <a:ext cx="6322649" cy="6929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4" name="TextBox 3"/>
              <p:cNvSpPr txBox="1">
                <a:spLocks noChangeArrowheads="1"/>
              </p:cNvSpPr>
              <p:nvPr/>
            </p:nvSpPr>
            <p:spPr bwMode="auto">
              <a:xfrm>
                <a:off x="4638530" y="1632488"/>
                <a:ext cx="5218356" cy="471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ko-KR" altLang="en-US" sz="2400" b="1" spc="300" dirty="0" smtClean="0">
                    <a:solidFill>
                      <a:srgbClr val="23589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  <a:ea typeface="HY헤드라인M" pitchFamily="18" charset="-127"/>
                  </a:rPr>
                  <a:t>보고서 작성시 오류사례</a:t>
                </a:r>
                <a:endParaRPr lang="ko-KR" altLang="en-US" sz="2400" b="1" spc="300" dirty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  <p:grpSp>
          <p:nvGrpSpPr>
            <p:cNvPr id="54" name="그룹 49"/>
            <p:cNvGrpSpPr/>
            <p:nvPr/>
          </p:nvGrpSpPr>
          <p:grpSpPr>
            <a:xfrm>
              <a:off x="1500166" y="5286388"/>
              <a:ext cx="1000132" cy="714379"/>
              <a:chOff x="5561926" y="-744298"/>
              <a:chExt cx="1214446" cy="727550"/>
            </a:xfrm>
          </p:grpSpPr>
          <p:pic>
            <p:nvPicPr>
              <p:cNvPr id="57" name="그림 56" descr="01.png"/>
              <p:cNvPicPr>
                <a:picLocks noChangeAspect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561926" y="-744298"/>
                <a:ext cx="1214446" cy="727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9" name="TextBox 3"/>
              <p:cNvSpPr txBox="1">
                <a:spLocks noChangeArrowheads="1"/>
              </p:cNvSpPr>
              <p:nvPr/>
            </p:nvSpPr>
            <p:spPr bwMode="auto">
              <a:xfrm>
                <a:off x="5838697" y="-684789"/>
                <a:ext cx="660905" cy="605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en-US" altLang="ko-KR" sz="3200" b="1" spc="-11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그래픽M" pitchFamily="18" charset="-127"/>
                    <a:ea typeface="HY그래픽M" pitchFamily="18" charset="-127"/>
                  </a:rPr>
                  <a:t>IV</a:t>
                </a:r>
                <a:endParaRPr lang="en-US" altLang="ko-KR" sz="3200" b="1" spc="-11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endParaRPr>
              </a:p>
            </p:txBody>
          </p:sp>
        </p:grpSp>
      </p:grpSp>
      <p:grpSp>
        <p:nvGrpSpPr>
          <p:cNvPr id="66" name="그룹 56"/>
          <p:cNvGrpSpPr/>
          <p:nvPr/>
        </p:nvGrpSpPr>
        <p:grpSpPr>
          <a:xfrm>
            <a:off x="886104" y="4869160"/>
            <a:ext cx="8222400" cy="714379"/>
            <a:chOff x="1500166" y="5286388"/>
            <a:chExt cx="7643834" cy="714379"/>
          </a:xfrm>
        </p:grpSpPr>
        <p:grpSp>
          <p:nvGrpSpPr>
            <p:cNvPr id="67" name="그룹 46"/>
            <p:cNvGrpSpPr/>
            <p:nvPr/>
          </p:nvGrpSpPr>
          <p:grpSpPr>
            <a:xfrm>
              <a:off x="2643206" y="5297125"/>
              <a:ext cx="6500794" cy="692904"/>
              <a:chOff x="4071966" y="1521651"/>
              <a:chExt cx="6322649" cy="692904"/>
            </a:xfrm>
          </p:grpSpPr>
          <p:pic>
            <p:nvPicPr>
              <p:cNvPr id="71" name="그림 70" descr="02.png"/>
              <p:cNvPicPr>
                <a:picLocks noChangeAspect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071966" y="1521651"/>
                <a:ext cx="6322649" cy="6929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2" name="TextBox 3"/>
              <p:cNvSpPr txBox="1">
                <a:spLocks noChangeArrowheads="1"/>
              </p:cNvSpPr>
              <p:nvPr/>
            </p:nvSpPr>
            <p:spPr bwMode="auto">
              <a:xfrm>
                <a:off x="4649059" y="1632488"/>
                <a:ext cx="4886973" cy="471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ko-KR" altLang="en-US" sz="2400" b="1" spc="300" dirty="0" smtClean="0">
                    <a:solidFill>
                      <a:srgbClr val="23589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  <a:ea typeface="HY헤드라인M" pitchFamily="18" charset="-127"/>
                  </a:rPr>
                  <a:t>외화유동성비율 </a:t>
                </a:r>
                <a:r>
                  <a:rPr lang="ko-KR" altLang="en-US" sz="2400" b="1" spc="300" dirty="0" err="1" smtClean="0">
                    <a:solidFill>
                      <a:srgbClr val="23589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  <a:ea typeface="HY헤드라인M" pitchFamily="18" charset="-127"/>
                  </a:rPr>
                  <a:t>위반시</a:t>
                </a:r>
                <a:r>
                  <a:rPr lang="ko-KR" altLang="en-US" sz="2400" b="1" spc="300" dirty="0" smtClean="0">
                    <a:solidFill>
                      <a:srgbClr val="23589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  <a:ea typeface="HY헤드라인M" pitchFamily="18" charset="-127"/>
                  </a:rPr>
                  <a:t> 제재내용</a:t>
                </a:r>
                <a:endParaRPr lang="ko-KR" altLang="en-US" sz="2400" b="1" spc="300" dirty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  <p:grpSp>
          <p:nvGrpSpPr>
            <p:cNvPr id="68" name="그룹 49"/>
            <p:cNvGrpSpPr/>
            <p:nvPr/>
          </p:nvGrpSpPr>
          <p:grpSpPr>
            <a:xfrm>
              <a:off x="1500166" y="5286388"/>
              <a:ext cx="1000132" cy="714379"/>
              <a:chOff x="5561926" y="-744298"/>
              <a:chExt cx="1214446" cy="727550"/>
            </a:xfrm>
          </p:grpSpPr>
          <p:pic>
            <p:nvPicPr>
              <p:cNvPr id="69" name="그림 68" descr="01.png"/>
              <p:cNvPicPr>
                <a:picLocks noChangeAspect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561926" y="-744298"/>
                <a:ext cx="1214446" cy="727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0" name="TextBox 3"/>
              <p:cNvSpPr txBox="1">
                <a:spLocks noChangeArrowheads="1"/>
              </p:cNvSpPr>
              <p:nvPr/>
            </p:nvSpPr>
            <p:spPr bwMode="auto">
              <a:xfrm>
                <a:off x="5902295" y="-684789"/>
                <a:ext cx="498228" cy="605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en-US" altLang="ko-KR" sz="3200" b="1" spc="-11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그래픽M" pitchFamily="18" charset="-127"/>
                    <a:ea typeface="HY그래픽M" pitchFamily="18" charset="-127"/>
                  </a:rPr>
                  <a:t>V</a:t>
                </a:r>
                <a:endParaRPr lang="en-US" altLang="ko-KR" sz="3200" b="1" spc="-11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endParaRPr>
              </a:p>
            </p:txBody>
          </p:sp>
        </p:grpSp>
      </p:grpSp>
      <p:grpSp>
        <p:nvGrpSpPr>
          <p:cNvPr id="73" name="그룹 56"/>
          <p:cNvGrpSpPr/>
          <p:nvPr/>
        </p:nvGrpSpPr>
        <p:grpSpPr>
          <a:xfrm>
            <a:off x="539552" y="5733256"/>
            <a:ext cx="8582400" cy="714379"/>
            <a:chOff x="1500166" y="5286388"/>
            <a:chExt cx="7643834" cy="714379"/>
          </a:xfrm>
        </p:grpSpPr>
        <p:grpSp>
          <p:nvGrpSpPr>
            <p:cNvPr id="74" name="그룹 46"/>
            <p:cNvGrpSpPr/>
            <p:nvPr/>
          </p:nvGrpSpPr>
          <p:grpSpPr>
            <a:xfrm>
              <a:off x="2643206" y="5297125"/>
              <a:ext cx="6500794" cy="692904"/>
              <a:chOff x="4071966" y="1521651"/>
              <a:chExt cx="6322649" cy="692904"/>
            </a:xfrm>
          </p:grpSpPr>
          <p:pic>
            <p:nvPicPr>
              <p:cNvPr id="78" name="그림 77" descr="02.png"/>
              <p:cNvPicPr>
                <a:picLocks noChangeAspect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071966" y="1521651"/>
                <a:ext cx="6322649" cy="6929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9" name="TextBox 3"/>
              <p:cNvSpPr txBox="1">
                <a:spLocks noChangeArrowheads="1"/>
              </p:cNvSpPr>
              <p:nvPr/>
            </p:nvSpPr>
            <p:spPr bwMode="auto">
              <a:xfrm>
                <a:off x="4582019" y="1632488"/>
                <a:ext cx="4886973" cy="471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ko-KR" altLang="en-US" sz="2400" spc="300" dirty="0" smtClean="0">
                    <a:solidFill>
                      <a:srgbClr val="23589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</a:rPr>
                  <a:t>질의응답</a:t>
                </a:r>
                <a:endParaRPr lang="ko-KR" altLang="en-US" sz="2400" b="1" spc="300" dirty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  <p:grpSp>
          <p:nvGrpSpPr>
            <p:cNvPr id="75" name="그룹 49"/>
            <p:cNvGrpSpPr/>
            <p:nvPr/>
          </p:nvGrpSpPr>
          <p:grpSpPr>
            <a:xfrm>
              <a:off x="1500166" y="5286388"/>
              <a:ext cx="1000132" cy="714379"/>
              <a:chOff x="5561926" y="-744298"/>
              <a:chExt cx="1214446" cy="727550"/>
            </a:xfrm>
          </p:grpSpPr>
          <p:pic>
            <p:nvPicPr>
              <p:cNvPr id="76" name="그림 75" descr="01.png"/>
              <p:cNvPicPr>
                <a:picLocks noChangeAspect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561926" y="-744298"/>
                <a:ext cx="1214446" cy="727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7" name="TextBox 3"/>
              <p:cNvSpPr txBox="1">
                <a:spLocks noChangeArrowheads="1"/>
              </p:cNvSpPr>
              <p:nvPr/>
            </p:nvSpPr>
            <p:spPr bwMode="auto">
              <a:xfrm>
                <a:off x="5887069" y="-684789"/>
                <a:ext cx="588629" cy="605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en-US" altLang="ko-KR" sz="3200" spc="-11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그래픽M" pitchFamily="18" charset="-127"/>
                    <a:ea typeface="HY그래픽M" pitchFamily="18" charset="-127"/>
                  </a:rPr>
                  <a:t>VI</a:t>
                </a:r>
                <a:endParaRPr lang="en-US" altLang="ko-KR" sz="3200" b="1" spc="-11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endParaRPr>
              </a:p>
            </p:txBody>
          </p:sp>
        </p:grp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771AB-9608-4034-B1DF-5C18528F6230}" type="slidenum">
              <a:rPr lang="en-US" altLang="ko-KR"/>
              <a:pPr>
                <a:defRPr/>
              </a:pPr>
              <a:t>2</a:t>
            </a:fld>
            <a:endParaRPr lang="en-US" altLang="ko-KR"/>
          </a:p>
        </p:txBody>
      </p:sp>
      <p:pic>
        <p:nvPicPr>
          <p:cNvPr id="5123" name="Picture 11" descr="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4" name="Picture 6" descr="0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12" descr="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38576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10" descr="0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03648" y="2501900"/>
            <a:ext cx="6433841" cy="133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2699792" y="2852936"/>
            <a:ext cx="4248472" cy="5000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ko-KR" altLang="en-US" sz="2800" b="0" dirty="0" smtClean="0">
                <a:solidFill>
                  <a:srgbClr val="000066"/>
                </a:solidFill>
                <a:latin typeface="HY헤드라인M" pitchFamily="18" charset="-127"/>
              </a:rPr>
              <a:t>외화유동성비율 제도 개괄</a:t>
            </a:r>
            <a:endParaRPr lang="ko-KR" altLang="en-US" sz="2800" b="0" dirty="0">
              <a:solidFill>
                <a:srgbClr val="000066"/>
              </a:solidFill>
              <a:latin typeface="HY헤드라인M" pitchFamily="18" charset="-127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979712" y="2780928"/>
            <a:ext cx="354012" cy="5000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/>
          <a:lstStyle/>
          <a:p>
            <a:pPr algn="ctr">
              <a:defRPr/>
            </a:pPr>
            <a:r>
              <a:rPr lang="en-US" altLang="ko-KR" sz="3200" dirty="0" smtClean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rPr>
              <a:t>Ⅰ</a:t>
            </a:r>
            <a:endParaRPr lang="en-US" altLang="ko-KR" sz="3200" dirty="0">
              <a:solidFill>
                <a:srgbClr val="FFFF99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9" name="슬라이드 번호 개체 틀 2"/>
          <p:cNvSpPr txBox="1">
            <a:spLocks/>
          </p:cNvSpPr>
          <p:nvPr/>
        </p:nvSpPr>
        <p:spPr bwMode="auto">
          <a:xfrm>
            <a:off x="4283968" y="6519118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6F4E4440-5762-490C-AAA9-64F8DA630D83}" type="slidenum">
              <a:rPr lang="en-US" altLang="ko-KR" sz="1200">
                <a:latin typeface="Arial" pitchFamily="34" charset="0"/>
                <a:ea typeface="+mn-ea"/>
              </a:rPr>
              <a:pPr algn="ctr">
                <a:defRPr/>
              </a:pPr>
              <a:t>2</a:t>
            </a:fld>
            <a:endParaRPr lang="en-US" altLang="ko-KR" sz="1200" dirty="0">
              <a:latin typeface="Arial" pitchFamily="34" charset="0"/>
              <a:ea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6E75D7-2F5D-4CC2-B82E-83A258875493}" type="slidenum">
              <a:rPr lang="en-US" altLang="ko-KR"/>
              <a:pPr>
                <a:defRPr/>
              </a:pPr>
              <a:t>3</a:t>
            </a:fld>
            <a:endParaRPr lang="en-US" altLang="ko-KR"/>
          </a:p>
        </p:txBody>
      </p:sp>
      <p:pic>
        <p:nvPicPr>
          <p:cNvPr id="11267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3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E83C7017-9573-410C-A3ED-4748E0637C4C}" type="slidenum">
              <a:rPr lang="en-US" altLang="ko-KR" sz="1200">
                <a:ea typeface="굴림" pitchFamily="50" charset="-127"/>
              </a:rPr>
              <a:pPr algn="ctr"/>
              <a:t>3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 제도 개괄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금융투자업자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) 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4"/>
          <p:cNvGrpSpPr>
            <a:grpSpLocks noChangeAspect="1"/>
          </p:cNvGrpSpPr>
          <p:nvPr/>
        </p:nvGrpSpPr>
        <p:grpSpPr>
          <a:xfrm>
            <a:off x="356018" y="5733256"/>
            <a:ext cx="8424936" cy="648070"/>
            <a:chOff x="354110" y="3261640"/>
            <a:chExt cx="7861229" cy="951684"/>
          </a:xfrm>
        </p:grpSpPr>
        <p:sp>
          <p:nvSpPr>
            <p:cNvPr id="103" name="모서리가 둥근 직사각형 5"/>
            <p:cNvSpPr/>
            <p:nvPr/>
          </p:nvSpPr>
          <p:spPr>
            <a:xfrm>
              <a:off x="2000232" y="3261640"/>
              <a:ext cx="6215107" cy="942213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FX6660 (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금융기관 </a:t>
              </a:r>
              <a:r>
                <a:rPr lang="ko-KR" altLang="en-US" b="0" kern="0" dirty="0" err="1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만기별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외화자금 조달운용현황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</p:txBody>
        </p:sp>
        <p:sp>
          <p:nvSpPr>
            <p:cNvPr id="104" name="모서리가 둥근 직사각형 6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보고서명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3" name="그룹 7"/>
          <p:cNvGrpSpPr>
            <a:grpSpLocks noChangeAspect="1"/>
          </p:cNvGrpSpPr>
          <p:nvPr/>
        </p:nvGrpSpPr>
        <p:grpSpPr>
          <a:xfrm>
            <a:off x="356018" y="3116054"/>
            <a:ext cx="8424936" cy="633336"/>
            <a:chOff x="354110" y="3261640"/>
            <a:chExt cx="7861229" cy="951684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kumimoji="1" lang="ko-KR" altLang="en-US" sz="18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금융투자업규정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제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3-46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조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관련법령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4" name="그룹 10"/>
          <p:cNvGrpSpPr>
            <a:grpSpLocks noChangeAspect="1"/>
          </p:cNvGrpSpPr>
          <p:nvPr/>
        </p:nvGrpSpPr>
        <p:grpSpPr>
          <a:xfrm>
            <a:off x="356018" y="3908141"/>
            <a:ext cx="8424936" cy="817003"/>
            <a:chOff x="354110" y="3261640"/>
            <a:chExt cx="7861229" cy="951684"/>
          </a:xfrm>
        </p:grpSpPr>
        <p:sp>
          <p:nvSpPr>
            <p:cNvPr id="99" name="모서리가 둥근 직사각형 98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lang="ko-KR" altLang="en-US" b="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적용대상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: 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분기말 외화부채가 총자산의 </a:t>
              </a:r>
              <a:r>
                <a:rPr lang="en-US" altLang="ko-KR" b="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1% </a:t>
              </a:r>
              <a:r>
                <a:rPr lang="ko-KR" altLang="en-US" b="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이상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인 회사</a:t>
              </a:r>
              <a:endParaRPr lang="ko-KR" altLang="en-US" b="0" kern="0" dirty="0" smtClean="0">
                <a:solidFill>
                  <a:srgbClr val="F79646">
                    <a:lumMod val="50000"/>
                  </a:srgbClr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b="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보고대상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: 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금융감독원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(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한은 외환전산망을 통해 보고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  <a:endParaRPr lang="en-US" altLang="ko-KR" b="0" kern="0" dirty="0" smtClean="0">
                <a:solidFill>
                  <a:srgbClr val="F79646">
                    <a:lumMod val="50000"/>
                  </a:srgbClr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100" name="모서리가 둥근 직사각형 99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kern="0" spc="-150" dirty="0" smtClean="0">
                  <a:solidFill>
                    <a:sysClr val="window" lastClr="FFFFFF"/>
                  </a:solidFill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적용 및 </a:t>
              </a: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보고대상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5" name="그룹 13"/>
          <p:cNvGrpSpPr>
            <a:grpSpLocks noChangeAspect="1"/>
          </p:cNvGrpSpPr>
          <p:nvPr/>
        </p:nvGrpSpPr>
        <p:grpSpPr>
          <a:xfrm>
            <a:off x="356018" y="4869160"/>
            <a:ext cx="8424936" cy="712638"/>
            <a:chOff x="354110" y="3261640"/>
            <a:chExt cx="7861229" cy="951684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분기말 외화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B/S</a:t>
              </a:r>
              <a:r>
                <a:rPr kumimoji="1" lang="en-US" altLang="ko-KR" sz="1800" b="0" i="0" u="none" strike="noStrike" kern="0" cap="none" spc="0" normalizeH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잔액을 기준으로 분기별로 </a:t>
              </a:r>
              <a:r>
                <a:rPr lang="ko-KR" altLang="en-US" b="0" kern="0" dirty="0" err="1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익월말까지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보고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보고주기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6" name="그룹 16"/>
          <p:cNvGrpSpPr>
            <a:grpSpLocks noChangeAspect="1"/>
          </p:cNvGrpSpPr>
          <p:nvPr/>
        </p:nvGrpSpPr>
        <p:grpSpPr>
          <a:xfrm>
            <a:off x="395536" y="980728"/>
            <a:ext cx="8424936" cy="1008112"/>
            <a:chOff x="421300" y="3261641"/>
            <a:chExt cx="7861229" cy="951681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2033860" y="3261641"/>
              <a:ext cx="6248669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96" name="모서리가 둥근 직사각형 95"/>
            <p:cNvSpPr/>
            <p:nvPr/>
          </p:nvSpPr>
          <p:spPr>
            <a:xfrm>
              <a:off x="421300" y="3267747"/>
              <a:ext cx="1478180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</a:t>
              </a:r>
              <a:r>
                <a:rPr kumimoji="0" lang="en-US" altLang="ko-KR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3</a:t>
              </a: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개월</a:t>
              </a:r>
              <a:r>
                <a:rPr kumimoji="0" lang="ko-KR" altLang="en-US" sz="2000" b="1" i="0" u="none" strike="noStrike" kern="0" cap="none" spc="-150" normalizeH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외화유동성비율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7" name="그룹 16"/>
          <p:cNvGrpSpPr>
            <a:grpSpLocks noChangeAspect="1"/>
          </p:cNvGrpSpPr>
          <p:nvPr/>
        </p:nvGrpSpPr>
        <p:grpSpPr>
          <a:xfrm>
            <a:off x="383179" y="2132856"/>
            <a:ext cx="8424936" cy="864096"/>
            <a:chOff x="354110" y="3261641"/>
            <a:chExt cx="7861229" cy="951681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2000232" y="3261641"/>
              <a:ext cx="6215107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354110" y="3267747"/>
              <a:ext cx="1500198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</a:t>
              </a:r>
              <a:r>
                <a:rPr kumimoji="0" lang="ko-KR" altLang="en-US" sz="2000" kern="0" spc="-150" dirty="0" smtClean="0">
                  <a:solidFill>
                    <a:sysClr val="window" lastClr="FFFFFF"/>
                  </a:solidFill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만기불일치 비율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0" y="11620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83768" y="1124744"/>
            <a:ext cx="3743325" cy="704850"/>
          </a:xfrm>
          <a:prstGeom prst="rect">
            <a:avLst/>
          </a:prstGeom>
          <a:noFill/>
        </p:spPr>
      </p:pic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0" y="11620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83768" y="2204864"/>
            <a:ext cx="6248400" cy="704850"/>
          </a:xfrm>
          <a:prstGeom prst="rect">
            <a:avLst/>
          </a:prstGeom>
          <a:noFill/>
        </p:spPr>
      </p:pic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43" name="Picture 44" descr="07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" name="TextBox 43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6E75D7-2F5D-4CC2-B82E-83A258875493}" type="slidenum">
              <a:rPr lang="en-US" altLang="ko-KR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11267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3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E83C7017-9573-410C-A3ED-4748E0637C4C}" type="slidenum">
              <a:rPr lang="en-US" altLang="ko-KR" sz="1200">
                <a:ea typeface="굴림" pitchFamily="50" charset="-127"/>
              </a:rPr>
              <a:pPr algn="ctr"/>
              <a:t>4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 제도 개괄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보험사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) 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4"/>
          <p:cNvGrpSpPr>
            <a:grpSpLocks noChangeAspect="1"/>
          </p:cNvGrpSpPr>
          <p:nvPr/>
        </p:nvGrpSpPr>
        <p:grpSpPr>
          <a:xfrm>
            <a:off x="356018" y="5733256"/>
            <a:ext cx="8424936" cy="648070"/>
            <a:chOff x="354110" y="3261640"/>
            <a:chExt cx="7861229" cy="951684"/>
          </a:xfrm>
        </p:grpSpPr>
        <p:sp>
          <p:nvSpPr>
            <p:cNvPr id="103" name="모서리가 둥근 직사각형 5"/>
            <p:cNvSpPr/>
            <p:nvPr/>
          </p:nvSpPr>
          <p:spPr>
            <a:xfrm>
              <a:off x="2000232" y="3261640"/>
              <a:ext cx="6215107" cy="942213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FX6660 (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금융기관 </a:t>
              </a:r>
              <a:r>
                <a:rPr lang="ko-KR" altLang="en-US" b="0" kern="0" dirty="0" err="1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만기별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외화자금 조달운용현황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</p:txBody>
        </p:sp>
        <p:sp>
          <p:nvSpPr>
            <p:cNvPr id="104" name="모서리가 둥근 직사각형 6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보고서명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3" name="그룹 7"/>
          <p:cNvGrpSpPr>
            <a:grpSpLocks noChangeAspect="1"/>
          </p:cNvGrpSpPr>
          <p:nvPr/>
        </p:nvGrpSpPr>
        <p:grpSpPr>
          <a:xfrm>
            <a:off x="356018" y="3116054"/>
            <a:ext cx="8424936" cy="633336"/>
            <a:chOff x="354110" y="3261640"/>
            <a:chExt cx="7861229" cy="951684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보험업감독규정 제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5-19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조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관련법령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4" name="그룹 10"/>
          <p:cNvGrpSpPr>
            <a:grpSpLocks noChangeAspect="1"/>
          </p:cNvGrpSpPr>
          <p:nvPr/>
        </p:nvGrpSpPr>
        <p:grpSpPr>
          <a:xfrm>
            <a:off x="356018" y="3908141"/>
            <a:ext cx="8424936" cy="817003"/>
            <a:chOff x="354110" y="3261640"/>
            <a:chExt cx="7861229" cy="951684"/>
          </a:xfrm>
        </p:grpSpPr>
        <p:sp>
          <p:nvSpPr>
            <p:cNvPr id="99" name="모서리가 둥근 직사각형 98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lang="ko-KR" altLang="en-US" b="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적용대상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: 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분기말 외화부채가 총자산의 </a:t>
              </a:r>
              <a:r>
                <a:rPr lang="en-US" altLang="ko-KR" b="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1% </a:t>
              </a:r>
              <a:r>
                <a:rPr lang="ko-KR" altLang="en-US" b="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이상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인 회사</a:t>
              </a:r>
              <a:endParaRPr kumimoji="1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보고대상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: 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금융감독원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(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한은 외환전산망을 통해 보고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)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100" name="모서리가 둥근 직사각형 99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적용 및 보고대상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5" name="그룹 13"/>
          <p:cNvGrpSpPr>
            <a:grpSpLocks noChangeAspect="1"/>
          </p:cNvGrpSpPr>
          <p:nvPr/>
        </p:nvGrpSpPr>
        <p:grpSpPr>
          <a:xfrm>
            <a:off x="356018" y="4869160"/>
            <a:ext cx="8424936" cy="712638"/>
            <a:chOff x="354110" y="3261640"/>
            <a:chExt cx="7861229" cy="951684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분기말 외화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B/S</a:t>
              </a:r>
              <a:r>
                <a:rPr kumimoji="1" lang="en-US" altLang="ko-KR" sz="1800" b="0" i="0" u="none" strike="noStrike" kern="0" cap="none" spc="0" normalizeH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잔액을 기준으로 분기별로 </a:t>
              </a:r>
              <a:r>
                <a:rPr lang="ko-KR" altLang="en-US" b="0" kern="0" dirty="0" err="1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익월말까지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보고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보고주기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6" name="그룹 16"/>
          <p:cNvGrpSpPr>
            <a:grpSpLocks noChangeAspect="1"/>
          </p:cNvGrpSpPr>
          <p:nvPr/>
        </p:nvGrpSpPr>
        <p:grpSpPr>
          <a:xfrm>
            <a:off x="395536" y="980728"/>
            <a:ext cx="8424936" cy="1008112"/>
            <a:chOff x="421300" y="3261641"/>
            <a:chExt cx="7861229" cy="951681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2033860" y="3261641"/>
              <a:ext cx="6248669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96" name="모서리가 둥근 직사각형 95"/>
            <p:cNvSpPr/>
            <p:nvPr/>
          </p:nvSpPr>
          <p:spPr>
            <a:xfrm>
              <a:off x="421300" y="3267747"/>
              <a:ext cx="1478180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</a:t>
              </a:r>
              <a:r>
                <a:rPr kumimoji="0" lang="en-US" altLang="ko-KR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3</a:t>
              </a: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개월</a:t>
              </a:r>
              <a:r>
                <a:rPr kumimoji="0" lang="ko-KR" altLang="en-US" sz="2000" b="1" i="0" u="none" strike="noStrike" kern="0" cap="none" spc="-150" normalizeH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외화유동성비율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7" name="그룹 16"/>
          <p:cNvGrpSpPr>
            <a:grpSpLocks noChangeAspect="1"/>
          </p:cNvGrpSpPr>
          <p:nvPr/>
        </p:nvGrpSpPr>
        <p:grpSpPr>
          <a:xfrm>
            <a:off x="383179" y="2132856"/>
            <a:ext cx="8424936" cy="864096"/>
            <a:chOff x="354110" y="3261641"/>
            <a:chExt cx="7861229" cy="951681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2000232" y="3261641"/>
              <a:ext cx="6215107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354110" y="3267747"/>
              <a:ext cx="1500198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</a:t>
              </a:r>
              <a:r>
                <a:rPr kumimoji="0" lang="ko-KR" altLang="en-US" sz="2000" kern="0" spc="-150" dirty="0" smtClean="0">
                  <a:solidFill>
                    <a:sysClr val="window" lastClr="FFFFFF"/>
                  </a:solidFill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만기불일치 비율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0" y="11620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39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83768" y="1124744"/>
            <a:ext cx="3743325" cy="704850"/>
          </a:xfrm>
          <a:prstGeom prst="rect">
            <a:avLst/>
          </a:prstGeom>
          <a:noFill/>
        </p:spPr>
      </p:pic>
      <p:pic>
        <p:nvPicPr>
          <p:cNvPr id="40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83768" y="2204864"/>
            <a:ext cx="6248400" cy="704850"/>
          </a:xfrm>
          <a:prstGeom prst="rect">
            <a:avLst/>
          </a:prstGeom>
          <a:noFill/>
        </p:spPr>
      </p:pic>
      <p:pic>
        <p:nvPicPr>
          <p:cNvPr id="41" name="Picture 44" descr="07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TextBox 41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6E75D7-2F5D-4CC2-B82E-83A258875493}" type="slidenum">
              <a:rPr lang="en-US" altLang="ko-KR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11267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3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E83C7017-9573-410C-A3ED-4748E0637C4C}" type="slidenum">
              <a:rPr lang="en-US" altLang="ko-KR" sz="1200">
                <a:ea typeface="굴림" pitchFamily="50" charset="-127"/>
              </a:rPr>
              <a:pPr algn="ctr"/>
              <a:t>5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 제도 개괄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b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여전사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) 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4"/>
          <p:cNvGrpSpPr>
            <a:grpSpLocks noChangeAspect="1"/>
          </p:cNvGrpSpPr>
          <p:nvPr/>
        </p:nvGrpSpPr>
        <p:grpSpPr>
          <a:xfrm>
            <a:off x="356018" y="5733256"/>
            <a:ext cx="8424936" cy="648070"/>
            <a:chOff x="354110" y="3261640"/>
            <a:chExt cx="7861229" cy="951684"/>
          </a:xfrm>
        </p:grpSpPr>
        <p:sp>
          <p:nvSpPr>
            <p:cNvPr id="103" name="모서리가 둥근 직사각형 5"/>
            <p:cNvSpPr/>
            <p:nvPr/>
          </p:nvSpPr>
          <p:spPr>
            <a:xfrm>
              <a:off x="2000232" y="3261640"/>
              <a:ext cx="6215107" cy="942213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FX6660 (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금융기관 </a:t>
              </a:r>
              <a:r>
                <a:rPr lang="ko-KR" altLang="en-US" b="0" kern="0" dirty="0" err="1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만기별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외화자금 조달운용현황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</p:txBody>
        </p:sp>
        <p:sp>
          <p:nvSpPr>
            <p:cNvPr id="104" name="모서리가 둥근 직사각형 6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보고서명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3" name="그룹 7"/>
          <p:cNvGrpSpPr>
            <a:grpSpLocks noChangeAspect="1"/>
          </p:cNvGrpSpPr>
          <p:nvPr/>
        </p:nvGrpSpPr>
        <p:grpSpPr>
          <a:xfrm>
            <a:off x="356018" y="3116054"/>
            <a:ext cx="8424936" cy="633336"/>
            <a:chOff x="354110" y="3261640"/>
            <a:chExt cx="7861229" cy="951684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여신전문금융업 감독규정 제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30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조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관련법령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4" name="그룹 10"/>
          <p:cNvGrpSpPr>
            <a:grpSpLocks noChangeAspect="1"/>
          </p:cNvGrpSpPr>
          <p:nvPr/>
        </p:nvGrpSpPr>
        <p:grpSpPr>
          <a:xfrm>
            <a:off x="356018" y="3908141"/>
            <a:ext cx="8424936" cy="817003"/>
            <a:chOff x="354110" y="3261640"/>
            <a:chExt cx="7861229" cy="951684"/>
          </a:xfrm>
        </p:grpSpPr>
        <p:sp>
          <p:nvSpPr>
            <p:cNvPr id="99" name="모서리가 둥근 직사각형 98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lang="ko-KR" altLang="en-US" b="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적용대상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: 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분기말 외화부채가 총자산의 </a:t>
              </a:r>
              <a:r>
                <a:rPr lang="en-US" altLang="ko-KR" b="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1% </a:t>
              </a:r>
              <a:r>
                <a:rPr lang="ko-KR" altLang="en-US" b="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이상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인 회사</a:t>
              </a:r>
              <a:endParaRPr lang="ko-KR" altLang="en-US" b="0" kern="0" dirty="0" smtClean="0">
                <a:solidFill>
                  <a:srgbClr val="F79646">
                    <a:lumMod val="50000"/>
                  </a:srgbClr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b="0" kern="0" dirty="0" smtClean="0">
                  <a:solidFill>
                    <a:srgbClr val="C00000"/>
                  </a:solidFill>
                  <a:latin typeface="HY견고딕" pitchFamily="18" charset="-127"/>
                  <a:ea typeface="HY견고딕" pitchFamily="18" charset="-127"/>
                </a:rPr>
                <a:t>보고대상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: 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금융감독원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(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한은 외환전산망을 통해 보고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  <a:endParaRPr lang="en-US" altLang="ko-KR" b="0" kern="0" dirty="0" smtClean="0">
                <a:solidFill>
                  <a:srgbClr val="F79646">
                    <a:lumMod val="50000"/>
                  </a:srgbClr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100" name="모서리가 둥근 직사각형 99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</a:t>
              </a:r>
              <a:r>
                <a:rPr kumimoji="0" lang="ko-KR" altLang="en-US" sz="2000" kern="0" spc="-150" dirty="0" smtClean="0">
                  <a:solidFill>
                    <a:sysClr val="window" lastClr="FFFFFF"/>
                  </a:solidFill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적용 및 </a:t>
              </a: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보고대상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5" name="그룹 13"/>
          <p:cNvGrpSpPr>
            <a:grpSpLocks noChangeAspect="1"/>
          </p:cNvGrpSpPr>
          <p:nvPr/>
        </p:nvGrpSpPr>
        <p:grpSpPr>
          <a:xfrm>
            <a:off x="356018" y="4869160"/>
            <a:ext cx="8424936" cy="712638"/>
            <a:chOff x="354110" y="3261640"/>
            <a:chExt cx="7861229" cy="951684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분기말 외화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B/S</a:t>
              </a:r>
              <a:r>
                <a:rPr kumimoji="1" lang="en-US" altLang="ko-KR" sz="1800" b="0" i="0" u="none" strike="noStrike" kern="0" cap="none" spc="0" normalizeH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잔액을 기준으로 분기별로 </a:t>
              </a:r>
              <a:r>
                <a:rPr lang="ko-KR" altLang="en-US" b="0" kern="0" dirty="0" err="1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익월말까지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보고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보고주기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6" name="그룹 16"/>
          <p:cNvGrpSpPr>
            <a:grpSpLocks noChangeAspect="1"/>
          </p:cNvGrpSpPr>
          <p:nvPr/>
        </p:nvGrpSpPr>
        <p:grpSpPr>
          <a:xfrm>
            <a:off x="395536" y="980728"/>
            <a:ext cx="8424936" cy="1008112"/>
            <a:chOff x="421300" y="3261641"/>
            <a:chExt cx="7861229" cy="951681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2033860" y="3261641"/>
              <a:ext cx="6248669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96" name="모서리가 둥근 직사각형 95"/>
            <p:cNvSpPr/>
            <p:nvPr/>
          </p:nvSpPr>
          <p:spPr>
            <a:xfrm>
              <a:off x="421300" y="3267747"/>
              <a:ext cx="1478180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</a:t>
              </a:r>
              <a:r>
                <a:rPr kumimoji="0" lang="en-US" altLang="ko-KR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3</a:t>
              </a: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개월</a:t>
              </a:r>
              <a:r>
                <a:rPr kumimoji="0" lang="ko-KR" altLang="en-US" sz="2000" b="1" i="0" u="none" strike="noStrike" kern="0" cap="none" spc="-150" normalizeH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외화유동성비율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7" name="그룹 16"/>
          <p:cNvGrpSpPr>
            <a:grpSpLocks noChangeAspect="1"/>
          </p:cNvGrpSpPr>
          <p:nvPr/>
        </p:nvGrpSpPr>
        <p:grpSpPr>
          <a:xfrm>
            <a:off x="383179" y="2132856"/>
            <a:ext cx="8424936" cy="864096"/>
            <a:chOff x="354110" y="3261641"/>
            <a:chExt cx="7861229" cy="951681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2000232" y="3261641"/>
              <a:ext cx="6215107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354110" y="3267747"/>
              <a:ext cx="1500198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</a:t>
              </a:r>
              <a:r>
                <a:rPr kumimoji="0" lang="ko-KR" altLang="en-US" sz="2000" kern="0" spc="-150" dirty="0" smtClean="0">
                  <a:solidFill>
                    <a:sysClr val="window" lastClr="FFFFFF"/>
                  </a:solidFill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만기불일치 비율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0" y="11620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39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83768" y="2204864"/>
            <a:ext cx="6248400" cy="704850"/>
          </a:xfrm>
          <a:prstGeom prst="rect">
            <a:avLst/>
          </a:prstGeom>
          <a:noFill/>
        </p:spPr>
      </p:pic>
      <p:pic>
        <p:nvPicPr>
          <p:cNvPr id="40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83768" y="1124744"/>
            <a:ext cx="3743325" cy="704850"/>
          </a:xfrm>
          <a:prstGeom prst="rect">
            <a:avLst/>
          </a:prstGeom>
          <a:noFill/>
        </p:spPr>
      </p:pic>
      <p:pic>
        <p:nvPicPr>
          <p:cNvPr id="41" name="Picture 44" descr="07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TextBox 41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E855EA-C76F-4883-98E0-2A86DDBDA59F}" type="slidenum">
              <a:rPr lang="en-US" altLang="ko-KR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8195" name="Picture 9" descr="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196975" y="2703513"/>
            <a:ext cx="7191375" cy="1247775"/>
            <a:chOff x="754" y="1703"/>
            <a:chExt cx="4530" cy="786"/>
          </a:xfrm>
        </p:grpSpPr>
        <p:pic>
          <p:nvPicPr>
            <p:cNvPr id="8198" name="Picture 12" descr="01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4" y="1703"/>
              <a:ext cx="4530" cy="7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99" name="Text Box 10"/>
            <p:cNvSpPr txBox="1">
              <a:spLocks noChangeArrowheads="1"/>
            </p:cNvSpPr>
            <p:nvPr/>
          </p:nvSpPr>
          <p:spPr bwMode="auto">
            <a:xfrm>
              <a:off x="1701" y="1909"/>
              <a:ext cx="1989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외화유동성비율 세부내용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0251" name="Text Box 11"/>
            <p:cNvSpPr txBox="1">
              <a:spLocks noChangeArrowheads="1"/>
            </p:cNvSpPr>
            <p:nvPr/>
          </p:nvSpPr>
          <p:spPr bwMode="auto">
            <a:xfrm>
              <a:off x="1199" y="1882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Ⅱ</a:t>
              </a:r>
              <a:endParaRPr lang="en-US" altLang="ko-KR" sz="32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8" name="슬라이드 번호 개체 틀 2"/>
          <p:cNvSpPr txBox="1">
            <a:spLocks/>
          </p:cNvSpPr>
          <p:nvPr/>
        </p:nvSpPr>
        <p:spPr bwMode="auto">
          <a:xfrm>
            <a:off x="4357688" y="6500813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6C735301-AB27-4835-B272-9BCC48DB8F1E}" type="slidenum">
              <a:rPr lang="en-US" altLang="ko-KR" sz="1200">
                <a:latin typeface="Arial" pitchFamily="34" charset="0"/>
                <a:ea typeface="+mn-ea"/>
              </a:rPr>
              <a:pPr algn="ctr">
                <a:defRPr/>
              </a:pPr>
              <a:t>6</a:t>
            </a:fld>
            <a:endParaRPr lang="en-US" altLang="ko-KR" sz="1200" dirty="0">
              <a:latin typeface="Arial" pitchFamily="34" charset="0"/>
              <a:ea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BEFBF1-A34B-4DAF-8E7B-FF66C907C411}" type="slidenum">
              <a:rPr lang="en-US" altLang="ko-KR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14339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3677A0E7-2220-44CD-8B55-9BD198896CC5}" type="slidenum">
              <a:rPr lang="en-US" altLang="ko-KR" sz="1200">
                <a:ea typeface="굴림" pitchFamily="50" charset="-127"/>
              </a:rPr>
              <a:pPr algn="ctr"/>
              <a:t>7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727280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  세부내용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4346" name="Picture 44" descr="07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AutoShape 15"/>
          <p:cNvSpPr>
            <a:spLocks noChangeArrowheads="1"/>
          </p:cNvSpPr>
          <p:nvPr/>
        </p:nvSpPr>
        <p:spPr bwMode="auto">
          <a:xfrm>
            <a:off x="562132" y="1214422"/>
            <a:ext cx="4032448" cy="48260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외화자산 및 외화부채의 범위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500034" y="1984374"/>
            <a:ext cx="8001056" cy="3676874"/>
          </a:xfrm>
          <a:prstGeom prst="roundRect">
            <a:avLst/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대차대조표상 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난내계정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외화자산  및  외화부채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스왑거래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중 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미결제통화선도계약분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통화선도계약분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(Outright  Forward) 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-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차액결제선물환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(NDF)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거래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불포함</a:t>
            </a:r>
            <a:endParaRPr kumimoji="0" lang="en-US" altLang="ko-KR" b="0" kern="0" dirty="0" smtClean="0">
              <a:solidFill>
                <a:srgbClr val="8A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185738" marR="0" lvl="0" indent="-185738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대차대조표상  난외계정  “확정외화지급보증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–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인수”  중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대외부분  잔액의 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100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분의 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20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을  잔존만기  기간별로  환산하여  포함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500" b="0" kern="0" dirty="0" smtClean="0">
              <a:solidFill>
                <a:sysClr val="windowText" lastClr="00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 </a:t>
            </a:r>
            <a:r>
              <a:rPr kumimoji="0" lang="en-US" altLang="ko-KR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* </a:t>
            </a:r>
            <a:r>
              <a:rPr kumimoji="0" lang="ko-KR" altLang="en-US" sz="1600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국내본지점과</a:t>
            </a:r>
            <a:r>
              <a:rPr kumimoji="0" lang="ko-KR" altLang="en-US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해외점포</a:t>
            </a:r>
            <a:r>
              <a:rPr kumimoji="0" lang="en-US" altLang="ko-KR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kumimoji="0" lang="ko-KR" altLang="en-US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각각 역외계정 포함</a:t>
            </a:r>
            <a:r>
              <a:rPr kumimoji="0" lang="en-US" altLang="ko-KR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r>
              <a:rPr kumimoji="0" lang="ko-KR" altLang="en-US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를 통합</a:t>
            </a:r>
            <a:r>
              <a:rPr kumimoji="0" lang="ko-KR" altLang="en-US" sz="1600" kern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sz="1600" kern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· </a:t>
            </a:r>
            <a:r>
              <a:rPr kumimoji="0" lang="ko-KR" altLang="en-US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연결하여 관리</a:t>
            </a:r>
            <a:endParaRPr kumimoji="0" lang="ko-KR" altLang="en-US" sz="1600" b="0" kern="0" dirty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BEFBF1-A34B-4DAF-8E7B-FF66C907C411}" type="slidenum">
              <a:rPr lang="en-US" altLang="ko-KR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14339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3677A0E7-2220-44CD-8B55-9BD198896CC5}" type="slidenum">
              <a:rPr lang="en-US" altLang="ko-KR" sz="1200">
                <a:ea typeface="굴림" pitchFamily="50" charset="-127"/>
              </a:rPr>
              <a:pPr algn="ctr"/>
              <a:t>8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727280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  세부내용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4346" name="Picture 44" descr="07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AutoShape 15"/>
          <p:cNvSpPr>
            <a:spLocks noChangeArrowheads="1"/>
          </p:cNvSpPr>
          <p:nvPr/>
        </p:nvSpPr>
        <p:spPr bwMode="auto">
          <a:xfrm>
            <a:off x="539552" y="1340768"/>
            <a:ext cx="2736304" cy="48260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만기적용 특례</a:t>
            </a:r>
            <a:r>
              <a:rPr lang="en-US" altLang="ko-KR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</a:rPr>
              <a:t>(</a:t>
            </a: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</a:rPr>
              <a:t>조달</a:t>
            </a:r>
            <a:r>
              <a:rPr lang="en-US" altLang="ko-KR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</a:rPr>
              <a:t>)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539552" y="2204864"/>
            <a:ext cx="7992888" cy="3744416"/>
          </a:xfrm>
          <a:prstGeom prst="roundRect">
            <a:avLst/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err="1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요구불예수금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은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핵심예금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(Core Deposit)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을 산출하여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1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년초과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3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년 이내로 분류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-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핵심예금 초과액은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7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일 이내로 분류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외화차입금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의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대주가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put option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보유시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put date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기준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해외현지법인의 자기자본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은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조달란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본지점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계정에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3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년 초과로 분류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만기가 정해지지 않은 외화부채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외화미지급금 등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는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7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일 이내로 분류 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BEFBF1-A34B-4DAF-8E7B-FF66C907C411}" type="slidenum">
              <a:rPr lang="en-US" altLang="ko-KR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14339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3677A0E7-2220-44CD-8B55-9BD198896CC5}" type="slidenum">
              <a:rPr lang="en-US" altLang="ko-KR" sz="1200">
                <a:ea typeface="굴림" pitchFamily="50" charset="-127"/>
              </a:rPr>
              <a:pPr algn="ctr"/>
              <a:t>9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727280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  세부내용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4346" name="Picture 44" descr="07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AutoShape 15"/>
          <p:cNvSpPr>
            <a:spLocks noChangeArrowheads="1"/>
          </p:cNvSpPr>
          <p:nvPr/>
        </p:nvSpPr>
        <p:spPr bwMode="auto">
          <a:xfrm>
            <a:off x="539552" y="1340768"/>
            <a:ext cx="2736304" cy="48260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만기적용 특례</a:t>
            </a:r>
            <a:r>
              <a:rPr lang="en-US" altLang="ko-KR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</a:rPr>
              <a:t>(</a:t>
            </a: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</a:rPr>
              <a:t>운용</a:t>
            </a:r>
            <a:r>
              <a:rPr lang="en-US" altLang="ko-KR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</a:rPr>
              <a:t>)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539552" y="2132856"/>
            <a:ext cx="8064896" cy="3816424"/>
          </a:xfrm>
          <a:prstGeom prst="roundRect">
            <a:avLst/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 </a:t>
            </a:r>
            <a:r>
              <a:rPr lang="ko-KR" altLang="en-US" b="0" spc="-10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통화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및 </a:t>
            </a:r>
            <a:r>
              <a:rPr lang="ko-KR" altLang="en-US" b="0" spc="-10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시가평가대상 유가증권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의 </a:t>
            </a:r>
            <a:r>
              <a:rPr lang="ko-KR" altLang="en-US" b="0" spc="-10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시가평가액은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7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일 이내로 분류</a:t>
            </a:r>
            <a:endParaRPr lang="en-US" altLang="ko-KR" b="0" spc="-10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b="0" spc="-10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담보로 제공된 유가증권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은 담보기간과 본래 만기 중 장기로 분류</a:t>
            </a:r>
            <a:endParaRPr lang="en-US" altLang="ko-KR" b="0" spc="-10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시장성이 없거나 만기보유 목적의 유가증권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은 만기일 기준으로 분류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- Put option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이 있는 경우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put date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기준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만기경과 매입외환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중 부도통지가 없고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단기간내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자금회수가 확실한 경우 회수예상기간을 추정하여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잔존만기별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분류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만기가 정해지지 않은 외화자산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외화미수금 등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은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7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일 이내로 분류 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776413" y="2590800"/>
            <a:ext cx="6086475" cy="1339850"/>
            <a:chOff x="1119" y="1632"/>
            <a:chExt cx="3834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834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1815" y="1877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외환전산망 </a:t>
              </a:r>
              <a:r>
                <a:rPr lang="ko-KR" altLang="en-US" sz="2800" b="0" dirty="0" err="1" smtClean="0">
                  <a:solidFill>
                    <a:srgbClr val="000066"/>
                  </a:solidFill>
                  <a:latin typeface="HY헤드라인M" pitchFamily="18" charset="-127"/>
                </a:rPr>
                <a:t>보고시</a:t>
              </a:r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 유의사항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Ⅲ</a:t>
              </a:r>
              <a:endParaRPr lang="en-US" altLang="ko-KR" sz="32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10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D29664-908E-468F-8565-CDF01B1C2280}" type="slidenum">
              <a:rPr lang="en-US" altLang="ko-KR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16387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AE47FF85-0C7A-4799-A521-5A62FEB58E4A}" type="slidenum">
              <a:rPr lang="en-US" altLang="ko-KR" sz="1200">
                <a:ea typeface="굴림" pitchFamily="50" charset="-127"/>
              </a:rPr>
              <a:pPr algn="ctr"/>
              <a:t>11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외환전산망 </a:t>
            </a:r>
            <a:r>
              <a:rPr lang="ko-KR" altLang="en-US" sz="2200" b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보고시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유의사항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47"/>
          <p:cNvGrpSpPr/>
          <p:nvPr/>
        </p:nvGrpSpPr>
        <p:grpSpPr>
          <a:xfrm>
            <a:off x="144463" y="2150530"/>
            <a:ext cx="4427537" cy="4374814"/>
            <a:chOff x="144463" y="1647029"/>
            <a:chExt cx="4427537" cy="4374814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44463" y="1647029"/>
              <a:ext cx="4427537" cy="4374814"/>
              <a:chOff x="34" y="1123"/>
              <a:chExt cx="1980" cy="3019"/>
            </a:xfrm>
          </p:grpSpPr>
          <p:pic>
            <p:nvPicPr>
              <p:cNvPr id="29" name="Picture 5" descr="027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4" y="1224"/>
                <a:ext cx="1980" cy="29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0" name="Picture 6" descr="04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08" y="1123"/>
                <a:ext cx="1613" cy="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1" name="Rectangle 8"/>
              <p:cNvSpPr>
                <a:spLocks noChangeArrowheads="1"/>
              </p:cNvSpPr>
              <p:nvPr/>
            </p:nvSpPr>
            <p:spPr bwMode="auto">
              <a:xfrm>
                <a:off x="366" y="1215"/>
                <a:ext cx="1294" cy="217"/>
              </a:xfrm>
              <a:prstGeom prst="rect">
                <a:avLst/>
              </a:prstGeom>
              <a:noFill/>
              <a:ln w="762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ko-KR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FX6610 (</a:t>
                </a:r>
                <a:r>
                  <a:rPr lang="ko-KR" altLang="en-US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외화</a:t>
                </a:r>
                <a:r>
                  <a:rPr lang="en-US" altLang="ko-KR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B/S)</a:t>
                </a:r>
                <a:endParaRPr lang="ko-KR" altLang="en-US" b="0" dirty="0">
                  <a:solidFill>
                    <a:srgbClr val="FFFFCC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467544" y="2361475"/>
              <a:ext cx="3744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ko-KR" altLang="en-US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관련 계정 금액간 일치 여부 체크</a:t>
              </a:r>
              <a:endParaRPr lang="ko-KR" altLang="en-US" b="0" dirty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67544" y="2806212"/>
              <a:ext cx="38884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3E7F15"/>
                </a:buClr>
                <a:buSzPts val="900"/>
                <a:buFont typeface="Arial" charset="0"/>
                <a:buNone/>
              </a:pP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-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유가증권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외화대출금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매입외환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</a:t>
              </a:r>
              <a:b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</a:b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대손충당금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외화예수금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외화차입금 등 </a:t>
              </a:r>
              <a:endParaRPr lang="en-US" altLang="ko-KR" sz="1000" b="0" dirty="0" smtClean="0">
                <a:solidFill>
                  <a:srgbClr val="000066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67544" y="3589589"/>
              <a:ext cx="37444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altLang="ko-KR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자산합계 및 부채합계 금액간의 일치 여부 체크</a:t>
              </a:r>
              <a:endParaRPr lang="ko-KR" altLang="en-US" b="0" dirty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7544" y="4286126"/>
              <a:ext cx="3744416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3E7F15"/>
                </a:buClr>
                <a:buSzPts val="900"/>
              </a:pP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- FX6660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 운용합계 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/>
              </a:r>
              <a:b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</a:b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   = FX6610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자산합계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(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충당금 </a:t>
              </a:r>
              <a:r>
                <a:rPr lang="ko-KR" altLang="en-US" sz="1600" b="0" dirty="0" err="1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차감후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  <a:p>
              <a:pPr>
                <a:buClr>
                  <a:srgbClr val="3E7F15"/>
                </a:buClr>
                <a:buSzPts val="900"/>
              </a:pPr>
              <a:endParaRPr lang="en-US" altLang="ko-KR" sz="1000" b="0" dirty="0" smtClean="0">
                <a:solidFill>
                  <a:srgbClr val="000066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>
                <a:buClr>
                  <a:srgbClr val="3E7F15"/>
                </a:buClr>
                <a:buSzPts val="900"/>
              </a:pP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- FX6660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조달합계 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-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확정지급보증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/>
              </a:r>
              <a:b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</a:b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   = FX6610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부채합계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(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충당금 </a:t>
              </a:r>
              <a:r>
                <a:rPr lang="ko-KR" altLang="en-US" sz="1600" b="0" dirty="0" err="1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차감전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</p:txBody>
        </p:sp>
      </p:grpSp>
      <p:grpSp>
        <p:nvGrpSpPr>
          <p:cNvPr id="4" name="그룹 48"/>
          <p:cNvGrpSpPr/>
          <p:nvPr/>
        </p:nvGrpSpPr>
        <p:grpSpPr>
          <a:xfrm>
            <a:off x="4397375" y="2126988"/>
            <a:ext cx="4566829" cy="4397382"/>
            <a:chOff x="4397375" y="1623487"/>
            <a:chExt cx="4566829" cy="439738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4397375" y="1623487"/>
              <a:ext cx="4566829" cy="4397382"/>
              <a:chOff x="34" y="1122"/>
              <a:chExt cx="1905" cy="2927"/>
            </a:xfrm>
          </p:grpSpPr>
          <p:pic>
            <p:nvPicPr>
              <p:cNvPr id="33" name="Picture 5" descr="027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4" y="1224"/>
                <a:ext cx="1905" cy="2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4" name="Picture 6" descr="04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97" y="1122"/>
                <a:ext cx="1562" cy="4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5" name="Rectangle 8"/>
              <p:cNvSpPr>
                <a:spLocks noChangeArrowheads="1"/>
              </p:cNvSpPr>
              <p:nvPr/>
            </p:nvSpPr>
            <p:spPr bwMode="auto">
              <a:xfrm>
                <a:off x="329" y="1214"/>
                <a:ext cx="1310" cy="217"/>
              </a:xfrm>
              <a:prstGeom prst="rect">
                <a:avLst/>
              </a:prstGeom>
              <a:noFill/>
              <a:ln w="762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ko-KR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FX6130 (</a:t>
                </a:r>
                <a:r>
                  <a:rPr lang="ko-KR" altLang="en-US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자산건전성 현황</a:t>
                </a:r>
                <a:r>
                  <a:rPr lang="en-US" altLang="ko-KR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)</a:t>
                </a:r>
                <a:endParaRPr lang="ko-KR" altLang="en-US" b="0" dirty="0">
                  <a:solidFill>
                    <a:srgbClr val="FFFFCC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sp>
          <p:nvSpPr>
            <p:cNvPr id="46" name="TextBox 45"/>
            <p:cNvSpPr txBox="1"/>
            <p:nvPr/>
          </p:nvSpPr>
          <p:spPr>
            <a:xfrm>
              <a:off x="4788024" y="2917974"/>
              <a:ext cx="37444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altLang="ko-KR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관련 계정 중 </a:t>
              </a:r>
              <a:r>
                <a:rPr lang="ko-KR" altLang="en-US" b="0" dirty="0" err="1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고정이하로</a:t>
              </a:r>
              <a:r>
                <a:rPr lang="ko-KR" altLang="en-US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분류된 금액간 일치 여부 체크</a:t>
              </a:r>
              <a:endParaRPr lang="ko-KR" altLang="en-US" b="0" dirty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88024" y="3852337"/>
              <a:ext cx="37444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3E7F15"/>
                </a:buClr>
                <a:buSzPts val="900"/>
                <a:buFont typeface="Arial" charset="0"/>
                <a:buNone/>
              </a:pP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-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유가증권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매입외환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대출금 등</a:t>
              </a:r>
              <a:endParaRPr lang="en-US" altLang="ko-KR" sz="1000" b="0" dirty="0" smtClean="0">
                <a:solidFill>
                  <a:srgbClr val="000066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1835696" y="948856"/>
            <a:ext cx="5472608" cy="720000"/>
            <a:chOff x="1835696" y="948856"/>
            <a:chExt cx="5472608" cy="720000"/>
          </a:xfrm>
        </p:grpSpPr>
        <p:sp>
          <p:nvSpPr>
            <p:cNvPr id="50" name="모서리가 둥근 직사각형 49"/>
            <p:cNvSpPr/>
            <p:nvPr/>
          </p:nvSpPr>
          <p:spPr>
            <a:xfrm>
              <a:off x="1835696" y="948856"/>
              <a:ext cx="5472608" cy="720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marL="288000" marR="0" lvl="0" indent="-28800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F81BD">
                    <a:lumMod val="75000"/>
                  </a:srgbClr>
                </a:buClr>
                <a:buSzPct val="145000"/>
                <a:tabLst/>
                <a:defRPr/>
              </a:pPr>
              <a:endPara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123728" y="1124744"/>
              <a:ext cx="48245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FX6660(</a:t>
              </a:r>
              <a:r>
                <a:rPr lang="ko-KR" altLang="en-US" sz="2000" dirty="0" err="1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만기별</a:t>
              </a:r>
              <a:r>
                <a:rPr lang="ko-KR" altLang="en-US" sz="200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외화자금 조달운용현황</a:t>
              </a:r>
              <a:r>
                <a:rPr lang="en-US" altLang="ko-KR" sz="200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  <a:r>
                <a:rPr lang="ko-KR" altLang="en-US" sz="200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endParaRPr lang="ko-KR" altLang="en-US" sz="2000" dirty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sp>
        <p:nvSpPr>
          <p:cNvPr id="52" name="위쪽/아래쪽 화살표 51"/>
          <p:cNvSpPr/>
          <p:nvPr/>
        </p:nvSpPr>
        <p:spPr bwMode="auto">
          <a:xfrm rot="2700000">
            <a:off x="1136735" y="1535713"/>
            <a:ext cx="432048" cy="720000"/>
          </a:xfrm>
          <a:prstGeom prst="upDownArrow">
            <a:avLst/>
          </a:prstGeom>
          <a:solidFill>
            <a:srgbClr val="00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HY헤드라인M" pitchFamily="18" charset="-127"/>
            </a:endParaRPr>
          </a:p>
        </p:txBody>
      </p:sp>
      <p:sp>
        <p:nvSpPr>
          <p:cNvPr id="53" name="위쪽/아래쪽 화살표 52"/>
          <p:cNvSpPr/>
          <p:nvPr/>
        </p:nvSpPr>
        <p:spPr bwMode="auto">
          <a:xfrm rot="18900000" flipH="1">
            <a:off x="7571599" y="1532095"/>
            <a:ext cx="432048" cy="720000"/>
          </a:xfrm>
          <a:prstGeom prst="upDownArrow">
            <a:avLst/>
          </a:prstGeom>
          <a:solidFill>
            <a:srgbClr val="00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ko-KR" altLang="en-US" smtClean="0">
              <a:latin typeface="Arial" pitchFamily="34" charset="0"/>
            </a:endParaRPr>
          </a:p>
        </p:txBody>
      </p:sp>
      <p:pic>
        <p:nvPicPr>
          <p:cNvPr id="27" name="Picture 44" descr="07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TextBox 27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E855EA-C76F-4883-98E0-2A86DDBDA59F}" type="slidenum">
              <a:rPr lang="en-US" altLang="ko-KR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8195" name="Picture 9" descr="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196975" y="2703513"/>
            <a:ext cx="7191375" cy="1247775"/>
            <a:chOff x="754" y="1703"/>
            <a:chExt cx="4530" cy="786"/>
          </a:xfrm>
        </p:grpSpPr>
        <p:pic>
          <p:nvPicPr>
            <p:cNvPr id="8198" name="Picture 12" descr="01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4" y="1703"/>
              <a:ext cx="4530" cy="7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99" name="Text Box 10"/>
            <p:cNvSpPr txBox="1">
              <a:spLocks noChangeArrowheads="1"/>
            </p:cNvSpPr>
            <p:nvPr/>
          </p:nvSpPr>
          <p:spPr bwMode="auto">
            <a:xfrm>
              <a:off x="1701" y="1909"/>
              <a:ext cx="1989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보고서 작성시 오류사례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0251" name="Text Box 11"/>
            <p:cNvSpPr txBox="1">
              <a:spLocks noChangeArrowheads="1"/>
            </p:cNvSpPr>
            <p:nvPr/>
          </p:nvSpPr>
          <p:spPr bwMode="auto">
            <a:xfrm>
              <a:off x="1199" y="1882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Ⅳ</a:t>
              </a:r>
              <a:endParaRPr lang="en-US" altLang="ko-KR" sz="32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8" name="슬라이드 번호 개체 틀 2"/>
          <p:cNvSpPr txBox="1">
            <a:spLocks/>
          </p:cNvSpPr>
          <p:nvPr/>
        </p:nvSpPr>
        <p:spPr bwMode="auto">
          <a:xfrm>
            <a:off x="4357688" y="6500813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6C735301-AB27-4835-B272-9BCC48DB8F1E}" type="slidenum">
              <a:rPr lang="en-US" altLang="ko-KR" sz="1200">
                <a:latin typeface="Arial" pitchFamily="34" charset="0"/>
                <a:ea typeface="+mn-ea"/>
              </a:rPr>
              <a:pPr algn="ctr">
                <a:defRPr/>
              </a:pPr>
              <a:t>12</a:t>
            </a:fld>
            <a:endParaRPr lang="en-US" altLang="ko-KR" sz="1200" dirty="0">
              <a:latin typeface="Arial" pitchFamily="34" charset="0"/>
              <a:ea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보고서 작성시 오류사례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7DD57775-E915-4F0B-BFAA-2A210537C6EA}" type="slidenum">
              <a:rPr lang="en-US" altLang="ko-KR" sz="1200">
                <a:ea typeface="굴림" pitchFamily="50" charset="-127"/>
              </a:rPr>
              <a:pPr algn="ctr"/>
              <a:t>13</a:t>
            </a:fld>
            <a:endParaRPr lang="en-US" altLang="ko-KR" sz="1200" dirty="0">
              <a:ea typeface="굴림" pitchFamily="50" charset="-127"/>
            </a:endParaRPr>
          </a:p>
        </p:txBody>
      </p:sp>
      <p:graphicFrame>
        <p:nvGraphicFramePr>
          <p:cNvPr id="23" name="다이어그램 22"/>
          <p:cNvGraphicFramePr/>
          <p:nvPr/>
        </p:nvGraphicFramePr>
        <p:xfrm>
          <a:off x="1524000" y="1196752"/>
          <a:ext cx="6096000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44" descr="07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043608" y="2590800"/>
            <a:ext cx="7056784" cy="1339850"/>
            <a:chOff x="1119" y="1632"/>
            <a:chExt cx="3834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834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1815" y="1877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외화유동성비율 </a:t>
              </a:r>
              <a:r>
                <a:rPr lang="ko-KR" altLang="en-US" sz="2800" b="0" dirty="0" err="1" smtClean="0">
                  <a:solidFill>
                    <a:srgbClr val="000066"/>
                  </a:solidFill>
                  <a:latin typeface="HY헤드라인M" pitchFamily="18" charset="-127"/>
                </a:rPr>
                <a:t>위반시</a:t>
              </a:r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 제재내용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Ⅴ</a:t>
              </a:r>
              <a:endParaRPr lang="en-US" altLang="ko-KR" sz="32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14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7A2209-FD55-406F-9D90-9448721A3E1E}" type="slidenum">
              <a:rPr lang="en-US" altLang="ko-KR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15363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DBFB14DE-D746-4723-A5DE-F7E05EB6A6EC}" type="slidenum">
              <a:rPr lang="en-US" altLang="ko-KR" sz="1200">
                <a:ea typeface="굴림" pitchFamily="50" charset="-127"/>
              </a:rPr>
              <a:pPr algn="ctr"/>
              <a:t>15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727280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 </a:t>
            </a:r>
            <a:r>
              <a:rPr lang="ko-KR" altLang="en-US" sz="2200" b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위반시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제재 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내용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/>
        </p:nvGraphicFramePr>
        <p:xfrm>
          <a:off x="467544" y="1268760"/>
          <a:ext cx="8208911" cy="3297193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4F81BD">
                        <a:tint val="50000"/>
                        <a:satMod val="300000"/>
                      </a:srgbClr>
                    </a:gs>
                    <a:gs pos="35000">
                      <a:srgbClr val="4F81BD">
                        <a:tint val="37000"/>
                        <a:satMod val="300000"/>
                      </a:srgbClr>
                    </a:gs>
                    <a:gs pos="100000">
                      <a:srgbClr val="4F81BD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tblPr>
              <a:tblGrid>
                <a:gridCol w="1484591"/>
                <a:gridCol w="2270550"/>
                <a:gridCol w="2270550"/>
                <a:gridCol w="2183220"/>
              </a:tblGrid>
              <a:tr h="399060"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과거 </a:t>
                      </a:r>
                      <a:endParaRPr lang="en-US" altLang="ko-KR" sz="1800" b="0" dirty="0" smtClean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위반횟수 </a:t>
                      </a:r>
                      <a:endParaRPr lang="ko-KR" altLang="en-US" sz="18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3</a:t>
                      </a:r>
                      <a:r>
                        <a:rPr lang="ko-KR" altLang="en-US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개월 </a:t>
                      </a:r>
                      <a:endParaRPr lang="en-US" altLang="ko-KR" sz="1800" b="0" dirty="0" smtClean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외화유동성비율</a:t>
                      </a:r>
                      <a:endParaRPr lang="ko-KR" altLang="en-US" sz="18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800" b="0" dirty="0" err="1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갭비율</a:t>
                      </a:r>
                      <a:endParaRPr lang="ko-KR" altLang="en-US" sz="18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90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7</a:t>
                      </a:r>
                      <a:r>
                        <a:rPr lang="ko-KR" altLang="en-US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일</a:t>
                      </a:r>
                      <a:endParaRPr lang="ko-KR" altLang="en-US" sz="18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1</a:t>
                      </a:r>
                      <a:r>
                        <a:rPr lang="ko-KR" altLang="en-US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개월</a:t>
                      </a:r>
                      <a:endParaRPr lang="ko-KR" altLang="en-US" sz="18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</a:tr>
              <a:tr h="43973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1</a:t>
                      </a: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회</a:t>
                      </a:r>
                      <a:endParaRPr lang="ko-KR" altLang="en-US" sz="18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 gridSpan="3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사유서 및 달성계획서 </a:t>
                      </a:r>
                      <a:r>
                        <a:rPr lang="ko-KR" altLang="en-US" sz="1800" b="0" dirty="0" err="1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징구</a:t>
                      </a:r>
                      <a:r>
                        <a:rPr lang="en-US" altLang="ko-KR" sz="1800" b="0" baseline="300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*</a:t>
                      </a: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3973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274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2</a:t>
                      </a: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회</a:t>
                      </a: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endParaRPr lang="ko-KR" altLang="en-US" sz="18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8750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3</a:t>
                      </a: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회</a:t>
                      </a:r>
                      <a:endParaRPr lang="ko-KR" altLang="en-US" sz="18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800" b="0" spc="-15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비율상향 적용</a:t>
                      </a:r>
                      <a:endParaRPr lang="en-US" altLang="ko-KR" sz="1800" b="0" spc="-150" dirty="0" smtClean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800" b="0" spc="-15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(85%</a:t>
                      </a:r>
                      <a:r>
                        <a:rPr lang="ko-KR" altLang="en-US" sz="1800" b="0" spc="-15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이상</a:t>
                      </a:r>
                      <a:r>
                        <a:rPr lang="en-US" altLang="ko-KR" sz="1800" b="0" spc="-15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)</a:t>
                      </a:r>
                      <a:endParaRPr lang="ko-KR" altLang="en-US" sz="1800" b="0" spc="-15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사유서 및 </a:t>
                      </a:r>
                      <a:endParaRPr lang="en-US" altLang="ko-KR" sz="1800" b="0" dirty="0" smtClean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달성계획서 </a:t>
                      </a:r>
                      <a:r>
                        <a:rPr lang="ko-KR" altLang="en-US" sz="1800" b="0" dirty="0" err="1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징구</a:t>
                      </a:r>
                      <a:endParaRPr lang="ko-KR" altLang="en-US" sz="18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비율상향 적용</a:t>
                      </a:r>
                      <a:endParaRPr lang="en-US" altLang="ko-KR" sz="1800" b="0" dirty="0" smtClean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</a:t>
                      </a: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△</a:t>
                      </a:r>
                      <a:r>
                        <a:rPr lang="en-US" altLang="ko-KR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5%</a:t>
                      </a: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이상</a:t>
                      </a:r>
                      <a:r>
                        <a:rPr lang="en-US" altLang="ko-KR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)</a:t>
                      </a:r>
                      <a:endParaRPr lang="ko-KR" altLang="en-US" sz="18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</a:tr>
              <a:tr h="875269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4</a:t>
                      </a: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회 이상</a:t>
                      </a:r>
                      <a:endParaRPr lang="ko-KR" altLang="en-US" sz="18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3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/>
                      <a:r>
                        <a:rPr lang="ko-KR" altLang="en-US" sz="1800" kern="12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  <a:cs typeface="+mn-cs"/>
                        </a:rPr>
                        <a:t> 일정 비율 충족할 때까지 </a:t>
                      </a:r>
                      <a:endParaRPr lang="en-US" altLang="ko-KR" sz="1800" kern="1200" dirty="0" smtClean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  <a:cs typeface="+mn-cs"/>
                      </a:endParaRPr>
                    </a:p>
                    <a:p>
                      <a:pPr algn="ctr"/>
                      <a:r>
                        <a:rPr lang="ko-KR" altLang="en-US" sz="1800" kern="12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  <a:cs typeface="+mn-cs"/>
                        </a:rPr>
                        <a:t>만기 </a:t>
                      </a:r>
                      <a:r>
                        <a:rPr lang="en-US" altLang="ko-KR" sz="1800" kern="12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800" kern="12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  <a:cs typeface="+mn-cs"/>
                        </a:rPr>
                        <a:t>개월 이내 신규 외화차입 정지</a:t>
                      </a:r>
                      <a:endParaRPr lang="ko-KR" altLang="en-US" sz="1800" kern="120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  <a:cs typeface="+mn-cs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모서리가 둥근 직사각형 38"/>
          <p:cNvSpPr/>
          <p:nvPr/>
        </p:nvSpPr>
        <p:spPr>
          <a:xfrm>
            <a:off x="467544" y="5445224"/>
            <a:ext cx="8208912" cy="792088"/>
          </a:xfrm>
          <a:prstGeom prst="round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0" cap="none" spc="50" normalizeH="0" baseline="0" noProof="0" dirty="0" smtClean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2</a:t>
            </a:r>
            <a:r>
              <a:rPr kumimoji="0" lang="ko-KR" altLang="en-US" sz="2500" b="1" i="0" u="none" strike="noStrike" kern="0" cap="none" spc="50" normalizeH="0" baseline="0" noProof="0" dirty="0" smtClean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회 이상 </a:t>
            </a:r>
            <a:r>
              <a:rPr kumimoji="0" lang="ko-KR" altLang="en-US" sz="2500" b="1" i="0" u="none" strike="noStrike" kern="0" cap="none" spc="50" normalizeH="0" baseline="0" noProof="0" dirty="0" err="1" smtClean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위반시에는</a:t>
            </a:r>
            <a:r>
              <a:rPr kumimoji="0" lang="ko-KR" altLang="en-US" sz="2500" b="1" i="0" u="none" strike="noStrike" kern="0" cap="none" spc="50" normalizeH="0" baseline="0" noProof="0" dirty="0" smtClean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 보고주기 단축 가능</a:t>
            </a:r>
            <a:endParaRPr kumimoji="0" lang="ko-KR" altLang="en-US" sz="2500" b="1" i="0" u="none" strike="noStrike" kern="0" cap="none" spc="50" normalizeH="0" baseline="0" noProof="0" dirty="0">
              <a:ln w="11430"/>
              <a:gradFill>
                <a:gsLst>
                  <a:gs pos="25000">
                    <a:srgbClr val="C0504D">
                      <a:satMod val="155000"/>
                    </a:srgbClr>
                  </a:gs>
                  <a:gs pos="100000">
                    <a:srgbClr val="C0504D">
                      <a:shade val="45000"/>
                      <a:satMod val="165000"/>
                    </a:srgb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4509120"/>
            <a:ext cx="6624736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* </a:t>
            </a:r>
            <a:r>
              <a:rPr lang="ko-KR" altLang="en-US" sz="1500" b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금투업자</a:t>
            </a:r>
            <a:r>
              <a:rPr lang="ko-KR" altLang="en-US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및 보험사 </a:t>
            </a:r>
            <a:r>
              <a:rPr lang="en-US" altLang="ko-KR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: </a:t>
            </a:r>
            <a:r>
              <a:rPr lang="ko-KR" altLang="en-US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사유발생일부터 </a:t>
            </a:r>
            <a:r>
              <a:rPr lang="en-US" altLang="ko-KR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20</a:t>
            </a:r>
            <a:r>
              <a:rPr lang="ko-KR" altLang="en-US" sz="1500" b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일이내</a:t>
            </a:r>
            <a:r>
              <a:rPr lang="ko-KR" altLang="en-US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제출</a:t>
            </a:r>
            <a:endParaRPr lang="en-US" altLang="ko-KR" sz="1500" b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 </a:t>
            </a:r>
            <a:r>
              <a:rPr lang="ko-KR" altLang="en-US" sz="1500" b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여전사</a:t>
            </a:r>
            <a:r>
              <a:rPr lang="ko-KR" altLang="en-US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: </a:t>
            </a:r>
            <a:r>
              <a:rPr lang="ko-KR" altLang="en-US" sz="1500" b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익월말일이내</a:t>
            </a:r>
            <a:r>
              <a:rPr lang="ko-KR" altLang="en-US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제출</a:t>
            </a:r>
          </a:p>
        </p:txBody>
      </p:sp>
      <p:pic>
        <p:nvPicPr>
          <p:cNvPr id="11" name="Picture 44" descr="07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5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16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776413" y="2590800"/>
            <a:ext cx="6086475" cy="1339850"/>
            <a:chOff x="1119" y="1632"/>
            <a:chExt cx="3834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834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2610" y="1877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질의응답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Ⅵ</a:t>
              </a:r>
              <a:endParaRPr lang="en-US" altLang="ko-KR" sz="32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16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B95F55-72E6-4687-A0BD-8C3569076848}" type="slidenum">
              <a:rPr lang="en-US" altLang="ko-KR"/>
              <a:pPr>
                <a:defRPr/>
              </a:pPr>
              <a:t>17</a:t>
            </a:fld>
            <a:endParaRPr lang="en-US" altLang="ko-KR"/>
          </a:p>
        </p:txBody>
      </p:sp>
      <p:pic>
        <p:nvPicPr>
          <p:cNvPr id="19459" name="Picture 2" descr="end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7" name="Picture 7" descr="02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11400" y="1628775"/>
            <a:ext cx="4505325" cy="145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그림 4" descr="금감원CI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14750" y="3703638"/>
            <a:ext cx="1571625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HY헤드라인M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HY헤드라인M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7482</TotalTime>
  <Words>700</Words>
  <Application>Microsoft Office PowerPoint</Application>
  <PresentationFormat>화면 슬라이드 쇼(4:3)</PresentationFormat>
  <Paragraphs>184</Paragraphs>
  <Slides>18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0" baseType="lpstr">
      <vt:lpstr>기본 디자인</vt:lpstr>
      <vt:lpstr>디자인 사용자 지정</vt:lpstr>
      <vt:lpstr>슬라이드 0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TitlesOfParts>
  <Company>FINAL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블랙에디션</dc:creator>
  <cp:lastModifiedBy>금융감독원_Z20MF</cp:lastModifiedBy>
  <cp:revision>720</cp:revision>
  <dcterms:created xsi:type="dcterms:W3CDTF">2008-11-12T16:13:11Z</dcterms:created>
  <dcterms:modified xsi:type="dcterms:W3CDTF">2014-12-16T01:28:44Z</dcterms:modified>
</cp:coreProperties>
</file>