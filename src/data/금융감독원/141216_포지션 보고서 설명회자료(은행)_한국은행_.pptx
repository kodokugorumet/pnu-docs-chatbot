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2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75" r:id="rId2"/>
    <p:sldId id="256" r:id="rId3"/>
    <p:sldId id="258" r:id="rId4"/>
    <p:sldId id="259" r:id="rId5"/>
    <p:sldId id="276" r:id="rId6"/>
    <p:sldId id="260" r:id="rId7"/>
    <p:sldId id="261" r:id="rId8"/>
    <p:sldId id="277" r:id="rId9"/>
    <p:sldId id="262" r:id="rId10"/>
    <p:sldId id="263" r:id="rId11"/>
    <p:sldId id="285" r:id="rId12"/>
    <p:sldId id="278" r:id="rId13"/>
    <p:sldId id="279" r:id="rId14"/>
    <p:sldId id="282" r:id="rId15"/>
    <p:sldId id="284" r:id="rId16"/>
    <p:sldId id="283" r:id="rId17"/>
    <p:sldId id="286" r:id="rId18"/>
    <p:sldId id="265" r:id="rId19"/>
    <p:sldId id="280" r:id="rId20"/>
    <p:sldId id="288" r:id="rId21"/>
    <p:sldId id="281" r:id="rId22"/>
    <p:sldId id="271" r:id="rId23"/>
    <p:sldId id="287" r:id="rId24"/>
    <p:sldId id="273" r:id="rId25"/>
  </p:sldIdLst>
  <p:sldSz cx="10080625" cy="7559675"/>
  <p:notesSz cx="7559675" cy="10691813"/>
  <p:defaultTextStyle>
    <a:defPPr>
      <a:defRPr lang="en-GB"/>
    </a:defPPr>
    <a:lvl1pPr algn="l" defTabSz="449263" rtl="0" fontAlgn="base" hangingPunct="0">
      <a:lnSpc>
        <a:spcPct val="96000"/>
      </a:lnSpc>
      <a:spcBef>
        <a:spcPct val="0"/>
      </a:spcBef>
      <a:spcAft>
        <a:spcPct val="0"/>
      </a:spcAft>
      <a:buClr>
        <a:srgbClr val="000000"/>
      </a:buClr>
      <a:buSzPct val="45000"/>
      <a:buFont typeface="Wingdings" charset="2"/>
      <a:defRPr kern="1200">
        <a:solidFill>
          <a:schemeClr val="tx1"/>
        </a:solidFill>
        <a:latin typeface="Arial" charset="0"/>
        <a:ea typeface="굴림" charset="-127"/>
        <a:cs typeface="+mn-cs"/>
      </a:defRPr>
    </a:lvl1pPr>
    <a:lvl2pPr marL="431800" indent="-215900" algn="l" defTabSz="449263" rtl="0" fontAlgn="base" hangingPunct="0">
      <a:lnSpc>
        <a:spcPct val="96000"/>
      </a:lnSpc>
      <a:spcBef>
        <a:spcPct val="0"/>
      </a:spcBef>
      <a:spcAft>
        <a:spcPct val="0"/>
      </a:spcAft>
      <a:buClr>
        <a:srgbClr val="000000"/>
      </a:buClr>
      <a:buSzPct val="45000"/>
      <a:buFont typeface="Wingdings" charset="2"/>
      <a:defRPr kern="1200">
        <a:solidFill>
          <a:schemeClr val="tx1"/>
        </a:solidFill>
        <a:latin typeface="Arial" charset="0"/>
        <a:ea typeface="굴림" charset="-127"/>
        <a:cs typeface="+mn-cs"/>
      </a:defRPr>
    </a:lvl2pPr>
    <a:lvl3pPr marL="647700" indent="-215900" algn="l" defTabSz="449263" rtl="0" fontAlgn="base" hangingPunct="0">
      <a:lnSpc>
        <a:spcPct val="96000"/>
      </a:lnSpc>
      <a:spcBef>
        <a:spcPct val="0"/>
      </a:spcBef>
      <a:spcAft>
        <a:spcPct val="0"/>
      </a:spcAft>
      <a:buClr>
        <a:srgbClr val="000000"/>
      </a:buClr>
      <a:buSzPct val="45000"/>
      <a:buFont typeface="Wingdings" charset="2"/>
      <a:defRPr kern="1200">
        <a:solidFill>
          <a:schemeClr val="tx1"/>
        </a:solidFill>
        <a:latin typeface="Arial" charset="0"/>
        <a:ea typeface="굴림" charset="-127"/>
        <a:cs typeface="+mn-cs"/>
      </a:defRPr>
    </a:lvl3pPr>
    <a:lvl4pPr marL="863600" indent="-215900" algn="l" defTabSz="449263" rtl="0" fontAlgn="base" hangingPunct="0">
      <a:lnSpc>
        <a:spcPct val="96000"/>
      </a:lnSpc>
      <a:spcBef>
        <a:spcPct val="0"/>
      </a:spcBef>
      <a:spcAft>
        <a:spcPct val="0"/>
      </a:spcAft>
      <a:buClr>
        <a:srgbClr val="000000"/>
      </a:buClr>
      <a:buSzPct val="45000"/>
      <a:buFont typeface="Wingdings" charset="2"/>
      <a:defRPr kern="1200">
        <a:solidFill>
          <a:schemeClr val="tx1"/>
        </a:solidFill>
        <a:latin typeface="Arial" charset="0"/>
        <a:ea typeface="굴림" charset="-127"/>
        <a:cs typeface="+mn-cs"/>
      </a:defRPr>
    </a:lvl4pPr>
    <a:lvl5pPr marL="1079500" indent="-215900" algn="l" defTabSz="449263" rtl="0" fontAlgn="base" hangingPunct="0">
      <a:lnSpc>
        <a:spcPct val="96000"/>
      </a:lnSpc>
      <a:spcBef>
        <a:spcPct val="0"/>
      </a:spcBef>
      <a:spcAft>
        <a:spcPct val="0"/>
      </a:spcAft>
      <a:buClr>
        <a:srgbClr val="000000"/>
      </a:buClr>
      <a:buSzPct val="45000"/>
      <a:buFont typeface="Wingdings" charset="2"/>
      <a:defRPr kern="1200">
        <a:solidFill>
          <a:schemeClr val="tx1"/>
        </a:solidFill>
        <a:latin typeface="Arial" charset="0"/>
        <a:ea typeface="굴림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굴림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굴림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굴림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B4351"/>
    <a:srgbClr val="283C54"/>
    <a:srgbClr val="21A7B5"/>
    <a:srgbClr val="1A838E"/>
    <a:srgbClr val="1C909C"/>
    <a:srgbClr val="0B383D"/>
    <a:srgbClr val="156871"/>
    <a:srgbClr val="2FC9D9"/>
    <a:srgbClr val="166F78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17" autoAdjust="0"/>
    <p:restoredTop sz="94712" autoAdjust="0"/>
  </p:normalViewPr>
  <p:slideViewPr>
    <p:cSldViewPr>
      <p:cViewPr varScale="1">
        <p:scale>
          <a:sx n="86" d="100"/>
          <a:sy n="86" d="100"/>
        </p:scale>
        <p:origin x="-60" y="-31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024" units="cm"/>
        </inkml:traceFormat>
        <inkml:channelProperties>
          <inkml:channelProperty channel="X" name="resolution" value="56.63717" units="1/cm"/>
          <inkml:channelProperty channel="Y" name="resolution" value="28.36565" units="1/cm"/>
        </inkml:channelProperties>
      </inkml:inkSource>
      <inkml:timestamp xml:id="ts0" timeString="2014-12-15T07:36:34.56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8007 18530</inkml:trace>
  <inkml:trace contextRef="#ctx0" brushRef="#br0" timeOffset="1160.0663">5032 12820</inkml:trace>
  <inkml:trace contextRef="#ctx0" brushRef="#br0" timeOffset="2104.1203">6519 7438</inkml:trace>
  <inkml:trace contextRef="#ctx0" brushRef="#br0" timeOffset="2695.1541">7569 7154</inkml:trace>
  <inkml:trace contextRef="#ctx0" brushRef="#br0" timeOffset="3328.1903">11069 17283,'22'0,"-22"22,0-22,0 22,0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024" units="cm"/>
        </inkml:traceFormat>
        <inkml:channelProperties>
          <inkml:channelProperty channel="X" name="resolution" value="56.63717" units="1/cm"/>
          <inkml:channelProperty channel="Y" name="resolution" value="28.36565" units="1/cm"/>
        </inkml:channelProperties>
      </inkml:inkSource>
      <inkml:timestamp xml:id="ts0" timeString="2014-12-15T07:37:04.60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19929 16671,'0'0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3525" cy="400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ko-KR" altLang="ko-KR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Batang" pitchFamily="16" charset="-127"/>
                <a:ea typeface="Batang" pitchFamily="16" charset="-127"/>
              </a:defRPr>
            </a:lvl1pPr>
          </a:lstStyle>
          <a:p>
            <a:endParaRPr lang="en-GB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Batang" pitchFamily="16" charset="-127"/>
                <a:ea typeface="Batang" pitchFamily="16" charset="-127"/>
              </a:defRPr>
            </a:lvl1pPr>
          </a:lstStyle>
          <a:p>
            <a:endParaRPr lang="en-GB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Batang" pitchFamily="16" charset="-127"/>
                <a:ea typeface="Batang" pitchFamily="16" charset="-127"/>
              </a:defRPr>
            </a:lvl1pPr>
          </a:lstStyle>
          <a:p>
            <a:endParaRPr lang="en-GB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Batang" pitchFamily="16" charset="-127"/>
                <a:ea typeface="Batang" pitchFamily="16" charset="-127"/>
              </a:defRPr>
            </a:lvl1pPr>
          </a:lstStyle>
          <a:p>
            <a:fld id="{60B6FDC8-C395-458C-A714-C014874DAA78}" type="slidenum">
              <a:rPr lang="en-GB" altLang="ko-KR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8833705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2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3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4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5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6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7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8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9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10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11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12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13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14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15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16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17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18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19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20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21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22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23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D235067-D740-4319-AC05-E9BF33738E8E}" type="slidenum">
              <a:rPr lang="en-GB" altLang="ko-KR"/>
              <a:pPr/>
              <a:t>24</a:t>
            </a:fld>
            <a:endParaRPr lang="en-GB" altLang="ko-KR"/>
          </a:p>
        </p:txBody>
      </p:sp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BAD2091-CB26-469D-BF8F-674FA813D7F8}" type="slidenum">
              <a:rPr lang="en-GB" altLang="ko-KR" smtClean="0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281875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37B36E3-3A1C-4B66-9D52-74A64F482247}" type="slidenum">
              <a:rPr lang="en-GB" altLang="ko-KR" smtClean="0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171003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16F2C10-EC5E-4B98-A4C1-73F096A9ECF7}" type="slidenum">
              <a:rPr lang="en-GB" altLang="ko-KR" smtClean="0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279345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59288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9318D98-F99F-48B3-A84F-25B61DE1C38E}" type="slidenum">
              <a:rPr lang="en-GB" altLang="ko-KR" smtClean="0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240698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FE2C735-03E0-4FAB-9439-167AE9A554A3}" type="slidenum">
              <a:rPr lang="en-GB" altLang="ko-KR" smtClean="0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70039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8BE94C7-D59A-4D2C-B35C-93ADEB21E1AE}" type="slidenum">
              <a:rPr lang="en-GB" altLang="ko-KR" smtClean="0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4098936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57D61CB-E73F-430F-A597-E9087E3B49F5}" type="slidenum">
              <a:rPr lang="en-GB" altLang="ko-KR" smtClean="0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69239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271F867-D186-4010-8147-1907370ED053}" type="slidenum">
              <a:rPr lang="en-GB" altLang="ko-KR" smtClean="0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488921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7BAE811-02D7-4637-82D5-B4B4BD2CE6B5}" type="slidenum">
              <a:rPr lang="en-GB" altLang="ko-KR" smtClean="0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1541052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3E88B0E-4796-4326-BB19-DF1C741E21D7}" type="slidenum">
              <a:rPr lang="en-GB" altLang="ko-KR" smtClean="0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99605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07263" y="301625"/>
            <a:ext cx="2266950" cy="64547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1625" cy="64547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3D38879-E31D-4A21-B45C-5BC8E45C831F}" type="slidenum">
              <a:rPr lang="en-GB" altLang="ko-KR" smtClean="0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233950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301625"/>
            <a:ext cx="9070975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the title text format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768475"/>
            <a:ext cx="9070975" cy="49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the outline text format</a:t>
            </a:r>
          </a:p>
          <a:p>
            <a:pPr lvl="1"/>
            <a:r>
              <a:rPr lang="en-GB" altLang="ko-KR" smtClean="0"/>
              <a:t>Second Outline Level</a:t>
            </a:r>
          </a:p>
          <a:p>
            <a:pPr lvl="2"/>
            <a:r>
              <a:rPr lang="en-GB" altLang="ko-KR" smtClean="0"/>
              <a:t>Third Outline Level</a:t>
            </a:r>
          </a:p>
          <a:p>
            <a:pPr lvl="3"/>
            <a:r>
              <a:rPr lang="en-GB" altLang="ko-KR" smtClean="0"/>
              <a:t>Fourth Outline Level</a:t>
            </a:r>
          </a:p>
          <a:p>
            <a:pPr lvl="4"/>
            <a:r>
              <a:rPr lang="en-GB" altLang="ko-KR" smtClean="0"/>
              <a:t>Fifth Outline Level</a:t>
            </a:r>
          </a:p>
          <a:p>
            <a:pPr lvl="4"/>
            <a:r>
              <a:rPr lang="en-GB" altLang="ko-KR" smtClean="0"/>
              <a:t>Sixth Outline Level</a:t>
            </a:r>
          </a:p>
          <a:p>
            <a:pPr lvl="4"/>
            <a:r>
              <a:rPr lang="en-GB" altLang="ko-KR" smtClean="0"/>
              <a:t>Seventh Outline Level</a:t>
            </a:r>
          </a:p>
          <a:p>
            <a:pPr lvl="4"/>
            <a:r>
              <a:rPr lang="en-GB" altLang="ko-KR" smtClean="0"/>
              <a:t>Eighth Outline Level</a:t>
            </a:r>
          </a:p>
          <a:p>
            <a:pPr lvl="4"/>
            <a:r>
              <a:rPr lang="en-GB" altLang="ko-KR" smtClean="0"/>
              <a:t>Ninth Outline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463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Batang" pitchFamily="16" charset="-127"/>
                <a:ea typeface="Batang" pitchFamily="16" charset="-127"/>
              </a:defRPr>
            </a:lvl1pPr>
          </a:lstStyle>
          <a:p>
            <a:endParaRPr lang="en-GB" altLang="ko-K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Batang" pitchFamily="16" charset="-127"/>
                <a:ea typeface="Batang" pitchFamily="16" charset="-127"/>
              </a:defRPr>
            </a:lvl1pPr>
          </a:lstStyle>
          <a:p>
            <a:endParaRPr lang="en-GB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463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Batang" pitchFamily="16" charset="-127"/>
                <a:ea typeface="Batang" pitchFamily="16" charset="-127"/>
              </a:defRPr>
            </a:lvl1pPr>
          </a:lstStyle>
          <a:p>
            <a:fld id="{5042D4F7-68D6-4965-ACF2-749624EE0591}" type="slidenum">
              <a:rPr lang="en-GB" altLang="ko-KR" smtClean="0"/>
              <a:pPr/>
              <a:t>‹#›</a:t>
            </a:fld>
            <a:endParaRPr lang="en-GB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49263" rtl="0" eaLnBrk="1" fontAlgn="base" latinLnBrk="1" hangingPunct="1">
        <a:lnSpc>
          <a:spcPct val="96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charset="2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431800" indent="-215900" algn="ctr" defTabSz="449263" rtl="0" eaLnBrk="1" fontAlgn="base" latinLnBrk="1" hangingPunct="1">
        <a:lnSpc>
          <a:spcPct val="96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charset="2"/>
        <a:defRPr sz="4400">
          <a:solidFill>
            <a:srgbClr val="000000"/>
          </a:solidFill>
          <a:latin typeface="Arial" charset="0"/>
          <a:ea typeface="굴림" charset="-127"/>
        </a:defRPr>
      </a:lvl2pPr>
      <a:lvl3pPr marL="647700" indent="-215900" algn="ctr" defTabSz="449263" rtl="0" eaLnBrk="1" fontAlgn="base" latinLnBrk="1" hangingPunct="1">
        <a:lnSpc>
          <a:spcPct val="96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charset="2"/>
        <a:defRPr sz="4400">
          <a:solidFill>
            <a:srgbClr val="000000"/>
          </a:solidFill>
          <a:latin typeface="Arial" charset="0"/>
          <a:ea typeface="굴림" charset="-127"/>
        </a:defRPr>
      </a:lvl3pPr>
      <a:lvl4pPr marL="863600" indent="-215900" algn="ctr" defTabSz="449263" rtl="0" eaLnBrk="1" fontAlgn="base" latinLnBrk="1" hangingPunct="1">
        <a:lnSpc>
          <a:spcPct val="96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charset="2"/>
        <a:defRPr sz="4400">
          <a:solidFill>
            <a:srgbClr val="000000"/>
          </a:solidFill>
          <a:latin typeface="Arial" charset="0"/>
          <a:ea typeface="굴림" charset="-127"/>
        </a:defRPr>
      </a:lvl4pPr>
      <a:lvl5pPr marL="1079500" indent="-215900" algn="ctr" defTabSz="449263" rtl="0" eaLnBrk="1" fontAlgn="base" latinLnBrk="1" hangingPunct="1">
        <a:lnSpc>
          <a:spcPct val="96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charset="2"/>
        <a:defRPr sz="4400">
          <a:solidFill>
            <a:srgbClr val="000000"/>
          </a:solidFill>
          <a:latin typeface="Arial" charset="0"/>
          <a:ea typeface="굴림" charset="-127"/>
        </a:defRPr>
      </a:lvl5pPr>
      <a:lvl6pPr marL="1536700" indent="-215900" algn="ctr" defTabSz="449263" rtl="0" eaLnBrk="1" fontAlgn="base" latinLnBrk="1" hangingPunct="1">
        <a:lnSpc>
          <a:spcPct val="96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charset="2"/>
        <a:defRPr sz="4400">
          <a:solidFill>
            <a:srgbClr val="000000"/>
          </a:solidFill>
          <a:latin typeface="Arial" charset="0"/>
          <a:ea typeface="굴림" charset="-127"/>
        </a:defRPr>
      </a:lvl6pPr>
      <a:lvl7pPr marL="1993900" indent="-215900" algn="ctr" defTabSz="449263" rtl="0" eaLnBrk="1" fontAlgn="base" latinLnBrk="1" hangingPunct="1">
        <a:lnSpc>
          <a:spcPct val="96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charset="2"/>
        <a:defRPr sz="4400">
          <a:solidFill>
            <a:srgbClr val="000000"/>
          </a:solidFill>
          <a:latin typeface="Arial" charset="0"/>
          <a:ea typeface="굴림" charset="-127"/>
        </a:defRPr>
      </a:lvl7pPr>
      <a:lvl8pPr marL="2451100" indent="-215900" algn="ctr" defTabSz="449263" rtl="0" eaLnBrk="1" fontAlgn="base" latinLnBrk="1" hangingPunct="1">
        <a:lnSpc>
          <a:spcPct val="96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charset="2"/>
        <a:defRPr sz="4400">
          <a:solidFill>
            <a:srgbClr val="000000"/>
          </a:solidFill>
          <a:latin typeface="Arial" charset="0"/>
          <a:ea typeface="굴림" charset="-127"/>
        </a:defRPr>
      </a:lvl8pPr>
      <a:lvl9pPr marL="2908300" indent="-215900" algn="ctr" defTabSz="449263" rtl="0" eaLnBrk="1" fontAlgn="base" latinLnBrk="1" hangingPunct="1">
        <a:lnSpc>
          <a:spcPct val="96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Wingdings" charset="2"/>
        <a:defRPr sz="4400">
          <a:solidFill>
            <a:srgbClr val="000000"/>
          </a:solidFill>
          <a:latin typeface="Arial" charset="0"/>
          <a:ea typeface="굴림" charset="-127"/>
        </a:defRPr>
      </a:lvl9pPr>
    </p:titleStyle>
    <p:bodyStyle>
      <a:lvl1pPr marL="431800" indent="-323850" algn="l" defTabSz="449263" rtl="0" eaLnBrk="1" fontAlgn="base" latinLnBrk="1" hangingPunct="1">
        <a:lnSpc>
          <a:spcPct val="96000"/>
        </a:lnSpc>
        <a:spcBef>
          <a:spcPct val="0"/>
        </a:spcBef>
        <a:spcAft>
          <a:spcPts val="1425"/>
        </a:spcAft>
        <a:buClr>
          <a:srgbClr val="000000"/>
        </a:buClr>
        <a:buSzPct val="45000"/>
        <a:buFont typeface="Wingdings" charset="2"/>
        <a:buChar char="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863600" indent="-287338" algn="l" defTabSz="449263" rtl="0" eaLnBrk="1" fontAlgn="base" latinLnBrk="1" hangingPunct="1">
        <a:lnSpc>
          <a:spcPct val="96000"/>
        </a:lnSpc>
        <a:spcBef>
          <a:spcPct val="0"/>
        </a:spcBef>
        <a:spcAft>
          <a:spcPts val="1138"/>
        </a:spcAft>
        <a:buClr>
          <a:srgbClr val="000000"/>
        </a:buClr>
        <a:buSzPct val="75000"/>
        <a:buFont typeface="Symbol" charset="2"/>
        <a:buChar char=""/>
        <a:defRPr sz="2800">
          <a:solidFill>
            <a:srgbClr val="000000"/>
          </a:solidFill>
          <a:latin typeface="+mn-lt"/>
          <a:ea typeface="+mn-ea"/>
        </a:defRPr>
      </a:lvl2pPr>
      <a:lvl3pPr marL="1295400" indent="-215900" algn="l" defTabSz="449263" rtl="0" eaLnBrk="1" fontAlgn="base" latinLnBrk="1" hangingPunct="1">
        <a:lnSpc>
          <a:spcPct val="96000"/>
        </a:lnSpc>
        <a:spcBef>
          <a:spcPct val="0"/>
        </a:spcBef>
        <a:spcAft>
          <a:spcPts val="850"/>
        </a:spcAft>
        <a:buClr>
          <a:srgbClr val="000000"/>
        </a:buClr>
        <a:buSzPct val="45000"/>
        <a:buFont typeface="Wingdings" charset="2"/>
        <a:buChar char=""/>
        <a:defRPr sz="2400">
          <a:solidFill>
            <a:srgbClr val="000000"/>
          </a:solidFill>
          <a:latin typeface="+mn-lt"/>
          <a:ea typeface="+mn-ea"/>
        </a:defRPr>
      </a:lvl3pPr>
      <a:lvl4pPr marL="1727200" indent="-215900" algn="l" defTabSz="449263" rtl="0" eaLnBrk="1" fontAlgn="base" latinLnBrk="1" hangingPunct="1">
        <a:lnSpc>
          <a:spcPct val="96000"/>
        </a:lnSpc>
        <a:spcBef>
          <a:spcPct val="0"/>
        </a:spcBef>
        <a:spcAft>
          <a:spcPts val="575"/>
        </a:spcAft>
        <a:buClr>
          <a:srgbClr val="000000"/>
        </a:buClr>
        <a:buSzPct val="75000"/>
        <a:buFont typeface="Symbol" charset="2"/>
        <a:buChar char=""/>
        <a:defRPr sz="2000">
          <a:solidFill>
            <a:srgbClr val="000000"/>
          </a:solidFill>
          <a:latin typeface="+mn-lt"/>
          <a:ea typeface="+mn-ea"/>
        </a:defRPr>
      </a:lvl4pPr>
      <a:lvl5pPr marL="2159000" indent="-215900" algn="l" defTabSz="449263" rtl="0" eaLnBrk="1" fontAlgn="base" latinLnBrk="1" hangingPunct="1">
        <a:lnSpc>
          <a:spcPct val="96000"/>
        </a:lnSpc>
        <a:spcBef>
          <a:spcPct val="0"/>
        </a:spcBef>
        <a:spcAft>
          <a:spcPts val="288"/>
        </a:spcAft>
        <a:buClr>
          <a:srgbClr val="000000"/>
        </a:buClr>
        <a:buSzPct val="45000"/>
        <a:buFont typeface="Wingdings" charset="2"/>
        <a:buChar char=""/>
        <a:defRPr sz="2000">
          <a:solidFill>
            <a:srgbClr val="000000"/>
          </a:solidFill>
          <a:latin typeface="+mn-lt"/>
          <a:ea typeface="+mn-ea"/>
        </a:defRPr>
      </a:lvl5pPr>
      <a:lvl6pPr marL="2616200" indent="-215900" algn="l" defTabSz="449263" rtl="0" eaLnBrk="1" fontAlgn="base" latinLnBrk="1" hangingPunct="1">
        <a:lnSpc>
          <a:spcPct val="96000"/>
        </a:lnSpc>
        <a:spcBef>
          <a:spcPct val="0"/>
        </a:spcBef>
        <a:spcAft>
          <a:spcPts val="288"/>
        </a:spcAft>
        <a:buClr>
          <a:srgbClr val="000000"/>
        </a:buClr>
        <a:buSzPct val="45000"/>
        <a:buFont typeface="Wingdings" charset="2"/>
        <a:buChar char=""/>
        <a:defRPr sz="2000">
          <a:solidFill>
            <a:srgbClr val="000000"/>
          </a:solidFill>
          <a:latin typeface="+mn-lt"/>
          <a:ea typeface="+mn-ea"/>
        </a:defRPr>
      </a:lvl6pPr>
      <a:lvl7pPr marL="3073400" indent="-215900" algn="l" defTabSz="449263" rtl="0" eaLnBrk="1" fontAlgn="base" latinLnBrk="1" hangingPunct="1">
        <a:lnSpc>
          <a:spcPct val="96000"/>
        </a:lnSpc>
        <a:spcBef>
          <a:spcPct val="0"/>
        </a:spcBef>
        <a:spcAft>
          <a:spcPts val="288"/>
        </a:spcAft>
        <a:buClr>
          <a:srgbClr val="000000"/>
        </a:buClr>
        <a:buSzPct val="45000"/>
        <a:buFont typeface="Wingdings" charset="2"/>
        <a:buChar char=""/>
        <a:defRPr sz="2000">
          <a:solidFill>
            <a:srgbClr val="000000"/>
          </a:solidFill>
          <a:latin typeface="+mn-lt"/>
          <a:ea typeface="+mn-ea"/>
        </a:defRPr>
      </a:lvl7pPr>
      <a:lvl8pPr marL="3530600" indent="-215900" algn="l" defTabSz="449263" rtl="0" eaLnBrk="1" fontAlgn="base" latinLnBrk="1" hangingPunct="1">
        <a:lnSpc>
          <a:spcPct val="96000"/>
        </a:lnSpc>
        <a:spcBef>
          <a:spcPct val="0"/>
        </a:spcBef>
        <a:spcAft>
          <a:spcPts val="288"/>
        </a:spcAft>
        <a:buClr>
          <a:srgbClr val="000000"/>
        </a:buClr>
        <a:buSzPct val="45000"/>
        <a:buFont typeface="Wingdings" charset="2"/>
        <a:buChar char=""/>
        <a:defRPr sz="2000">
          <a:solidFill>
            <a:srgbClr val="000000"/>
          </a:solidFill>
          <a:latin typeface="+mn-lt"/>
          <a:ea typeface="+mn-ea"/>
        </a:defRPr>
      </a:lvl8pPr>
      <a:lvl9pPr marL="3987800" indent="-215900" algn="l" defTabSz="449263" rtl="0" eaLnBrk="1" fontAlgn="base" latinLnBrk="1" hangingPunct="1">
        <a:lnSpc>
          <a:spcPct val="96000"/>
        </a:lnSpc>
        <a:spcBef>
          <a:spcPct val="0"/>
        </a:spcBef>
        <a:spcAft>
          <a:spcPts val="288"/>
        </a:spcAft>
        <a:buClr>
          <a:srgbClr val="000000"/>
        </a:buClr>
        <a:buSzPct val="45000"/>
        <a:buFont typeface="Wingdings" charset="2"/>
        <a:buChar char="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emf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5" y="-2"/>
            <a:ext cx="1011713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079872" y="1331565"/>
            <a:ext cx="8096025" cy="1510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800" b="1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Arial Unicode MS" panose="020B0604020202020204" pitchFamily="50" charset="-127"/>
              </a:rPr>
              <a:t>2014</a:t>
            </a:r>
            <a:r>
              <a:rPr lang="ko-KR" altLang="en-US" sz="4800" b="1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Arial Unicode MS" panose="020B0604020202020204" pitchFamily="50" charset="-127"/>
              </a:rPr>
              <a:t>년</a:t>
            </a:r>
            <a:endParaRPr lang="en-US" altLang="ko-KR" sz="4800" b="1" dirty="0" smtClean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Arial Unicode MS" panose="020B0604020202020204" pitchFamily="50" charset="-127"/>
            </a:endParaRPr>
          </a:p>
          <a:p>
            <a:pPr algn="ctr">
              <a:defRPr/>
            </a:pPr>
            <a:r>
              <a:rPr lang="ko-KR" altLang="en-US" sz="4800" b="1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Arial Unicode MS" panose="020B0604020202020204" pitchFamily="50" charset="-127"/>
              </a:rPr>
              <a:t>외환건전성 </a:t>
            </a:r>
            <a:r>
              <a:rPr lang="ko-KR" altLang="en-US" sz="4800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Arial Unicode MS" panose="020B0604020202020204" pitchFamily="50" charset="-127"/>
              </a:rPr>
              <a:t>업</a:t>
            </a:r>
            <a:r>
              <a:rPr lang="ko-KR" altLang="en-US" sz="4800" b="1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Arial Unicode MS" panose="020B0604020202020204" pitchFamily="50" charset="-127"/>
              </a:rPr>
              <a:t>무보고 설명회</a:t>
            </a:r>
            <a:endParaRPr lang="en-US" altLang="ko-KR" sz="4800" b="1" dirty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Arial Unicode MS" panose="020B0604020202020204" pitchFamily="50" charset="-127"/>
            </a:endParaRPr>
          </a:p>
        </p:txBody>
      </p:sp>
      <p:sp>
        <p:nvSpPr>
          <p:cNvPr id="4" name="AutoShape 8"/>
          <p:cNvSpPr>
            <a:spLocks noChangeArrowheads="1"/>
          </p:cNvSpPr>
          <p:nvPr/>
        </p:nvSpPr>
        <p:spPr bwMode="auto">
          <a:xfrm>
            <a:off x="4013994" y="3491705"/>
            <a:ext cx="2089150" cy="57626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2014.12</a:t>
            </a:r>
            <a:endParaRPr lang="en-US" altLang="ko-KR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345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1713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2" y="34152"/>
            <a:ext cx="10120313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4222393" y="544983"/>
            <a:ext cx="1325562" cy="784225"/>
            <a:chOff x="845" y="641"/>
            <a:chExt cx="957" cy="566"/>
          </a:xfrm>
        </p:grpSpPr>
        <p:pic>
          <p:nvPicPr>
            <p:cNvPr id="8" name="Picture 30" descr="07_01"/>
            <p:cNvPicPr>
              <a:picLocks noChangeAspect="1" noChangeArrowheads="1"/>
            </p:cNvPicPr>
            <p:nvPr/>
          </p:nvPicPr>
          <p:blipFill>
            <a:blip r:embed="rId5" cstate="print">
              <a:lum contrast="12000"/>
            </a:blip>
            <a:srcRect r="52534"/>
            <a:stretch>
              <a:fillRect/>
            </a:stretch>
          </p:blipFill>
          <p:spPr bwMode="auto">
            <a:xfrm>
              <a:off x="845" y="641"/>
              <a:ext cx="337" cy="5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31" descr="07_01"/>
            <p:cNvPicPr>
              <a:picLocks noChangeAspect="1" noChangeArrowheads="1"/>
            </p:cNvPicPr>
            <p:nvPr/>
          </p:nvPicPr>
          <p:blipFill>
            <a:blip r:embed="rId5" cstate="print">
              <a:lum contrast="12000"/>
            </a:blip>
            <a:srcRect l="47464"/>
            <a:stretch>
              <a:fillRect/>
            </a:stretch>
          </p:blipFill>
          <p:spPr bwMode="auto">
            <a:xfrm>
              <a:off x="1429" y="641"/>
              <a:ext cx="373" cy="5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8" name="그룹 69"/>
          <p:cNvGrpSpPr>
            <a:grpSpLocks/>
          </p:cNvGrpSpPr>
          <p:nvPr/>
        </p:nvGrpSpPr>
        <p:grpSpPr bwMode="auto">
          <a:xfrm>
            <a:off x="1395685" y="4006501"/>
            <a:ext cx="7500937" cy="714375"/>
            <a:chOff x="1643042" y="5572141"/>
            <a:chExt cx="7500958" cy="714379"/>
          </a:xfrm>
        </p:grpSpPr>
        <p:pic>
          <p:nvPicPr>
            <p:cNvPr id="59" name="그림 47" descr="02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987824" y="5572141"/>
              <a:ext cx="6156176" cy="6929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0" name="그림 48" descr="01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643042" y="5572141"/>
              <a:ext cx="1000132" cy="714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" name="TextBox 3"/>
            <p:cNvSpPr txBox="1">
              <a:spLocks noChangeArrowheads="1"/>
            </p:cNvSpPr>
            <p:nvPr/>
          </p:nvSpPr>
          <p:spPr bwMode="auto">
            <a:xfrm>
              <a:off x="3199441" y="5672153"/>
              <a:ext cx="5549022" cy="5746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0913" tIns="50457" rIns="100913" bIns="50457">
              <a:spAutoFit/>
            </a:bodyPr>
            <a:lstStyle/>
            <a:p>
              <a:pPr>
                <a:defRPr/>
              </a:pPr>
              <a:r>
                <a:rPr lang="ko-KR" altLang="en-US" sz="3200" spc="300" dirty="0">
                  <a:solidFill>
                    <a:srgbClr val="283C5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3200" spc="300" dirty="0" smtClean="0">
                  <a:solidFill>
                    <a:srgbClr val="283C5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외국환포지션 한도 관리</a:t>
              </a:r>
              <a:endParaRPr lang="ko-KR" altLang="en-US" sz="3200" spc="300" dirty="0">
                <a:solidFill>
                  <a:srgbClr val="283C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2" name="TextBox 3"/>
            <p:cNvSpPr txBox="1">
              <a:spLocks noChangeArrowheads="1"/>
            </p:cNvSpPr>
            <p:nvPr/>
          </p:nvSpPr>
          <p:spPr bwMode="auto">
            <a:xfrm>
              <a:off x="1857355" y="5621354"/>
              <a:ext cx="469255" cy="5746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>
                  <a:solidFill>
                    <a:srgbClr val="283C5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III</a:t>
              </a:r>
            </a:p>
          </p:txBody>
        </p:sp>
      </p:grpSp>
      <p:grpSp>
        <p:nvGrpSpPr>
          <p:cNvPr id="63" name="그룹 63"/>
          <p:cNvGrpSpPr>
            <a:grpSpLocks/>
          </p:cNvGrpSpPr>
          <p:nvPr/>
        </p:nvGrpSpPr>
        <p:grpSpPr bwMode="auto">
          <a:xfrm>
            <a:off x="2073026" y="2037125"/>
            <a:ext cx="7215758" cy="714375"/>
            <a:chOff x="2571750" y="1800991"/>
            <a:chExt cx="6572250" cy="714375"/>
          </a:xfrm>
        </p:grpSpPr>
        <p:grpSp>
          <p:nvGrpSpPr>
            <p:cNvPr id="64" name="그룹 38"/>
            <p:cNvGrpSpPr>
              <a:grpSpLocks/>
            </p:cNvGrpSpPr>
            <p:nvPr/>
          </p:nvGrpSpPr>
          <p:grpSpPr bwMode="auto">
            <a:xfrm>
              <a:off x="2571750" y="1800991"/>
              <a:ext cx="6572250" cy="714375"/>
              <a:chOff x="2928926" y="2418131"/>
              <a:chExt cx="6572232" cy="714379"/>
            </a:xfrm>
          </p:grpSpPr>
          <p:grpSp>
            <p:nvGrpSpPr>
              <p:cNvPr id="67" name="그룹 34"/>
              <p:cNvGrpSpPr>
                <a:grpSpLocks/>
              </p:cNvGrpSpPr>
              <p:nvPr/>
            </p:nvGrpSpPr>
            <p:grpSpPr bwMode="auto">
              <a:xfrm>
                <a:off x="4071966" y="2428868"/>
                <a:ext cx="5429192" cy="692904"/>
                <a:chOff x="4071966" y="1521651"/>
                <a:chExt cx="5429192" cy="692904"/>
              </a:xfrm>
            </p:grpSpPr>
            <p:pic>
              <p:nvPicPr>
                <p:cNvPr id="71" name="그림 43" descr="02.png"/>
                <p:cNvPicPr>
                  <a:picLocks noChangeAspect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4071966" y="1521651"/>
                  <a:ext cx="5429192" cy="69290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72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4257660" y="1633153"/>
                  <a:ext cx="4886311" cy="57466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100913" tIns="50457" rIns="100913" bIns="50457">
                  <a:spAutoFit/>
                </a:bodyPr>
                <a:lstStyle/>
                <a:p>
                  <a:pPr>
                    <a:defRPr/>
                  </a:pPr>
                  <a:endParaRPr lang="ko-KR" altLang="en-US" sz="3200" spc="300" dirty="0">
                    <a:solidFill>
                      <a:srgbClr val="283C54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</p:grpSp>
          <p:grpSp>
            <p:nvGrpSpPr>
              <p:cNvPr id="68" name="그룹 37"/>
              <p:cNvGrpSpPr>
                <a:grpSpLocks/>
              </p:cNvGrpSpPr>
              <p:nvPr/>
            </p:nvGrpSpPr>
            <p:grpSpPr bwMode="auto">
              <a:xfrm>
                <a:off x="2928926" y="2418131"/>
                <a:ext cx="1000132" cy="714379"/>
                <a:chOff x="2786050" y="1500175"/>
                <a:chExt cx="1214446" cy="727550"/>
              </a:xfrm>
            </p:grpSpPr>
            <p:pic>
              <p:nvPicPr>
                <p:cNvPr id="69" name="그림 41" descr="01.png"/>
                <p:cNvPicPr>
                  <a:picLocks noChangeAspect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2786050" y="1500175"/>
                  <a:ext cx="1214446" cy="7275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70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3144597" y="1551912"/>
                  <a:ext cx="246742" cy="604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100913" tIns="50457" rIns="100913" bIns="50457">
                  <a:spAutoFit/>
                </a:bodyPr>
                <a:lstStyle/>
                <a:p>
                  <a:pPr>
                    <a:defRPr/>
                  </a:pPr>
                  <a:endParaRPr lang="en-US" altLang="ko-KR" sz="3200" spc="-110" dirty="0">
                    <a:solidFill>
                      <a:srgbClr val="283C54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</p:grpSp>
        </p:grpSp>
        <p:sp>
          <p:nvSpPr>
            <p:cNvPr id="65" name="TextBox 3"/>
            <p:cNvSpPr txBox="1">
              <a:spLocks noChangeArrowheads="1"/>
            </p:cNvSpPr>
            <p:nvPr/>
          </p:nvSpPr>
          <p:spPr bwMode="auto">
            <a:xfrm>
              <a:off x="2913063" y="1845441"/>
              <a:ext cx="283227" cy="574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>
                  <a:solidFill>
                    <a:srgbClr val="283C5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I</a:t>
              </a:r>
            </a:p>
          </p:txBody>
        </p:sp>
        <p:sp>
          <p:nvSpPr>
            <p:cNvPr id="66" name="TextBox 3"/>
            <p:cNvSpPr txBox="1">
              <a:spLocks noChangeArrowheads="1"/>
            </p:cNvSpPr>
            <p:nvPr/>
          </p:nvSpPr>
          <p:spPr bwMode="auto">
            <a:xfrm>
              <a:off x="3962686" y="1872429"/>
              <a:ext cx="5028536" cy="574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0913" tIns="50457" rIns="100913" bIns="50457">
              <a:spAutoFit/>
            </a:bodyPr>
            <a:lstStyle/>
            <a:p>
              <a:pPr>
                <a:defRPr/>
              </a:pPr>
              <a:r>
                <a:rPr lang="ko-KR" altLang="en-US" sz="3200" spc="300" dirty="0">
                  <a:solidFill>
                    <a:srgbClr val="283C5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3200" spc="300" dirty="0" smtClean="0">
                  <a:solidFill>
                    <a:srgbClr val="283C5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외국환포지션 한도제도</a:t>
              </a:r>
              <a:endParaRPr lang="ko-KR" altLang="en-US" sz="3200" spc="300" dirty="0">
                <a:solidFill>
                  <a:srgbClr val="283C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73" name="그룹 65"/>
          <p:cNvGrpSpPr>
            <a:grpSpLocks/>
          </p:cNvGrpSpPr>
          <p:nvPr/>
        </p:nvGrpSpPr>
        <p:grpSpPr bwMode="auto">
          <a:xfrm>
            <a:off x="1754222" y="3034003"/>
            <a:ext cx="7142400" cy="714375"/>
            <a:chOff x="2000250" y="2857496"/>
            <a:chExt cx="7143750" cy="714375"/>
          </a:xfrm>
        </p:grpSpPr>
        <p:grpSp>
          <p:nvGrpSpPr>
            <p:cNvPr id="74" name="그룹 45"/>
            <p:cNvGrpSpPr>
              <a:grpSpLocks/>
            </p:cNvGrpSpPr>
            <p:nvPr/>
          </p:nvGrpSpPr>
          <p:grpSpPr bwMode="auto">
            <a:xfrm>
              <a:off x="2000250" y="2857496"/>
              <a:ext cx="7143750" cy="714375"/>
              <a:chOff x="2928926" y="3418263"/>
              <a:chExt cx="7143736" cy="714379"/>
            </a:xfrm>
          </p:grpSpPr>
          <p:grpSp>
            <p:nvGrpSpPr>
              <p:cNvPr id="76" name="그룹 40"/>
              <p:cNvGrpSpPr>
                <a:grpSpLocks/>
              </p:cNvGrpSpPr>
              <p:nvPr/>
            </p:nvGrpSpPr>
            <p:grpSpPr bwMode="auto">
              <a:xfrm>
                <a:off x="4071966" y="3429000"/>
                <a:ext cx="6000696" cy="692904"/>
                <a:chOff x="4071966" y="1521651"/>
                <a:chExt cx="6000696" cy="692904"/>
              </a:xfrm>
            </p:grpSpPr>
            <p:pic>
              <p:nvPicPr>
                <p:cNvPr id="80" name="그림 50" descr="02.png"/>
                <p:cNvPicPr>
                  <a:picLocks noChangeAspect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4071966" y="1521651"/>
                  <a:ext cx="6000696" cy="69290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1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4257662" y="1633153"/>
                  <a:ext cx="4886315" cy="57466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100913" tIns="50457" rIns="100913" bIns="50457">
                  <a:spAutoFit/>
                </a:bodyPr>
                <a:lstStyle/>
                <a:p>
                  <a:pPr>
                    <a:defRPr/>
                  </a:pPr>
                  <a:endParaRPr lang="ko-KR" altLang="en-US" sz="3200" spc="300" dirty="0">
                    <a:solidFill>
                      <a:srgbClr val="283C54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</p:grpSp>
          <p:grpSp>
            <p:nvGrpSpPr>
              <p:cNvPr id="77" name="그룹 43"/>
              <p:cNvGrpSpPr>
                <a:grpSpLocks/>
              </p:cNvGrpSpPr>
              <p:nvPr/>
            </p:nvGrpSpPr>
            <p:grpSpPr bwMode="auto">
              <a:xfrm>
                <a:off x="2928926" y="3418263"/>
                <a:ext cx="1000132" cy="714379"/>
                <a:chOff x="4173988" y="1500175"/>
                <a:chExt cx="1214446" cy="727550"/>
              </a:xfrm>
            </p:grpSpPr>
            <p:pic>
              <p:nvPicPr>
                <p:cNvPr id="78" name="그림 48" descr="01.png"/>
                <p:cNvPicPr>
                  <a:picLocks noChangeAspect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4173988" y="1500175"/>
                  <a:ext cx="1214446" cy="7275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79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4515187" y="1551912"/>
                  <a:ext cx="462448" cy="5852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100913" tIns="50457" rIns="100913" bIns="50457">
                  <a:spAutoFit/>
                </a:bodyPr>
                <a:lstStyle/>
                <a:p>
                  <a:pPr>
                    <a:defRPr/>
                  </a:pPr>
                  <a:r>
                    <a:rPr lang="en-US" altLang="ko-KR" sz="3200" spc="-110" dirty="0">
                      <a:solidFill>
                        <a:srgbClr val="283C54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II</a:t>
                  </a:r>
                </a:p>
              </p:txBody>
            </p:sp>
          </p:grpSp>
        </p:grpSp>
        <p:sp>
          <p:nvSpPr>
            <p:cNvPr id="75" name="TextBox 3"/>
            <p:cNvSpPr txBox="1">
              <a:spLocks noChangeArrowheads="1"/>
            </p:cNvSpPr>
            <p:nvPr/>
          </p:nvSpPr>
          <p:spPr bwMode="auto">
            <a:xfrm>
              <a:off x="3343957" y="2957509"/>
              <a:ext cx="5384853" cy="574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0913" tIns="50457" rIns="100913" bIns="50457">
              <a:spAutoFit/>
            </a:bodyPr>
            <a:lstStyle/>
            <a:p>
              <a:pPr>
                <a:defRPr/>
              </a:pPr>
              <a:r>
                <a:rPr lang="ko-KR" altLang="en-US" sz="3200" spc="300" dirty="0">
                  <a:solidFill>
                    <a:srgbClr val="283C5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3200" spc="300" dirty="0" smtClean="0">
                  <a:solidFill>
                    <a:srgbClr val="283C5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외국환포지션 세부내용</a:t>
              </a:r>
              <a:endParaRPr lang="ko-KR" altLang="en-US" sz="3200" spc="300" dirty="0">
                <a:solidFill>
                  <a:srgbClr val="283C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82" name="그룹 56"/>
          <p:cNvGrpSpPr/>
          <p:nvPr/>
        </p:nvGrpSpPr>
        <p:grpSpPr>
          <a:xfrm>
            <a:off x="1044297" y="5032277"/>
            <a:ext cx="7862400" cy="714379"/>
            <a:chOff x="1500166" y="5286388"/>
            <a:chExt cx="7643834" cy="714379"/>
          </a:xfrm>
        </p:grpSpPr>
        <p:grpSp>
          <p:nvGrpSpPr>
            <p:cNvPr id="83" name="그룹 46"/>
            <p:cNvGrpSpPr/>
            <p:nvPr/>
          </p:nvGrpSpPr>
          <p:grpSpPr>
            <a:xfrm>
              <a:off x="2643206" y="5297125"/>
              <a:ext cx="6500794" cy="692904"/>
              <a:chOff x="4071966" y="1521651"/>
              <a:chExt cx="6322649" cy="692904"/>
            </a:xfrm>
          </p:grpSpPr>
          <p:pic>
            <p:nvPicPr>
              <p:cNvPr id="87" name="그림 86" descr="02.png"/>
              <p:cNvPicPr>
                <a:picLocks noChangeAspect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071966" y="1521651"/>
                <a:ext cx="6322649" cy="6929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8" name="TextBox 3"/>
              <p:cNvSpPr txBox="1">
                <a:spLocks noChangeArrowheads="1"/>
              </p:cNvSpPr>
              <p:nvPr/>
            </p:nvSpPr>
            <p:spPr bwMode="auto">
              <a:xfrm>
                <a:off x="4561843" y="1632488"/>
                <a:ext cx="5295043" cy="5746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ko-KR" altLang="en-US" sz="3200" spc="300" dirty="0" smtClean="0">
                    <a:solidFill>
                      <a:srgbClr val="283C54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외국환포지션의 보고</a:t>
                </a:r>
                <a:endParaRPr lang="ko-KR" altLang="en-US" sz="3200" spc="300" dirty="0">
                  <a:solidFill>
                    <a:srgbClr val="283C5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grpSp>
          <p:nvGrpSpPr>
            <p:cNvPr id="84" name="그룹 49"/>
            <p:cNvGrpSpPr/>
            <p:nvPr/>
          </p:nvGrpSpPr>
          <p:grpSpPr>
            <a:xfrm>
              <a:off x="1500166" y="5286388"/>
              <a:ext cx="1000132" cy="714379"/>
              <a:chOff x="5561926" y="-744298"/>
              <a:chExt cx="1214446" cy="727550"/>
            </a:xfrm>
          </p:grpSpPr>
          <p:pic>
            <p:nvPicPr>
              <p:cNvPr id="85" name="그림 84" descr="01.png"/>
              <p:cNvPicPr>
                <a:picLocks noChangeAspect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561926" y="-744298"/>
                <a:ext cx="1214446" cy="727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6" name="TextBox 3"/>
              <p:cNvSpPr txBox="1">
                <a:spLocks noChangeArrowheads="1"/>
              </p:cNvSpPr>
              <p:nvPr/>
            </p:nvSpPr>
            <p:spPr bwMode="auto">
              <a:xfrm>
                <a:off x="5838698" y="-684789"/>
                <a:ext cx="623609" cy="5852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en-US" altLang="ko-KR" sz="3200" b="1" spc="-110" dirty="0" smtClean="0">
                    <a:solidFill>
                      <a:srgbClr val="283C54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IV</a:t>
                </a:r>
                <a:endParaRPr lang="en-US" altLang="ko-KR" sz="3200" b="1" spc="-110" dirty="0">
                  <a:solidFill>
                    <a:srgbClr val="283C5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</p:grpSp>
      <p:grpSp>
        <p:nvGrpSpPr>
          <p:cNvPr id="89" name="그룹 56"/>
          <p:cNvGrpSpPr/>
          <p:nvPr/>
        </p:nvGrpSpPr>
        <p:grpSpPr>
          <a:xfrm>
            <a:off x="641261" y="5997346"/>
            <a:ext cx="8222400" cy="714379"/>
            <a:chOff x="1500166" y="5286388"/>
            <a:chExt cx="7643834" cy="714379"/>
          </a:xfrm>
        </p:grpSpPr>
        <p:grpSp>
          <p:nvGrpSpPr>
            <p:cNvPr id="90" name="그룹 46"/>
            <p:cNvGrpSpPr/>
            <p:nvPr/>
          </p:nvGrpSpPr>
          <p:grpSpPr>
            <a:xfrm>
              <a:off x="2643206" y="5297125"/>
              <a:ext cx="6500794" cy="692904"/>
              <a:chOff x="4071966" y="1521651"/>
              <a:chExt cx="6322649" cy="692904"/>
            </a:xfrm>
          </p:grpSpPr>
          <p:pic>
            <p:nvPicPr>
              <p:cNvPr id="94" name="그림 93" descr="02.png"/>
              <p:cNvPicPr>
                <a:picLocks noChangeAspect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071966" y="1521651"/>
                <a:ext cx="6322649" cy="6929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5" name="TextBox 3"/>
              <p:cNvSpPr txBox="1">
                <a:spLocks noChangeArrowheads="1"/>
              </p:cNvSpPr>
              <p:nvPr/>
            </p:nvSpPr>
            <p:spPr bwMode="auto">
              <a:xfrm>
                <a:off x="4649059" y="1632488"/>
                <a:ext cx="4886973" cy="5746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ko-KR" altLang="en-US" sz="3200" spc="300" dirty="0" smtClean="0">
                    <a:solidFill>
                      <a:srgbClr val="283C54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질의응답</a:t>
                </a:r>
                <a:endParaRPr lang="ko-KR" altLang="en-US" sz="3200" spc="300" dirty="0">
                  <a:solidFill>
                    <a:srgbClr val="283C5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grpSp>
          <p:nvGrpSpPr>
            <p:cNvPr id="91" name="그룹 49"/>
            <p:cNvGrpSpPr/>
            <p:nvPr/>
          </p:nvGrpSpPr>
          <p:grpSpPr>
            <a:xfrm>
              <a:off x="1500166" y="5286388"/>
              <a:ext cx="1000132" cy="714379"/>
              <a:chOff x="5561926" y="-744298"/>
              <a:chExt cx="1214446" cy="727550"/>
            </a:xfrm>
          </p:grpSpPr>
          <p:pic>
            <p:nvPicPr>
              <p:cNvPr id="92" name="그림 91" descr="01.png"/>
              <p:cNvPicPr>
                <a:picLocks noChangeAspect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561926" y="-744298"/>
                <a:ext cx="1214446" cy="727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3" name="TextBox 3"/>
              <p:cNvSpPr txBox="1">
                <a:spLocks noChangeArrowheads="1"/>
              </p:cNvSpPr>
              <p:nvPr/>
            </p:nvSpPr>
            <p:spPr bwMode="auto">
              <a:xfrm>
                <a:off x="5902295" y="-684789"/>
                <a:ext cx="498228" cy="605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en-US" altLang="ko-KR" sz="3200" b="1" spc="-110" dirty="0" smtClean="0">
                    <a:solidFill>
                      <a:srgbClr val="283C54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V</a:t>
                </a:r>
                <a:endParaRPr lang="en-US" altLang="ko-KR" sz="3200" b="1" spc="-110" dirty="0">
                  <a:solidFill>
                    <a:srgbClr val="283C5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1843124" y="4762677"/>
            <a:ext cx="354012" cy="5000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/>
          <a:lstStyle/>
          <a:p>
            <a:pPr algn="ctr">
              <a:defRPr/>
            </a:pPr>
            <a:r>
              <a:rPr lang="en-US" altLang="ko-KR" sz="4400" dirty="0" smtClean="0">
                <a:solidFill>
                  <a:srgbClr val="FFFF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Ⅰ</a:t>
            </a:r>
            <a:endParaRPr lang="en-US" altLang="ko-KR" sz="4400" dirty="0">
              <a:solidFill>
                <a:srgbClr val="FFFF99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93800" y="4671076"/>
            <a:ext cx="5544616" cy="624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rgbClr val="2B435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외국환포지션 한도제도</a:t>
            </a:r>
            <a:endParaRPr lang="ko-KR" altLang="en-US" sz="3600" dirty="0">
              <a:solidFill>
                <a:srgbClr val="2B435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 bwMode="auto">
          <a:xfrm>
            <a:off x="1266937" y="4549870"/>
            <a:ext cx="7704856" cy="990641"/>
          </a:xfrm>
          <a:prstGeom prst="roundRect">
            <a:avLst>
              <a:gd name="adj" fmla="val 46013"/>
            </a:avLst>
          </a:prstGeom>
          <a:gradFill flip="none" rotWithShape="1">
            <a:gsLst>
              <a:gs pos="0">
                <a:srgbClr val="21A7B5"/>
              </a:gs>
              <a:gs pos="12000">
                <a:srgbClr val="2DACB9"/>
              </a:gs>
              <a:gs pos="23000">
                <a:schemeClr val="bg1"/>
              </a:gs>
              <a:gs pos="0">
                <a:srgbClr val="33CCFF">
                  <a:gamma/>
                  <a:shade val="45882"/>
                  <a:invGamma/>
                </a:srgb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449263" rtl="0" eaLnBrk="1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kumimoji="0" lang="en-US" altLang="ko-KR" sz="1800" b="0" i="0" u="none" strike="noStrike" cap="none" normalizeH="0" baseline="0" dirty="0" smtClean="0">
                <a:ln>
                  <a:noFill/>
                </a:ln>
                <a:effectLst/>
                <a:latin typeface="Arial" charset="0"/>
                <a:ea typeface="굴림" charset="-127"/>
              </a:rPr>
              <a:t>                        </a:t>
            </a:r>
            <a:endParaRPr kumimoji="0" lang="ko-KR" altLang="en-US" sz="1800" b="0" i="0" u="none" strike="noStrike" cap="none" normalizeH="0" baseline="0" dirty="0" smtClean="0">
              <a:ln>
                <a:noFill/>
              </a:ln>
              <a:effectLst/>
              <a:latin typeface="Arial" charset="0"/>
              <a:ea typeface="굴림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-13732" y="14935"/>
            <a:ext cx="10144601" cy="7559675"/>
            <a:chOff x="17458" y="0"/>
            <a:chExt cx="10144601" cy="7559675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58" y="0"/>
              <a:ext cx="10144601" cy="7559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B8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모서리가 둥근 직사각형 2"/>
            <p:cNvSpPr/>
            <p:nvPr/>
          </p:nvSpPr>
          <p:spPr bwMode="auto">
            <a:xfrm>
              <a:off x="1266937" y="3284516"/>
              <a:ext cx="7704856" cy="990641"/>
            </a:xfrm>
            <a:prstGeom prst="roundRect">
              <a:avLst>
                <a:gd name="adj" fmla="val 46013"/>
              </a:avLst>
            </a:prstGeom>
            <a:gradFill flip="none" rotWithShape="1">
              <a:gsLst>
                <a:gs pos="0">
                  <a:srgbClr val="21A7B5"/>
                </a:gs>
                <a:gs pos="12000">
                  <a:srgbClr val="2DACB9"/>
                </a:gs>
                <a:gs pos="23000">
                  <a:schemeClr val="bg1"/>
                </a:gs>
                <a:gs pos="0">
                  <a:srgbClr val="33CCFF">
                    <a:gamma/>
                    <a:shade val="45882"/>
                    <a:invGamma/>
                  </a:srgbClr>
                </a:gs>
              </a:gsLst>
              <a:lin ang="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449263" rtl="0" eaLnBrk="1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2"/>
                <a:buNone/>
                <a:tabLst/>
              </a:pPr>
              <a:r>
                <a:rPr kumimoji="0" lang="en-US" altLang="ko-KR" sz="1800" b="0" i="0" u="none" strike="noStrike" cap="none" normalizeH="0" baseline="0" dirty="0" smtClean="0">
                  <a:ln>
                    <a:noFill/>
                  </a:ln>
                  <a:effectLst/>
                  <a:latin typeface="Arial" charset="0"/>
                  <a:ea typeface="굴림" charset="-127"/>
                </a:rPr>
                <a:t>                        </a:t>
              </a:r>
              <a:endParaRPr kumimoji="0" lang="ko-KR" altLang="en-US" sz="1800" b="0" i="0" u="none" strike="noStrike" cap="none" normalizeH="0" baseline="0" dirty="0" smtClean="0">
                <a:ln>
                  <a:noFill/>
                </a:ln>
                <a:effectLst/>
                <a:latin typeface="Arial" charset="0"/>
                <a:ea typeface="굴림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93800" y="3467764"/>
              <a:ext cx="5616624" cy="6241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dirty="0" smtClean="0">
                  <a:solidFill>
                    <a:srgbClr val="2B435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외국환포지션 한도제도</a:t>
              </a:r>
              <a:endParaRPr lang="ko-KR" altLang="en-US" sz="3600" dirty="0">
                <a:solidFill>
                  <a:srgbClr val="2B435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1792134" y="3376164"/>
              <a:ext cx="644595" cy="80734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40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Ⅰ</a:t>
              </a:r>
              <a:endParaRPr lang="en-US" altLang="ko-KR" sz="40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586887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52949"/>
            <a:ext cx="10085388" cy="755967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254" y="323453"/>
            <a:ext cx="8533208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defRPr sz="3200" b="1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외국환포지션 한도 제도 개괄</a:t>
            </a:r>
          </a:p>
        </p:txBody>
      </p:sp>
      <p:grpSp>
        <p:nvGrpSpPr>
          <p:cNvPr id="9" name="그룹 7"/>
          <p:cNvGrpSpPr>
            <a:grpSpLocks noChangeAspect="1"/>
          </p:cNvGrpSpPr>
          <p:nvPr/>
        </p:nvGrpSpPr>
        <p:grpSpPr>
          <a:xfrm>
            <a:off x="542279" y="1691605"/>
            <a:ext cx="9322569" cy="633336"/>
            <a:chOff x="354110" y="3261640"/>
            <a:chExt cx="7861229" cy="951684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1778962" y="3261640"/>
              <a:ext cx="6436377" cy="942214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40000">
                  <a:srgbClr val="E4EDF0"/>
                </a:gs>
                <a:gs pos="100000">
                  <a:srgbClr val="CBDDE3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 외국환거래규정 제</a:t>
              </a: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2-9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조의 </a:t>
              </a: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2</a:t>
              </a: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354110" y="3267750"/>
              <a:ext cx="1303411" cy="945574"/>
            </a:xfrm>
            <a:prstGeom prst="roundRect">
              <a:avLst/>
            </a:prstGeom>
            <a:solidFill>
              <a:srgbClr val="21A7B5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algn="ctr" defTabSz="91440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ko-KR" altLang="en-US" sz="2400" b="1" kern="0" spc="-150" dirty="0" smtClean="0">
                  <a:solidFill>
                    <a:sysClr val="window" lastClr="FFFFFF"/>
                  </a:solidFill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관련법령</a:t>
              </a:r>
              <a:endParaRPr lang="ko-KR" altLang="en-US" sz="2400" b="1" kern="0" spc="-150" dirty="0">
                <a:solidFill>
                  <a:sysClr val="window" lastClr="FFFFFF"/>
                </a:solidFill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18" name="그룹 16"/>
          <p:cNvGrpSpPr>
            <a:grpSpLocks noChangeAspect="1"/>
          </p:cNvGrpSpPr>
          <p:nvPr/>
        </p:nvGrpSpPr>
        <p:grpSpPr>
          <a:xfrm>
            <a:off x="542279" y="2699717"/>
            <a:ext cx="9322568" cy="4104456"/>
            <a:chOff x="354111" y="3189816"/>
            <a:chExt cx="7861229" cy="1023506"/>
          </a:xfrm>
          <a:gradFill flip="none" rotWithShape="1">
            <a:gsLst>
              <a:gs pos="0">
                <a:schemeClr val="bg1"/>
              </a:gs>
              <a:gs pos="40000">
                <a:schemeClr val="bg1">
                  <a:lumMod val="75000"/>
                </a:schemeClr>
              </a:gs>
              <a:gs pos="100000">
                <a:srgbClr val="060E58"/>
              </a:gs>
            </a:gsLst>
            <a:path path="rect">
              <a:fillToRect l="100000" t="100000"/>
            </a:path>
            <a:tileRect r="-100000" b="-100000"/>
          </a:gradFill>
        </p:grpSpPr>
        <p:sp>
          <p:nvSpPr>
            <p:cNvPr id="19" name="모서리가 둥근 직사각형 18"/>
            <p:cNvSpPr/>
            <p:nvPr/>
          </p:nvSpPr>
          <p:spPr>
            <a:xfrm>
              <a:off x="1778963" y="3189816"/>
              <a:ext cx="6436377" cy="377081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40000">
                  <a:srgbClr val="E4EDF0"/>
                </a:gs>
                <a:gs pos="100000">
                  <a:srgbClr val="CBDDE3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&lt;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종합포지션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&gt;</a:t>
              </a:r>
              <a:endParaRPr lang="en-US" altLang="ko-KR" sz="2400" kern="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endParaRPr lang="en-US" altLang="ko-KR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  </a:t>
              </a:r>
              <a:r>
                <a:rPr lang="ko-KR" altLang="en-US" sz="2400" kern="0" dirty="0" err="1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전월말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자기자본의 </a:t>
              </a: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50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%</a:t>
              </a:r>
              <a:endPara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20" name="모서리가 둥근 직사각형 19"/>
            <p:cNvSpPr/>
            <p:nvPr/>
          </p:nvSpPr>
          <p:spPr>
            <a:xfrm>
              <a:off x="354111" y="3189816"/>
              <a:ext cx="1303412" cy="1023506"/>
            </a:xfrm>
            <a:prstGeom prst="roundRect">
              <a:avLst/>
            </a:prstGeom>
            <a:solidFill>
              <a:srgbClr val="21A7B5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ko-KR" altLang="en-US" sz="24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한      도</a:t>
              </a:r>
              <a:endParaRPr kumimoji="0" lang="ko-KR" altLang="en-US" sz="24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1778963" y="3620766"/>
              <a:ext cx="6436377" cy="592556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40000">
                  <a:srgbClr val="E4EDF0"/>
                </a:gs>
                <a:gs pos="100000">
                  <a:srgbClr val="CBDDE3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&lt;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선물환포지션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&gt;</a:t>
              </a:r>
              <a:endPara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endParaRPr lang="en-US" altLang="ko-KR" sz="20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  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국내은행의 경우 </a:t>
              </a:r>
              <a:r>
                <a:rPr lang="ko-KR" altLang="en-US" sz="2400" kern="0" dirty="0" err="1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전월말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자기자본의 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30%</a:t>
              </a:r>
            </a:p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endParaRPr lang="en-US" altLang="ko-KR" sz="11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  </a:t>
              </a:r>
              <a:r>
                <a:rPr lang="ko-KR" altLang="en-US" sz="2400" kern="0" dirty="0" err="1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외은지점의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경우 </a:t>
              </a:r>
              <a:r>
                <a:rPr lang="ko-KR" altLang="en-US" sz="2400" kern="0" dirty="0" err="1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전월말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자기자본의 </a:t>
              </a: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150%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44729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1687"/>
            <a:ext cx="1008538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254" y="323453"/>
            <a:ext cx="8533208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200" b="1" dirty="0" smtClean="0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외국환포지션 한도 제도 개괄</a:t>
            </a:r>
            <a:endParaRPr lang="ko-KR" altLang="en-US" sz="3200" b="1" dirty="0">
              <a:ln w="1905"/>
              <a:solidFill>
                <a:srgbClr val="2B435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1" name="그룹 4"/>
          <p:cNvGrpSpPr>
            <a:grpSpLocks noChangeAspect="1"/>
          </p:cNvGrpSpPr>
          <p:nvPr/>
        </p:nvGrpSpPr>
        <p:grpSpPr>
          <a:xfrm>
            <a:off x="533254" y="4787949"/>
            <a:ext cx="9285221" cy="2143982"/>
            <a:chOff x="354110" y="3261639"/>
            <a:chExt cx="7861229" cy="951685"/>
          </a:xfrm>
        </p:grpSpPr>
        <p:sp>
          <p:nvSpPr>
            <p:cNvPr id="22" name="모서리가 둥근 직사각형 5"/>
            <p:cNvSpPr/>
            <p:nvPr/>
          </p:nvSpPr>
          <p:spPr>
            <a:xfrm>
              <a:off x="2000232" y="3261639"/>
              <a:ext cx="6215107" cy="942213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40000">
                  <a:srgbClr val="E4EDF0"/>
                </a:gs>
                <a:gs pos="100000">
                  <a:srgbClr val="CBDDE3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FX4441 (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종합 포지션상황보고서</a:t>
              </a: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FX4442 (</a:t>
              </a:r>
              <a:r>
                <a:rPr lang="ko-KR" altLang="en-US" sz="2400" kern="0" dirty="0" err="1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통화별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포지션상황</a:t>
              </a: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FX4444 (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외화자산</a:t>
              </a: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·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부채 현황 월보</a:t>
              </a: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FX4450 (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선물환 포지션상황보고서</a:t>
              </a: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  <a:endPara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23" name="모서리가 둥근 직사각형 6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solidFill>
              <a:srgbClr val="21A7B5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보고서명</a:t>
              </a:r>
              <a:endParaRPr kumimoji="0" lang="ko-KR" altLang="en-US" sz="24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24" name="그룹 10"/>
          <p:cNvGrpSpPr>
            <a:grpSpLocks noChangeAspect="1"/>
          </p:cNvGrpSpPr>
          <p:nvPr/>
        </p:nvGrpSpPr>
        <p:grpSpPr>
          <a:xfrm>
            <a:off x="507619" y="1691605"/>
            <a:ext cx="9285221" cy="1167708"/>
            <a:chOff x="354110" y="3261640"/>
            <a:chExt cx="7861229" cy="951684"/>
          </a:xfrm>
        </p:grpSpPr>
        <p:sp>
          <p:nvSpPr>
            <p:cNvPr id="25" name="모서리가 둥근 직사각형 24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40000">
                  <a:srgbClr val="E4EDF0"/>
                </a:gs>
                <a:gs pos="100000">
                  <a:srgbClr val="CBDDE3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한국은행</a:t>
              </a:r>
            </a:p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한은 외환전산망을 통해 보고</a:t>
              </a:r>
              <a:endPara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26" name="모서리가 둥근 직사각형 25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solidFill>
              <a:srgbClr val="21A7B5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00" b="1" kern="0" spc="-150" dirty="0" smtClean="0">
                  <a:solidFill>
                    <a:sysClr val="window" lastClr="FFFFFF"/>
                  </a:solidFill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보고대상</a:t>
              </a:r>
              <a:endParaRPr lang="ko-KR" altLang="en-US" sz="2400" b="1" kern="0" spc="-150" dirty="0">
                <a:solidFill>
                  <a:sysClr val="window" lastClr="FFFFFF"/>
                </a:solidFill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27" name="그룹 13"/>
          <p:cNvGrpSpPr>
            <a:grpSpLocks noChangeAspect="1"/>
          </p:cNvGrpSpPr>
          <p:nvPr/>
        </p:nvGrpSpPr>
        <p:grpSpPr>
          <a:xfrm>
            <a:off x="537789" y="3275783"/>
            <a:ext cx="9285221" cy="998080"/>
            <a:chOff x="354110" y="3261640"/>
            <a:chExt cx="7861229" cy="951684"/>
          </a:xfrm>
        </p:grpSpPr>
        <p:sp>
          <p:nvSpPr>
            <p:cNvPr id="28" name="모서리가 둥근 직사각형 27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40000">
                  <a:srgbClr val="E4EDF0"/>
                </a:gs>
                <a:gs pos="100000">
                  <a:srgbClr val="CBDDE3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일별 포지션 상황을 매월 보고</a:t>
              </a: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(</a:t>
              </a:r>
              <a:r>
                <a:rPr lang="ko-KR" altLang="en-US" sz="2400" kern="0" dirty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익월 </a:t>
              </a:r>
              <a:r>
                <a:rPr lang="en-US" altLang="ko-KR" sz="2400" kern="0" dirty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15</a:t>
              </a:r>
              <a:r>
                <a:rPr lang="ko-KR" altLang="en-US" sz="2400" kern="0" dirty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일까지</a:t>
              </a: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solidFill>
              <a:srgbClr val="21A7B5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algn="ctr" defTabSz="91440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ko-KR" altLang="en-US" sz="2400" b="1" kern="0" spc="-150" dirty="0" smtClean="0">
                  <a:solidFill>
                    <a:sysClr val="window" lastClr="FFFFFF"/>
                  </a:solidFill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보고주기</a:t>
              </a:r>
              <a:endParaRPr lang="ko-KR" altLang="en-US" sz="2400" b="1" kern="0" spc="-150" dirty="0">
                <a:solidFill>
                  <a:sysClr val="window" lastClr="FFFFFF"/>
                </a:solidFill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45911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1687"/>
            <a:ext cx="1008538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모서리가 둥근 직사각형 8"/>
          <p:cNvSpPr/>
          <p:nvPr/>
        </p:nvSpPr>
        <p:spPr bwMode="auto">
          <a:xfrm>
            <a:off x="1007864" y="3059757"/>
            <a:ext cx="7704856" cy="990641"/>
          </a:xfrm>
          <a:prstGeom prst="roundRect">
            <a:avLst>
              <a:gd name="adj" fmla="val 46013"/>
            </a:avLst>
          </a:prstGeom>
          <a:gradFill flip="none" rotWithShape="1">
            <a:gsLst>
              <a:gs pos="0">
                <a:srgbClr val="21A7B5"/>
              </a:gs>
              <a:gs pos="12000">
                <a:srgbClr val="2DACB9"/>
              </a:gs>
              <a:gs pos="23000">
                <a:schemeClr val="bg1"/>
              </a:gs>
              <a:gs pos="0">
                <a:srgbClr val="33CCFF">
                  <a:gamma/>
                  <a:shade val="45882"/>
                  <a:invGamma/>
                </a:srgb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449263" rtl="0" eaLnBrk="1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kumimoji="0" lang="ko-KR" altLang="en-US" sz="3600" b="0" i="0" u="none" strike="noStrike" cap="none" normalizeH="0" baseline="0" dirty="0" smtClean="0">
                <a:ln>
                  <a:noFill/>
                </a:ln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           </a:t>
            </a:r>
            <a:r>
              <a:rPr kumimoji="0" lang="ko-KR" altLang="en-US" sz="3600" b="0" i="0" u="none" strike="noStrike" cap="none" normalizeH="0" baseline="0" dirty="0" smtClean="0">
                <a:ln>
                  <a:noFill/>
                </a:ln>
                <a:solidFill>
                  <a:srgbClr val="2B435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외국환포지션</a:t>
            </a:r>
            <a:r>
              <a:rPr kumimoji="0" lang="ko-KR" altLang="en-US" sz="3600" b="0" i="0" u="none" strike="noStrike" cap="none" normalizeH="0" baseline="0" dirty="0" smtClean="0">
                <a:ln>
                  <a:noFill/>
                </a:ln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ko-KR" altLang="en-US" sz="3600" b="0" i="0" u="none" strike="noStrike" cap="none" normalizeH="0" baseline="0" dirty="0" smtClean="0">
                <a:ln>
                  <a:noFill/>
                </a:ln>
                <a:solidFill>
                  <a:srgbClr val="2B435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세부 내용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1662338" y="3183326"/>
            <a:ext cx="354013" cy="59896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/>
          <a:lstStyle/>
          <a:p>
            <a:pPr algn="ctr">
              <a:defRPr/>
            </a:pPr>
            <a:r>
              <a:rPr lang="en-US" altLang="ko-KR" sz="3600" dirty="0" smtClean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rPr>
              <a:t>Ⅱ</a:t>
            </a:r>
            <a:endParaRPr lang="en-US" altLang="ko-KR" sz="3600" dirty="0">
              <a:solidFill>
                <a:srgbClr val="FFFF99"/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72858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모서리가 둥근 직사각형 3"/>
          <p:cNvSpPr/>
          <p:nvPr/>
        </p:nvSpPr>
        <p:spPr>
          <a:xfrm>
            <a:off x="656344" y="2303673"/>
            <a:ext cx="9256440" cy="2952328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defTabSz="914400" fontAlgn="auto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종합포지션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: (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현물자산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+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선물자산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)-(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현물부채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+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선물부채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endParaRPr lang="en-US" altLang="ko-KR" sz="2400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defTabSz="914400" fontAlgn="auto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선물환포지션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: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선물자산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-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선물부채</a:t>
            </a:r>
            <a:endParaRPr lang="en-US" altLang="ko-KR" sz="240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defTabSz="914400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r>
              <a:rPr lang="en-US" altLang="ko-KR" sz="20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 ※ </a:t>
            </a:r>
            <a:r>
              <a:rPr lang="ko-KR" altLang="en-US" sz="20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옵션</a:t>
            </a:r>
            <a:endParaRPr lang="en-US" altLang="ko-KR" sz="200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defTabSz="914400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r>
              <a:rPr lang="en-US" altLang="ko-KR" sz="2000" kern="0" spc="-15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  (</a:t>
            </a:r>
            <a:r>
              <a:rPr lang="ko-KR" altLang="en-US" sz="2000" kern="0" spc="-15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콜옵션</a:t>
            </a:r>
            <a:r>
              <a:rPr lang="ko-KR" altLang="en-US" sz="2000" kern="0" spc="-15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2000" kern="0" spc="-15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매입분</a:t>
            </a:r>
            <a:r>
              <a:rPr lang="en-US" altLang="ko-KR" sz="2000" kern="0" spc="-15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+</a:t>
            </a:r>
            <a:r>
              <a:rPr lang="ko-KR" altLang="en-US" sz="2000" kern="0" spc="-15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풋옵션</a:t>
            </a:r>
            <a:r>
              <a:rPr lang="ko-KR" altLang="en-US" sz="2000" kern="0" spc="-15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2000" kern="0" spc="-15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매도분</a:t>
            </a:r>
            <a:r>
              <a:rPr lang="en-US" altLang="ko-KR" sz="2000" kern="0" spc="-15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)-(</a:t>
            </a:r>
            <a:r>
              <a:rPr lang="ko-KR" altLang="en-US" sz="2000" kern="0" spc="-15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콜옵션</a:t>
            </a:r>
            <a:r>
              <a:rPr lang="ko-KR" altLang="en-US" sz="2000" kern="0" spc="-15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2000" kern="0" spc="-15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매도분</a:t>
            </a:r>
            <a:r>
              <a:rPr lang="en-US" altLang="ko-KR" sz="2000" kern="0" spc="-15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+</a:t>
            </a:r>
            <a:r>
              <a:rPr lang="ko-KR" altLang="en-US" sz="2000" kern="0" spc="-15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풋옵션</a:t>
            </a:r>
            <a:r>
              <a:rPr lang="ko-KR" altLang="en-US" sz="2000" kern="0" spc="-15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2000" kern="0" spc="-15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매입분</a:t>
            </a:r>
            <a:r>
              <a:rPr lang="en-US" altLang="ko-KR" sz="2000" kern="0" spc="-15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395461"/>
            <a:ext cx="7168880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defRPr sz="3200" b="1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외국환포지션 </a:t>
            </a:r>
            <a:r>
              <a:rPr lang="ko-KR" altLang="en-US" dirty="0" smtClean="0"/>
              <a:t>세부 </a:t>
            </a:r>
            <a:r>
              <a:rPr lang="ko-KR" altLang="en-US" dirty="0"/>
              <a:t>내용</a:t>
            </a:r>
          </a:p>
        </p:txBody>
      </p:sp>
      <p:sp>
        <p:nvSpPr>
          <p:cNvPr id="10" name="AutoShape 15"/>
          <p:cNvSpPr>
            <a:spLocks noChangeArrowheads="1"/>
          </p:cNvSpPr>
          <p:nvPr/>
        </p:nvSpPr>
        <p:spPr bwMode="auto">
          <a:xfrm>
            <a:off x="569020" y="1648678"/>
            <a:ext cx="4489549" cy="482600"/>
          </a:xfrm>
          <a:prstGeom prst="bevel">
            <a:avLst>
              <a:gd name="adj" fmla="val 12500"/>
            </a:avLst>
          </a:prstGeom>
          <a:solidFill>
            <a:srgbClr val="21A7B5"/>
          </a:solidFill>
          <a:ln w="9525">
            <a:noFill/>
            <a:miter lim="800000"/>
            <a:headEnd/>
            <a:tailEnd/>
          </a:ln>
          <a:effectLst>
            <a:glow rad="101600">
              <a:srgbClr val="21A7B5">
                <a:alpha val="60000"/>
              </a:srgbClr>
            </a:glow>
          </a:effectLst>
        </p:spPr>
        <p:txBody>
          <a:bodyPr wrap="none" anchor="ctr"/>
          <a:lstStyle/>
          <a:p>
            <a:r>
              <a:rPr lang="ko-KR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포지션의 구분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18459" y="5652045"/>
            <a:ext cx="9267103" cy="1224136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defTabSz="914400" fontAlgn="auto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매입초과포지션</a:t>
            </a:r>
            <a:r>
              <a: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(O/B) : </a:t>
            </a: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자산 </a:t>
            </a:r>
            <a:r>
              <a: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&gt; </a:t>
            </a: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부채</a:t>
            </a:r>
          </a:p>
          <a:p>
            <a:pPr defTabSz="914400" fontAlgn="auto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매각초과포지션</a:t>
            </a:r>
            <a:r>
              <a: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(O/S) : </a:t>
            </a: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자산 </a:t>
            </a:r>
            <a:r>
              <a: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&lt; </a:t>
            </a: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부채</a:t>
            </a:r>
          </a:p>
        </p:txBody>
      </p:sp>
    </p:spTree>
    <p:extLst>
      <p:ext uri="{BB962C8B-B14F-4D97-AF65-F5344CB8AC3E}">
        <p14:creationId xmlns:p14="http://schemas.microsoft.com/office/powerpoint/2010/main" val="24432482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87"/>
            <a:ext cx="10169886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모서리가 둥근 직사각형 3"/>
          <p:cNvSpPr/>
          <p:nvPr/>
        </p:nvSpPr>
        <p:spPr>
          <a:xfrm>
            <a:off x="526770" y="2339677"/>
            <a:ext cx="9116345" cy="165618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defTabSz="914400" fontAlgn="auto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현물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:  </a:t>
            </a: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대차대조표 </a:t>
            </a:r>
            <a:r>
              <a:rPr lang="ko-KR" altLang="en-US" sz="2400" kern="0" dirty="0" err="1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난내계정의</a:t>
            </a: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외화자산 및 부채</a:t>
            </a:r>
            <a:endParaRPr lang="en-US" altLang="ko-KR" sz="2400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defTabSz="914400" fontAlgn="auto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선물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:  </a:t>
            </a: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통화관련 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파생금융상품거래  </a:t>
            </a: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매입</a:t>
            </a:r>
            <a:r>
              <a: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/</a:t>
            </a:r>
            <a:r>
              <a:rPr lang="ko-KR" altLang="en-US" sz="2400" kern="0" dirty="0" err="1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매도분</a:t>
            </a:r>
            <a:endParaRPr lang="en-US" altLang="ko-KR" sz="2400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defTabSz="914400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r>
              <a: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	</a:t>
            </a:r>
            <a:r>
              <a:rPr lang="en-US" altLang="ko-KR" sz="20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en-US" altLang="ko-KR" sz="20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※</a:t>
            </a:r>
            <a:r>
              <a:rPr lang="ko-KR" altLang="en-US" sz="20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이자만 교환하는 </a:t>
            </a:r>
            <a:r>
              <a:rPr lang="en-US" altLang="ko-KR" sz="20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Coupon Swap</a:t>
            </a:r>
            <a:r>
              <a:rPr lang="ko-KR" altLang="en-US" sz="20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은 제외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395461"/>
            <a:ext cx="7168880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defRPr sz="3200" b="1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외국환포지션 </a:t>
            </a:r>
            <a:r>
              <a:rPr lang="ko-KR" altLang="en-US" dirty="0" smtClean="0"/>
              <a:t>세부 </a:t>
            </a:r>
            <a:r>
              <a:rPr lang="ko-KR" altLang="en-US" dirty="0"/>
              <a:t>내용</a:t>
            </a:r>
          </a:p>
        </p:txBody>
      </p:sp>
      <p:sp>
        <p:nvSpPr>
          <p:cNvPr id="10" name="AutoShape 15"/>
          <p:cNvSpPr>
            <a:spLocks noChangeArrowheads="1"/>
          </p:cNvSpPr>
          <p:nvPr/>
        </p:nvSpPr>
        <p:spPr bwMode="auto">
          <a:xfrm>
            <a:off x="569020" y="1648678"/>
            <a:ext cx="4489549" cy="482600"/>
          </a:xfrm>
          <a:prstGeom prst="bevel">
            <a:avLst>
              <a:gd name="adj" fmla="val 12500"/>
            </a:avLst>
          </a:prstGeom>
          <a:solidFill>
            <a:srgbClr val="21A7B5"/>
          </a:solidFill>
          <a:ln w="9525">
            <a:noFill/>
            <a:miter lim="800000"/>
            <a:headEnd/>
            <a:tailEnd/>
          </a:ln>
          <a:effectLst>
            <a:glow rad="101600">
              <a:srgbClr val="21A7B5">
                <a:alpha val="60000"/>
              </a:srgbClr>
            </a:glow>
          </a:effectLst>
        </p:spPr>
        <p:txBody>
          <a:bodyPr wrap="none" anchor="ctr"/>
          <a:lstStyle/>
          <a:p>
            <a:r>
              <a:rPr lang="ko-KR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외화자산 및 부채의 범위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611270" y="5003973"/>
            <a:ext cx="9074095" cy="2088232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just" fontAlgn="auto" latinLnBrk="0"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defRPr/>
            </a:pP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전년도 </a:t>
            </a: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외국환포지션 한도 </a:t>
            </a:r>
            <a:r>
              <a:rPr lang="ko-KR" altLang="en-US" sz="2400" kern="0" dirty="0" err="1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산정시</a:t>
            </a: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적용환율 및 전년도 평균 매매기준율의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평균</a:t>
            </a:r>
            <a:endParaRPr lang="en-US" altLang="ko-KR" sz="240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algn="just" fontAlgn="auto" latinLnBrk="0"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defRPr/>
            </a:pPr>
            <a:endParaRPr lang="en-US" altLang="ko-KR" sz="1200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540000" indent="-720000" algn="just" fontAlgn="auto" latinLnBrk="0"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defRPr/>
            </a:pPr>
            <a:r>
              <a:rPr lang="en-US" altLang="ko-KR" sz="20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※ </a:t>
            </a:r>
            <a:r>
              <a:rPr lang="ko-KR" altLang="en-US" sz="20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미 </a:t>
            </a:r>
            <a:r>
              <a:rPr lang="ko-KR" altLang="en-US" sz="20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달러화 이외 외국통화의 </a:t>
            </a:r>
            <a:r>
              <a:rPr lang="ko-KR" altLang="en-US" sz="20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대미달러환율은 </a:t>
            </a:r>
            <a:r>
              <a:rPr lang="ko-KR" altLang="en-US" sz="2000" kern="0" dirty="0" err="1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매영업일</a:t>
            </a:r>
            <a:r>
              <a:rPr lang="ko-KR" altLang="en-US" sz="20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20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외국환중개회사의</a:t>
            </a:r>
            <a:endParaRPr lang="en-US" altLang="ko-KR" sz="200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540000" indent="-720000" algn="just" fontAlgn="auto" latinLnBrk="0"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defRPr/>
            </a:pPr>
            <a:r>
              <a:rPr lang="en-US" altLang="ko-KR" sz="20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0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ko-KR" altLang="en-US" sz="20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장이 </a:t>
            </a:r>
            <a:r>
              <a:rPr lang="ko-KR" altLang="en-US" sz="20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산출</a:t>
            </a:r>
            <a:r>
              <a:rPr lang="en-US" altLang="ko-KR" sz="20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·</a:t>
            </a:r>
            <a:r>
              <a:rPr lang="ko-KR" altLang="en-US" sz="20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통보하는 환율 적용</a:t>
            </a:r>
            <a:endParaRPr lang="en-US" altLang="ko-KR" sz="2000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2" name="AutoShape 15"/>
          <p:cNvSpPr>
            <a:spLocks noChangeArrowheads="1"/>
          </p:cNvSpPr>
          <p:nvPr/>
        </p:nvSpPr>
        <p:spPr bwMode="auto">
          <a:xfrm>
            <a:off x="539552" y="4305349"/>
            <a:ext cx="4489549" cy="482600"/>
          </a:xfrm>
          <a:prstGeom prst="bevel">
            <a:avLst>
              <a:gd name="adj" fmla="val 12500"/>
            </a:avLst>
          </a:prstGeom>
          <a:solidFill>
            <a:srgbClr val="21A7B5"/>
          </a:solidFill>
          <a:ln w="9525">
            <a:noFill/>
            <a:miter lim="800000"/>
            <a:headEnd/>
            <a:tailEnd/>
          </a:ln>
          <a:effectLst>
            <a:glow rad="101600">
              <a:srgbClr val="21A7B5">
                <a:alpha val="60000"/>
              </a:srgbClr>
            </a:glow>
          </a:effectLst>
        </p:spPr>
        <p:txBody>
          <a:bodyPr wrap="none" anchor="ctr"/>
          <a:lstStyle/>
          <a:p>
            <a:r>
              <a:rPr lang="ko-KR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환 율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5458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8994"/>
            <a:ext cx="1008538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모서리가 둥근 직사각형 3"/>
          <p:cNvSpPr/>
          <p:nvPr/>
        </p:nvSpPr>
        <p:spPr>
          <a:xfrm>
            <a:off x="954113" y="2411685"/>
            <a:ext cx="8208912" cy="3587623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defTabSz="914400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endParaRPr lang="ko-KR" altLang="en-US" sz="2400" ker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7824" y="395460"/>
            <a:ext cx="6912768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defRPr sz="3200" b="1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외국환포지션 </a:t>
            </a:r>
            <a:r>
              <a:rPr lang="ko-KR" altLang="en-US" dirty="0" smtClean="0"/>
              <a:t>산정방법</a:t>
            </a:r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789424"/>
              </p:ext>
            </p:extLst>
          </p:nvPr>
        </p:nvGraphicFramePr>
        <p:xfrm>
          <a:off x="1333829" y="2452941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23389"/>
              </p:ext>
            </p:extLst>
          </p:nvPr>
        </p:nvGraphicFramePr>
        <p:xfrm>
          <a:off x="4070133" y="2452941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578482"/>
              </p:ext>
            </p:extLst>
          </p:nvPr>
        </p:nvGraphicFramePr>
        <p:xfrm>
          <a:off x="6806437" y="2452941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439912" y="5537452"/>
            <a:ext cx="1772130" cy="43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err="1" smtClean="0">
                <a:latin typeface="HY울릉도M" pitchFamily="18" charset="-127"/>
                <a:ea typeface="HY울릉도M" pitchFamily="18" charset="-127"/>
              </a:rPr>
              <a:t>미달러화</a:t>
            </a:r>
            <a:r>
              <a:rPr lang="en-US" altLang="ko-KR" sz="2200" dirty="0" smtClean="0">
                <a:latin typeface="HY울릉도M" pitchFamily="18" charset="-127"/>
                <a:ea typeface="HY울릉도M" pitchFamily="18" charset="-127"/>
              </a:rPr>
              <a:t>($)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8224" y="5562518"/>
            <a:ext cx="1772130" cy="43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atin typeface="HY울릉도M" pitchFamily="18" charset="-127"/>
                <a:ea typeface="HY울릉도M" pitchFamily="18" charset="-127"/>
              </a:rPr>
              <a:t>엔화</a:t>
            </a:r>
            <a:r>
              <a:rPr lang="en-US" altLang="ko-KR" sz="2200" dirty="0" smtClean="0"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2200" dirty="0" smtClean="0">
                <a:latin typeface="HY울릉도M" pitchFamily="18" charset="-127"/>
                <a:ea typeface="HY울릉도M" pitchFamily="18" charset="-127"/>
              </a:rPr>
              <a:t>￥</a:t>
            </a:r>
            <a:r>
              <a:rPr lang="en-US" altLang="ko-KR" sz="2200" dirty="0" smtClean="0">
                <a:latin typeface="HY울릉도M" pitchFamily="18" charset="-127"/>
                <a:ea typeface="HY울릉도M" pitchFamily="18" charset="-127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6965" y="5573842"/>
            <a:ext cx="1772130" cy="43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atin typeface="HY울릉도M" pitchFamily="18" charset="-127"/>
                <a:ea typeface="HY울릉도M" pitchFamily="18" charset="-127"/>
              </a:rPr>
              <a:t>유로화</a:t>
            </a:r>
            <a:r>
              <a:rPr lang="en-US" altLang="ko-KR" sz="2200" dirty="0" smtClean="0"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2200" dirty="0" smtClean="0">
                <a:latin typeface="+mj-lt"/>
                <a:ea typeface="HY울릉도M" pitchFamily="18" charset="-127"/>
              </a:rPr>
              <a:t>€</a:t>
            </a:r>
            <a:r>
              <a:rPr lang="en-US" altLang="ko-KR" sz="2200" dirty="0" smtClean="0">
                <a:latin typeface="HY울릉도M" pitchFamily="18" charset="-127"/>
                <a:ea typeface="HY울릉도M" pitchFamily="18" charset="-127"/>
              </a:rPr>
              <a:t>)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5464838" y="6115225"/>
            <a:ext cx="3544257" cy="719117"/>
          </a:xfrm>
          <a:prstGeom prst="round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매각 초과 포지션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: -5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유로화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-5)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079872" y="6115226"/>
            <a:ext cx="3544257" cy="719117"/>
          </a:xfrm>
          <a:prstGeom prst="round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매입 초과 포지션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: +8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달러화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+5, </a:t>
            </a: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엔화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+3)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79872" y="6123942"/>
            <a:ext cx="3544257" cy="719117"/>
          </a:xfrm>
          <a:prstGeom prst="round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매입 초과 포지션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: +8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달러화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+5, </a:t>
            </a: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엔화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+3)</a:t>
            </a:r>
          </a:p>
        </p:txBody>
      </p:sp>
      <p:sp>
        <p:nvSpPr>
          <p:cNvPr id="17" name="AutoShape 15"/>
          <p:cNvSpPr>
            <a:spLocks noChangeArrowheads="1"/>
          </p:cNvSpPr>
          <p:nvPr/>
        </p:nvSpPr>
        <p:spPr bwMode="auto">
          <a:xfrm>
            <a:off x="569020" y="1648678"/>
            <a:ext cx="4489549" cy="482600"/>
          </a:xfrm>
          <a:prstGeom prst="bevel">
            <a:avLst>
              <a:gd name="adj" fmla="val 12500"/>
            </a:avLst>
          </a:prstGeom>
          <a:solidFill>
            <a:srgbClr val="21A7B5"/>
          </a:solidFill>
          <a:ln w="9525">
            <a:noFill/>
            <a:miter lim="800000"/>
            <a:headEnd/>
            <a:tailEnd/>
          </a:ln>
          <a:effectLst>
            <a:glow rad="101600">
              <a:srgbClr val="21A7B5">
                <a:alpha val="60000"/>
              </a:srgbClr>
            </a:glow>
          </a:effectLst>
        </p:spPr>
        <p:txBody>
          <a:bodyPr wrap="none" anchor="ctr"/>
          <a:lstStyle/>
          <a:p>
            <a:r>
              <a:rPr lang="en-US" altLang="ko-K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[</a:t>
            </a:r>
            <a:r>
              <a:rPr lang="ko-KR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종합포지션 </a:t>
            </a:r>
            <a:r>
              <a:rPr lang="en-US" altLang="ko-K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: </a:t>
            </a:r>
            <a:r>
              <a:rPr lang="ko-KR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간편포지션</a:t>
            </a:r>
            <a:r>
              <a:rPr lang="en-US" altLang="ko-K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]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47761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937" y="-1"/>
            <a:ext cx="1008538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모서리가 둥근 직사각형 7"/>
          <p:cNvSpPr/>
          <p:nvPr/>
        </p:nvSpPr>
        <p:spPr>
          <a:xfrm>
            <a:off x="630077" y="2339677"/>
            <a:ext cx="8856984" cy="3587623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defTabSz="914400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endParaRPr lang="ko-KR" altLang="en-US" sz="2400" ker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05319"/>
              </p:ext>
            </p:extLst>
          </p:nvPr>
        </p:nvGraphicFramePr>
        <p:xfrm>
          <a:off x="1227311" y="2380933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112204"/>
              </p:ext>
            </p:extLst>
          </p:nvPr>
        </p:nvGraphicFramePr>
        <p:xfrm>
          <a:off x="3963615" y="2380933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261393"/>
              </p:ext>
            </p:extLst>
          </p:nvPr>
        </p:nvGraphicFramePr>
        <p:xfrm>
          <a:off x="6699919" y="2380933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1F497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300741" y="5490510"/>
            <a:ext cx="1772130" cy="43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err="1" smtClean="0">
                <a:latin typeface="HY울릉도M" pitchFamily="18" charset="-127"/>
                <a:ea typeface="HY울릉도M" pitchFamily="18" charset="-127"/>
              </a:rPr>
              <a:t>미달러화</a:t>
            </a:r>
            <a:r>
              <a:rPr lang="en-US" altLang="ko-KR" sz="2200" dirty="0" smtClean="0">
                <a:latin typeface="HY울릉도M" pitchFamily="18" charset="-127"/>
                <a:ea typeface="HY울릉도M" pitchFamily="18" charset="-127"/>
              </a:rPr>
              <a:t>($)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7085" y="5490510"/>
            <a:ext cx="1772130" cy="43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atin typeface="HY울릉도M" pitchFamily="18" charset="-127"/>
                <a:ea typeface="HY울릉도M" pitchFamily="18" charset="-127"/>
              </a:rPr>
              <a:t>엔화</a:t>
            </a:r>
            <a:r>
              <a:rPr lang="en-US" altLang="ko-KR" sz="2200" dirty="0" smtClean="0"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2200" dirty="0" smtClean="0">
                <a:latin typeface="HY울릉도M" pitchFamily="18" charset="-127"/>
                <a:ea typeface="HY울릉도M" pitchFamily="18" charset="-127"/>
              </a:rPr>
              <a:t>￥</a:t>
            </a:r>
            <a:r>
              <a:rPr lang="en-US" altLang="ko-KR" sz="2200" dirty="0" smtClean="0">
                <a:latin typeface="HY울릉도M" pitchFamily="18" charset="-127"/>
                <a:ea typeface="HY울릉도M" pitchFamily="18" charset="-127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7365" y="5490510"/>
            <a:ext cx="1772130" cy="43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atin typeface="HY울릉도M" pitchFamily="18" charset="-127"/>
                <a:ea typeface="HY울릉도M" pitchFamily="18" charset="-127"/>
              </a:rPr>
              <a:t>유로화</a:t>
            </a:r>
            <a:r>
              <a:rPr lang="en-US" altLang="ko-KR" sz="2200" dirty="0" smtClean="0"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2200" dirty="0" smtClean="0">
                <a:latin typeface="+mj-lt"/>
                <a:ea typeface="HY울릉도M" pitchFamily="18" charset="-127"/>
              </a:rPr>
              <a:t>€</a:t>
            </a:r>
            <a:r>
              <a:rPr lang="en-US" altLang="ko-KR" sz="2200" dirty="0" smtClean="0">
                <a:latin typeface="HY울릉도M" pitchFamily="18" charset="-127"/>
                <a:ea typeface="HY울릉도M" pitchFamily="18" charset="-127"/>
              </a:rPr>
              <a:t>)</a:t>
            </a:r>
          </a:p>
        </p:txBody>
      </p:sp>
      <p:sp>
        <p:nvSpPr>
          <p:cNvPr id="15" name="모서리가 둥근 직사각형 14"/>
          <p:cNvSpPr/>
          <p:nvPr/>
        </p:nvSpPr>
        <p:spPr>
          <a:xfrm>
            <a:off x="1079872" y="6210614"/>
            <a:ext cx="3544257" cy="719117"/>
          </a:xfrm>
          <a:prstGeom prst="round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매입 초과 포지션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: +8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달러화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+5, </a:t>
            </a: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엔화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+3)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020" y="395461"/>
            <a:ext cx="7164536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defRPr sz="3200" b="1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외국환포지션 </a:t>
            </a:r>
            <a:r>
              <a:rPr lang="ko-KR" altLang="en-US" dirty="0" smtClean="0"/>
              <a:t>산정방법</a:t>
            </a:r>
            <a:endParaRPr lang="ko-KR" altLang="en-US" dirty="0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4984649" y="6210614"/>
            <a:ext cx="3544257" cy="719117"/>
          </a:xfrm>
          <a:prstGeom prst="round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매도 초과 포지션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: </a:t>
            </a:r>
            <a:r>
              <a:rPr lang="en-US" altLang="ko-KR" kern="0" dirty="0" smtClean="0">
                <a:solidFill>
                  <a:sysClr val="windowText" lastClr="000000"/>
                </a:solidFill>
                <a:latin typeface="HY견고딕" pitchFamily="18" charset="-127"/>
                <a:ea typeface="HY견고딕" pitchFamily="18" charset="-127"/>
              </a:rPr>
              <a:t>-5</a:t>
            </a:r>
            <a:endParaRPr kumimoji="0" lang="en-US" altLang="ko-KR" sz="1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유로화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-5)</a:t>
            </a: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014434" y="6074738"/>
            <a:ext cx="7776864" cy="864096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대상 포지션 </a:t>
            </a:r>
            <a:r>
              <a:rPr kumimoji="0" lang="en-US" altLang="ko-KR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: +3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(|</a:t>
            </a:r>
            <a:r>
              <a:rPr kumimoji="0" lang="ko-KR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매입초과포지션</a:t>
            </a:r>
            <a:r>
              <a:rPr kumimoji="0" lang="en-US" altLang="ko-KR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-</a:t>
            </a:r>
            <a:r>
              <a:rPr kumimoji="0" lang="ko-KR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매각초과포지션</a:t>
            </a:r>
            <a:r>
              <a:rPr kumimoji="0" lang="en-US" altLang="ko-KR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|)</a:t>
            </a:r>
          </a:p>
        </p:txBody>
      </p:sp>
      <p:sp>
        <p:nvSpPr>
          <p:cNvPr id="21" name="AutoShape 15"/>
          <p:cNvSpPr>
            <a:spLocks noChangeArrowheads="1"/>
          </p:cNvSpPr>
          <p:nvPr/>
        </p:nvSpPr>
        <p:spPr bwMode="auto">
          <a:xfrm>
            <a:off x="569020" y="1648678"/>
            <a:ext cx="4831332" cy="482600"/>
          </a:xfrm>
          <a:prstGeom prst="bevel">
            <a:avLst>
              <a:gd name="adj" fmla="val 12500"/>
            </a:avLst>
          </a:prstGeom>
          <a:solidFill>
            <a:srgbClr val="21A7B5"/>
          </a:solidFill>
          <a:ln w="9525">
            <a:noFill/>
            <a:miter lim="800000"/>
            <a:headEnd/>
            <a:tailEnd/>
          </a:ln>
          <a:effectLst>
            <a:glow rad="101600">
              <a:srgbClr val="21A7B5">
                <a:alpha val="60000"/>
              </a:srgbClr>
            </a:glow>
          </a:effectLst>
        </p:spPr>
        <p:txBody>
          <a:bodyPr wrap="none" anchor="ctr"/>
          <a:lstStyle/>
          <a:p>
            <a:r>
              <a:rPr lang="en-US" altLang="ko-K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[</a:t>
            </a:r>
            <a:r>
              <a:rPr lang="ko-KR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선물</a:t>
            </a:r>
            <a:r>
              <a:rPr lang="ko-KR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환</a:t>
            </a:r>
            <a:r>
              <a:rPr lang="ko-KR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포지션 </a:t>
            </a:r>
            <a:r>
              <a:rPr lang="en-US" altLang="ko-K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: </a:t>
            </a:r>
            <a:r>
              <a:rPr lang="ko-KR" alt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순합산포지션</a:t>
            </a:r>
            <a:r>
              <a:rPr lang="en-US" altLang="ko-K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]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잉크 1"/>
              <p14:cNvContentPartPr/>
              <p14:nvPr/>
            </p14:nvContentPartPr>
            <p14:xfrm>
              <a:off x="1811520" y="2575440"/>
              <a:ext cx="2181600" cy="4095720"/>
            </p14:xfrm>
          </p:contentPart>
        </mc:Choice>
        <mc:Fallback xmlns="">
          <p:pic>
            <p:nvPicPr>
              <p:cNvPr id="2" name="잉크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02160" y="2566080"/>
                <a:ext cx="2200320" cy="411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91585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1687"/>
            <a:ext cx="1008538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모서리가 둥근 직사각형 8"/>
          <p:cNvSpPr/>
          <p:nvPr/>
        </p:nvSpPr>
        <p:spPr bwMode="auto">
          <a:xfrm>
            <a:off x="1007864" y="3059757"/>
            <a:ext cx="7704856" cy="990641"/>
          </a:xfrm>
          <a:prstGeom prst="roundRect">
            <a:avLst>
              <a:gd name="adj" fmla="val 46013"/>
            </a:avLst>
          </a:prstGeom>
          <a:gradFill flip="none" rotWithShape="1">
            <a:gsLst>
              <a:gs pos="0">
                <a:srgbClr val="21A7B5"/>
              </a:gs>
              <a:gs pos="12000">
                <a:srgbClr val="2DACB9"/>
              </a:gs>
              <a:gs pos="23000">
                <a:schemeClr val="bg1"/>
              </a:gs>
              <a:gs pos="0">
                <a:srgbClr val="33CCFF">
                  <a:gamma/>
                  <a:shade val="45882"/>
                  <a:invGamma/>
                </a:srgb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449263" rtl="0" eaLnBrk="1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kumimoji="0" lang="ko-KR" altLang="en-US" sz="3600" b="0" i="0" u="none" strike="noStrike" cap="none" normalizeH="0" baseline="0" dirty="0" smtClean="0">
                <a:ln>
                  <a:noFill/>
                </a:ln>
                <a:solidFill>
                  <a:srgbClr val="283C54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           외국환포지션 한도 관리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1662338" y="3183326"/>
            <a:ext cx="354013" cy="59896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/>
          <a:lstStyle/>
          <a:p>
            <a:pPr algn="ctr">
              <a:defRPr/>
            </a:pPr>
            <a:r>
              <a:rPr lang="en-US" altLang="ko-KR" sz="3600" dirty="0" smtClean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rPr>
              <a:t>Ⅲ</a:t>
            </a:r>
            <a:endParaRPr lang="en-US" altLang="ko-KR" sz="3600" dirty="0">
              <a:solidFill>
                <a:srgbClr val="FFFF99"/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984185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87"/>
            <a:ext cx="10169886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모서리가 둥근 직사각형 3"/>
          <p:cNvSpPr/>
          <p:nvPr/>
        </p:nvSpPr>
        <p:spPr>
          <a:xfrm>
            <a:off x="526770" y="2339677"/>
            <a:ext cx="9338078" cy="1800200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defTabSz="914400" fontAlgn="auto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종합포지션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:  </a:t>
            </a:r>
            <a:r>
              <a:rPr lang="ko-KR" altLang="en-US" sz="240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매영업일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포지션 잔액</a:t>
            </a:r>
            <a:endParaRPr lang="en-US" altLang="ko-KR" sz="2400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defTabSz="914400" fontAlgn="auto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선물환포지션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: </a:t>
            </a:r>
            <a:r>
              <a:rPr lang="ko-KR" altLang="en-US" sz="240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직전영업일로부터 과거 </a:t>
            </a:r>
            <a:r>
              <a:rPr lang="en-US" altLang="ko-KR" sz="240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1</a:t>
            </a:r>
            <a:r>
              <a:rPr lang="ko-KR" altLang="en-US" sz="240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개월 동안의 </a:t>
            </a:r>
            <a:endParaRPr lang="en-US" altLang="ko-KR" sz="2400" kern="0" dirty="0" smtClean="0">
              <a:solidFill>
                <a:srgbClr val="C00000"/>
              </a:solidFill>
              <a:latin typeface="HY견고딕" pitchFamily="18" charset="-127"/>
              <a:ea typeface="HY견고딕" pitchFamily="18" charset="-127"/>
            </a:endParaRPr>
          </a:p>
          <a:p>
            <a:pPr defTabSz="914400" fontAlgn="auto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r>
              <a: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                   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일별 선물환포지션 잔액의 </a:t>
            </a:r>
            <a:r>
              <a:rPr lang="ko-KR" altLang="en-US" sz="240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산술평균</a:t>
            </a:r>
            <a:endParaRPr lang="ko-KR" altLang="en-US" sz="2000" kern="0" dirty="0">
              <a:solidFill>
                <a:srgbClr val="C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395461"/>
            <a:ext cx="7168880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defRPr sz="3200" b="1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외국환포지션 </a:t>
            </a:r>
            <a:r>
              <a:rPr lang="ko-KR" altLang="en-US" dirty="0" smtClean="0"/>
              <a:t>한도 관리</a:t>
            </a:r>
            <a:endParaRPr lang="ko-KR" altLang="en-US" dirty="0"/>
          </a:p>
        </p:txBody>
      </p:sp>
      <p:sp>
        <p:nvSpPr>
          <p:cNvPr id="10" name="AutoShape 15"/>
          <p:cNvSpPr>
            <a:spLocks noChangeArrowheads="1"/>
          </p:cNvSpPr>
          <p:nvPr/>
        </p:nvSpPr>
        <p:spPr bwMode="auto">
          <a:xfrm>
            <a:off x="569020" y="1648678"/>
            <a:ext cx="4489549" cy="482600"/>
          </a:xfrm>
          <a:prstGeom prst="bevel">
            <a:avLst>
              <a:gd name="adj" fmla="val 12500"/>
            </a:avLst>
          </a:prstGeom>
          <a:solidFill>
            <a:srgbClr val="21A7B5"/>
          </a:solidFill>
          <a:ln w="9525">
            <a:noFill/>
            <a:miter lim="800000"/>
            <a:headEnd/>
            <a:tailEnd/>
          </a:ln>
          <a:effectLst>
            <a:glow rad="101600">
              <a:srgbClr val="21A7B5">
                <a:alpha val="60000"/>
              </a:srgbClr>
            </a:glow>
          </a:effectLst>
        </p:spPr>
        <p:txBody>
          <a:bodyPr wrap="none" anchor="ctr"/>
          <a:lstStyle/>
          <a:p>
            <a:r>
              <a:rPr lang="ko-KR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관리대상포지션 산정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611270" y="5003973"/>
            <a:ext cx="9253578" cy="1872208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r>
              <a:rPr kumimoji="1"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국내은행 </a:t>
            </a:r>
            <a:r>
              <a:rPr kumimoji="1"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: </a:t>
            </a:r>
            <a:r>
              <a:rPr kumimoji="1"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납입자본금</a:t>
            </a:r>
            <a:r>
              <a:rPr kumimoji="1"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·</a:t>
            </a:r>
            <a:r>
              <a:rPr kumimoji="1"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적립금</a:t>
            </a:r>
            <a:r>
              <a:rPr kumimoji="1"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·</a:t>
            </a:r>
            <a:r>
              <a:rPr kumimoji="1"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이월이익잉여금의 합계액</a:t>
            </a:r>
            <a:endParaRPr kumimoji="1" lang="en-US" altLang="ko-KR" sz="2400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lang="en-US" altLang="ko-KR" sz="120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r>
              <a:rPr lang="ko-KR" altLang="en-US" sz="240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외은지점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: </a:t>
            </a:r>
            <a:r>
              <a:rPr lang="ko-KR" altLang="en-US" sz="240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갑기금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·</a:t>
            </a:r>
            <a:r>
              <a:rPr lang="ko-KR" altLang="en-US" sz="240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을기금</a:t>
            </a:r>
            <a:r>
              <a: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·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적립</a:t>
            </a: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금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·</a:t>
            </a:r>
            <a:r>
              <a: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이월이익잉여금의 합계액</a:t>
            </a:r>
            <a:endParaRPr lang="en-US" altLang="ko-KR" sz="2400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2" name="AutoShape 15"/>
          <p:cNvSpPr>
            <a:spLocks noChangeArrowheads="1"/>
          </p:cNvSpPr>
          <p:nvPr/>
        </p:nvSpPr>
        <p:spPr bwMode="auto">
          <a:xfrm>
            <a:off x="539552" y="4377832"/>
            <a:ext cx="4489549" cy="482600"/>
          </a:xfrm>
          <a:prstGeom prst="bevel">
            <a:avLst>
              <a:gd name="adj" fmla="val 12500"/>
            </a:avLst>
          </a:prstGeom>
          <a:solidFill>
            <a:srgbClr val="21A7B5"/>
          </a:solidFill>
          <a:ln w="9525">
            <a:noFill/>
            <a:miter lim="800000"/>
            <a:headEnd/>
            <a:tailEnd/>
          </a:ln>
          <a:effectLst>
            <a:glow rad="101600">
              <a:srgbClr val="21A7B5">
                <a:alpha val="60000"/>
              </a:srgbClr>
            </a:glow>
          </a:effectLst>
        </p:spPr>
        <p:txBody>
          <a:bodyPr wrap="none" anchor="ctr"/>
          <a:lstStyle/>
          <a:p>
            <a:r>
              <a:rPr lang="ko-KR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자기자본 산정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39205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87"/>
            <a:ext cx="10169886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모서리가 둥근 직사각형 3"/>
          <p:cNvSpPr/>
          <p:nvPr/>
        </p:nvSpPr>
        <p:spPr>
          <a:xfrm>
            <a:off x="500396" y="2339677"/>
            <a:ext cx="9116345" cy="4680520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lang="en-US" altLang="ko-KR" sz="240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lang="en-US" altLang="ko-KR" sz="2400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lang="en-US" altLang="ko-KR" sz="240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lang="en-US" altLang="ko-KR" sz="2400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lang="en-US" altLang="ko-KR" sz="240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1.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1"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자본금 또는 영업기금의 </a:t>
            </a:r>
            <a:r>
              <a:rPr kumimoji="1" lang="ko-KR" altLang="en-US" sz="240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실제헷지</a:t>
            </a:r>
            <a:r>
              <a:rPr kumimoji="1" lang="ko-KR" altLang="en-US" sz="2400" kern="0" dirty="0" err="1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분</a:t>
            </a:r>
            <a:endParaRPr kumimoji="1" lang="en-US" altLang="ko-KR" sz="2400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lang="en-US" altLang="ko-KR" sz="1200" kern="0" dirty="0" smtClean="0">
              <a:solidFill>
                <a:srgbClr val="8A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r>
              <a:rPr kumimoji="1"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2. </a:t>
            </a:r>
            <a:r>
              <a:rPr kumimoji="1"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이월이익잉여금의 </a:t>
            </a:r>
            <a:r>
              <a:rPr kumimoji="1" lang="ko-KR" altLang="en-US" sz="240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실제헷지분</a:t>
            </a:r>
            <a:endParaRPr kumimoji="1" lang="en-US" altLang="ko-KR" sz="240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lang="en-US" altLang="ko-KR" sz="1200" kern="0" dirty="0">
              <a:solidFill>
                <a:srgbClr val="8A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3.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외국은행 국내지점이 국내영업충당을 위하여 외화자금을</a:t>
            </a:r>
            <a:endParaRPr lang="en-US" altLang="ko-KR" sz="240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r>
              <a: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환매조건부로 한국은행에 내국지급수단을 대가로 매각한</a:t>
            </a:r>
            <a:endParaRPr lang="en-US" altLang="ko-KR" sz="240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r>
              <a: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외국환매각분 및 </a:t>
            </a:r>
            <a:r>
              <a:rPr lang="ko-KR" altLang="en-US" sz="240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외국환매입분</a:t>
            </a:r>
            <a:endParaRPr lang="en-US" altLang="ko-KR" sz="240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kumimoji="1" lang="en-US" altLang="ko-KR" sz="1200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r>
              <a:rPr kumimoji="1"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4. </a:t>
            </a:r>
            <a:r>
              <a:rPr kumimoji="1"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통화옵션거래에 대한 </a:t>
            </a:r>
            <a:r>
              <a:rPr kumimoji="1" lang="ko-KR" altLang="en-US" sz="240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델타헤징분</a:t>
            </a:r>
            <a:r>
              <a:rPr kumimoji="1"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kumimoji="1"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종합</a:t>
            </a:r>
            <a:r>
              <a:rPr kumimoji="1"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r>
              <a:rPr kumimoji="1"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1"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  </a:t>
            </a:r>
            <a:r>
              <a:rPr kumimoji="1"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통화옵션거래에 대한 </a:t>
            </a:r>
            <a:r>
              <a:rPr kumimoji="1" lang="ko-KR" altLang="en-US" sz="240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델타헤징분을</a:t>
            </a:r>
            <a:r>
              <a:rPr kumimoji="1"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제외한 금액</a:t>
            </a:r>
            <a:r>
              <a:rPr kumimoji="1"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kumimoji="1"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선물환</a:t>
            </a:r>
            <a:r>
              <a:rPr kumimoji="1"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kumimoji="1" lang="en-US" altLang="ko-KR" sz="2400" kern="0" dirty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lang="en-US" altLang="ko-KR" sz="3200" b="1" kern="0" dirty="0" smtClean="0">
              <a:solidFill>
                <a:srgbClr val="8A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lang="en-US" altLang="ko-KR" sz="3200" b="1" kern="0" dirty="0">
              <a:solidFill>
                <a:srgbClr val="8A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kumimoji="1" lang="en-US" altLang="ko-KR" sz="1100" kern="0" dirty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kumimoji="1" lang="en-US" altLang="ko-KR" sz="2400" kern="0" dirty="0">
              <a:solidFill>
                <a:srgbClr val="8A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kumimoji="1" lang="en-US" altLang="ko-KR" sz="2400" kern="0" dirty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395461"/>
            <a:ext cx="7168880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defRPr sz="3200" b="1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외국환포지션 </a:t>
            </a:r>
            <a:r>
              <a:rPr lang="ko-KR" altLang="en-US" dirty="0" smtClean="0"/>
              <a:t>한도 관리</a:t>
            </a:r>
            <a:endParaRPr lang="ko-KR" altLang="en-US" dirty="0"/>
          </a:p>
        </p:txBody>
      </p:sp>
      <p:sp>
        <p:nvSpPr>
          <p:cNvPr id="10" name="AutoShape 15"/>
          <p:cNvSpPr>
            <a:spLocks noChangeArrowheads="1"/>
          </p:cNvSpPr>
          <p:nvPr/>
        </p:nvSpPr>
        <p:spPr bwMode="auto">
          <a:xfrm>
            <a:off x="569020" y="1648678"/>
            <a:ext cx="4489549" cy="482600"/>
          </a:xfrm>
          <a:prstGeom prst="bevel">
            <a:avLst>
              <a:gd name="adj" fmla="val 12500"/>
            </a:avLst>
          </a:prstGeom>
          <a:solidFill>
            <a:srgbClr val="21A7B5"/>
          </a:solidFill>
          <a:ln w="9525">
            <a:noFill/>
            <a:miter lim="800000"/>
            <a:headEnd/>
            <a:tailEnd/>
          </a:ln>
          <a:effectLst>
            <a:glow rad="101600">
              <a:srgbClr val="21A7B5">
                <a:alpha val="60000"/>
              </a:srgbClr>
            </a:glow>
          </a:effectLst>
        </p:spPr>
        <p:txBody>
          <a:bodyPr wrap="none" anchor="ctr"/>
          <a:lstStyle/>
          <a:p>
            <a:r>
              <a:rPr lang="ko-KR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한도관리 제외대상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08201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512" y="1687"/>
            <a:ext cx="10169886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모서리가 둥근 직사각형 3"/>
          <p:cNvSpPr/>
          <p:nvPr/>
        </p:nvSpPr>
        <p:spPr>
          <a:xfrm>
            <a:off x="526770" y="2339676"/>
            <a:ext cx="9338078" cy="2088233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>
              <a:buClr>
                <a:srgbClr val="3E7F15"/>
              </a:buClr>
              <a:buSzPts val="900"/>
              <a:buFont typeface="Arial" charset="0"/>
              <a:buNone/>
              <a:defRPr/>
            </a:pPr>
            <a:r>
              <a:rPr lang="ko-KR" altLang="en-US" sz="2400" dirty="0" err="1" smtClean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외은지점이</a:t>
            </a:r>
            <a:r>
              <a:rPr lang="ko-KR" altLang="en-US" sz="2400" dirty="0" smtClean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이월이익잉여금의 </a:t>
            </a:r>
            <a:r>
              <a:rPr lang="ko-KR" altLang="en-US" sz="2400" dirty="0" err="1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환위험을</a:t>
            </a:r>
            <a:r>
              <a:rPr lang="ko-KR" altLang="en-US" sz="24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회피하기</a:t>
            </a:r>
            <a:endParaRPr lang="en-US" altLang="ko-KR" sz="2400" dirty="0">
              <a:solidFill>
                <a:srgbClr val="000066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buClr>
                <a:srgbClr val="3E7F15"/>
              </a:buClr>
              <a:buSzPts val="900"/>
              <a:defRPr/>
            </a:pPr>
            <a:r>
              <a:rPr lang="ko-KR" altLang="en-US" sz="24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위해 외국환을 매입하는 </a:t>
            </a:r>
            <a:r>
              <a:rPr lang="ko-KR" altLang="en-US" sz="2400" dirty="0" smtClean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경우  → </a:t>
            </a:r>
            <a:r>
              <a:rPr lang="en-US" altLang="ko-KR" sz="2400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2400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년 이내</a:t>
            </a:r>
            <a:r>
              <a:rPr lang="en-US" altLang="ko-KR" sz="24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400" dirty="0" err="1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필요시</a:t>
            </a:r>
            <a:r>
              <a:rPr lang="ko-KR" altLang="en-US" sz="24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연장가능</a:t>
            </a:r>
            <a:r>
              <a:rPr lang="en-US" altLang="ko-KR" sz="2400" dirty="0" smtClean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en-US" altLang="ko-KR" sz="2400" dirty="0" smtClean="0">
              <a:solidFill>
                <a:srgbClr val="C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  <a:defRPr/>
            </a:pPr>
            <a:endParaRPr lang="en-US" altLang="ko-KR" sz="1600" dirty="0">
              <a:solidFill>
                <a:srgbClr val="C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914400" fontAlgn="auto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</a:pP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부득이하게 외국환포지션 한도의 초과가 필요하다고 한국은행 총재가 인정하는 경우 </a:t>
            </a:r>
            <a:r>
              <a:rPr lang="ko-KR" altLang="en-US" sz="24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→ </a:t>
            </a:r>
            <a:r>
              <a:rPr lang="en-US" altLang="ko-KR" sz="2400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2400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년 이내</a:t>
            </a:r>
            <a:r>
              <a:rPr lang="en-US" altLang="ko-KR" sz="2400" dirty="0" smtClean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400" dirty="0" err="1" smtClean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필요시</a:t>
            </a:r>
            <a:r>
              <a:rPr lang="ko-KR" altLang="en-US" sz="2400" dirty="0" smtClean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연장가능</a:t>
            </a:r>
            <a:r>
              <a:rPr lang="en-US" altLang="ko-KR" sz="2400" dirty="0" smtClean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en-US" altLang="ko-KR" sz="2400" dirty="0">
              <a:solidFill>
                <a:srgbClr val="000066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395461"/>
            <a:ext cx="7168880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defRPr sz="3200" b="1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외국환포지션 </a:t>
            </a:r>
            <a:r>
              <a:rPr lang="ko-KR" altLang="en-US" dirty="0" smtClean="0"/>
              <a:t>별도한도 인정제도</a:t>
            </a:r>
            <a:endParaRPr lang="ko-KR" altLang="en-US" dirty="0"/>
          </a:p>
        </p:txBody>
      </p:sp>
      <p:sp>
        <p:nvSpPr>
          <p:cNvPr id="10" name="AutoShape 15"/>
          <p:cNvSpPr>
            <a:spLocks noChangeArrowheads="1"/>
          </p:cNvSpPr>
          <p:nvPr/>
        </p:nvSpPr>
        <p:spPr bwMode="auto">
          <a:xfrm>
            <a:off x="569020" y="1648678"/>
            <a:ext cx="4489549" cy="482600"/>
          </a:xfrm>
          <a:prstGeom prst="bevel">
            <a:avLst>
              <a:gd name="adj" fmla="val 12500"/>
            </a:avLst>
          </a:prstGeom>
          <a:solidFill>
            <a:srgbClr val="21A7B5"/>
          </a:solidFill>
          <a:ln w="9525">
            <a:noFill/>
            <a:miter lim="800000"/>
            <a:headEnd/>
            <a:tailEnd/>
          </a:ln>
          <a:effectLst>
            <a:glow rad="101600">
              <a:srgbClr val="21A7B5">
                <a:alpha val="60000"/>
              </a:srgbClr>
            </a:glow>
          </a:effectLst>
        </p:spPr>
        <p:txBody>
          <a:bodyPr wrap="none" anchor="ctr"/>
          <a:lstStyle/>
          <a:p>
            <a:r>
              <a:rPr lang="ko-KR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인정사유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97230" y="5219997"/>
            <a:ext cx="9253578" cy="1872208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ko-KR" altLang="en-US" sz="24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별도한도 인정신청서를 </a:t>
            </a:r>
            <a:r>
              <a:rPr lang="ko-KR" altLang="en-US" sz="2400" dirty="0" smtClean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기한 </a:t>
            </a:r>
            <a:r>
              <a:rPr lang="ko-KR" altLang="en-US" sz="24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내에 </a:t>
            </a:r>
            <a:r>
              <a:rPr lang="ko-KR" altLang="en-US" sz="2400" dirty="0" smtClean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한국은행 국제국장에게 제출</a:t>
            </a:r>
            <a:endParaRPr lang="en-US" altLang="ko-KR" sz="2400" dirty="0" smtClean="0">
              <a:solidFill>
                <a:srgbClr val="000066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endParaRPr lang="en-US" altLang="ko-KR" sz="2400" dirty="0" smtClean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이월이익잉여금 </a:t>
            </a:r>
            <a:r>
              <a:rPr lang="ko-KR" altLang="en-US" sz="2400" dirty="0" err="1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환위험헤지를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위해 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별도한도를 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인정받는 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경우</a:t>
            </a:r>
            <a:endParaRPr lang="en-US" altLang="ko-KR" sz="2400" dirty="0" smtClean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매년 결산일 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개월 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전까지</a:t>
            </a:r>
            <a:endParaRPr lang="en-US" altLang="ko-KR" sz="2400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AutoShape 15"/>
          <p:cNvSpPr>
            <a:spLocks noChangeArrowheads="1"/>
          </p:cNvSpPr>
          <p:nvPr/>
        </p:nvSpPr>
        <p:spPr bwMode="auto">
          <a:xfrm>
            <a:off x="569019" y="4635421"/>
            <a:ext cx="4489549" cy="482600"/>
          </a:xfrm>
          <a:prstGeom prst="bevel">
            <a:avLst>
              <a:gd name="adj" fmla="val 12500"/>
            </a:avLst>
          </a:prstGeom>
          <a:solidFill>
            <a:srgbClr val="21A7B5"/>
          </a:solidFill>
          <a:ln w="9525">
            <a:noFill/>
            <a:miter lim="800000"/>
            <a:headEnd/>
            <a:tailEnd/>
          </a:ln>
          <a:effectLst>
            <a:glow rad="101600">
              <a:srgbClr val="21A7B5">
                <a:alpha val="60000"/>
              </a:srgbClr>
            </a:glow>
          </a:effectLst>
        </p:spPr>
        <p:txBody>
          <a:bodyPr wrap="none" anchor="ctr"/>
          <a:lstStyle/>
          <a:p>
            <a:r>
              <a:rPr lang="ko-KR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절 차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23257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87"/>
            <a:ext cx="10169886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39552" y="395461"/>
            <a:ext cx="9329738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defRPr sz="3200" b="1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외국환포지션 </a:t>
            </a:r>
            <a:r>
              <a:rPr lang="ko-KR" altLang="en-US" dirty="0" smtClean="0"/>
              <a:t>한도 위반 등 발생시 조치사항</a:t>
            </a:r>
            <a:endParaRPr lang="ko-KR" altLang="en-US" dirty="0"/>
          </a:p>
        </p:txBody>
      </p:sp>
      <p:sp>
        <p:nvSpPr>
          <p:cNvPr id="10" name="AutoShape 15"/>
          <p:cNvSpPr>
            <a:spLocks noChangeArrowheads="1"/>
          </p:cNvSpPr>
          <p:nvPr/>
        </p:nvSpPr>
        <p:spPr bwMode="auto">
          <a:xfrm>
            <a:off x="569020" y="1648678"/>
            <a:ext cx="4489549" cy="482600"/>
          </a:xfrm>
          <a:prstGeom prst="bevel">
            <a:avLst>
              <a:gd name="adj" fmla="val 12500"/>
            </a:avLst>
          </a:prstGeom>
          <a:solidFill>
            <a:srgbClr val="21A7B5"/>
          </a:solidFill>
          <a:ln w="9525">
            <a:noFill/>
            <a:miter lim="800000"/>
            <a:headEnd/>
            <a:tailEnd/>
          </a:ln>
          <a:effectLst>
            <a:glow rad="101600">
              <a:srgbClr val="21A7B5">
                <a:alpha val="60000"/>
              </a:srgbClr>
            </a:glow>
          </a:effectLst>
        </p:spPr>
        <p:txBody>
          <a:bodyPr wrap="none" anchor="ctr"/>
          <a:lstStyle/>
          <a:p>
            <a:r>
              <a:rPr lang="ko-KR" alt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한도위반시</a:t>
            </a:r>
            <a:r>
              <a:rPr lang="ko-KR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 조치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615712" y="2411685"/>
            <a:ext cx="9253578" cy="4392488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latinLnBrk="1"/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외국환은행은 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한도를 위반한 경우 </a:t>
            </a:r>
            <a:r>
              <a:rPr lang="en-US" altLang="ko-KR" sz="2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2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영업일 내에 </a:t>
            </a:r>
            <a:r>
              <a:rPr lang="ko-KR" altLang="en-US" sz="2400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금융감독원장 및 한국은행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에 이를 </a:t>
            </a:r>
            <a:r>
              <a:rPr lang="ko-KR" altLang="en-US" sz="2400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보고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할 의무가 있음</a:t>
            </a:r>
            <a:endParaRPr lang="ko-KR" altLang="en-US" sz="2400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latinLnBrk="1"/>
            <a:endParaRPr lang="en-US" altLang="ko-KR" sz="2400" dirty="0" smtClean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latinLnBrk="1"/>
            <a:r>
              <a:rPr lang="ko-KR" altLang="en-US" sz="2400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외환파생포지션 </a:t>
            </a:r>
            <a:r>
              <a:rPr lang="ko-KR" altLang="en-US" sz="2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한도 위반</a:t>
            </a:r>
            <a:r>
              <a:rPr lang="en-US" altLang="ko-KR" sz="2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보고의무 해태 및 허위보고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가</a:t>
            </a:r>
            <a:r>
              <a:rPr lang="ko-KR" altLang="en-US" sz="2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발생하는 경우 </a:t>
            </a:r>
            <a:r>
              <a:rPr lang="ko-KR" altLang="en-US" sz="2400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한국은행 국제국장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은 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외국환은행의 업무수행에 대한 제재권한이 있는 </a:t>
            </a:r>
            <a:r>
              <a:rPr lang="ko-KR" altLang="en-US" sz="2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금융감독원에 </a:t>
            </a:r>
            <a:r>
              <a:rPr lang="ko-KR" altLang="en-US" sz="2400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ko-KR" altLang="en-US" sz="2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위반사실을 통보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할 수 있음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외국환거래업무 취급절차 제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23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조 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항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2400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931152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87"/>
            <a:ext cx="10169886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39552" y="395461"/>
            <a:ext cx="9311256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defRPr sz="3200" b="1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외국환포지션 </a:t>
            </a:r>
            <a:r>
              <a:rPr lang="ko-KR" altLang="en-US" smtClean="0"/>
              <a:t>한도 위반 등 발생시 </a:t>
            </a:r>
            <a:r>
              <a:rPr lang="ko-KR" altLang="en-US" dirty="0" smtClean="0"/>
              <a:t>조치사항</a:t>
            </a:r>
            <a:endParaRPr lang="ko-KR" altLang="en-US" dirty="0"/>
          </a:p>
        </p:txBody>
      </p:sp>
      <p:sp>
        <p:nvSpPr>
          <p:cNvPr id="10" name="AutoShape 15"/>
          <p:cNvSpPr>
            <a:spLocks noChangeArrowheads="1"/>
          </p:cNvSpPr>
          <p:nvPr/>
        </p:nvSpPr>
        <p:spPr bwMode="auto">
          <a:xfrm>
            <a:off x="569020" y="1648678"/>
            <a:ext cx="4489549" cy="482600"/>
          </a:xfrm>
          <a:prstGeom prst="bevel">
            <a:avLst>
              <a:gd name="adj" fmla="val 12500"/>
            </a:avLst>
          </a:prstGeom>
          <a:solidFill>
            <a:srgbClr val="21A7B5"/>
          </a:solidFill>
          <a:ln w="9525">
            <a:noFill/>
            <a:miter lim="800000"/>
            <a:headEnd/>
            <a:tailEnd/>
          </a:ln>
          <a:effectLst>
            <a:glow rad="101600">
              <a:srgbClr val="21A7B5">
                <a:alpha val="60000"/>
              </a:srgbClr>
            </a:glow>
          </a:effectLst>
        </p:spPr>
        <p:txBody>
          <a:bodyPr wrap="none" anchor="ctr"/>
          <a:lstStyle/>
          <a:p>
            <a:r>
              <a:rPr lang="ko-KR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제재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44116" y="2409243"/>
            <a:ext cx="9253578" cy="453650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latinLnBrk="1"/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외환파생포지션 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한도위반 발생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보고의무 해태 및 허위보고의 경우 금융감독원장은 해당기관에 대한 제재가 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가능</a:t>
            </a:r>
            <a:endParaRPr lang="en-US" altLang="ko-KR" sz="2400" dirty="0" smtClean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latinLnBrk="1"/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400" dirty="0" err="1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금융투자업규정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제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3-53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조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제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3-54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조</a:t>
            </a:r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  <a:p>
            <a:pPr latinLnBrk="1"/>
            <a:endParaRPr lang="en-US" altLang="ko-KR" sz="2400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latinLnBrk="1"/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400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한도위반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주의</a:t>
            </a:r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과거 </a:t>
            </a:r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년간 한도위반 </a:t>
            </a:r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회 누적의 경우</a:t>
            </a:r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  <a:p>
            <a:pPr latinLnBrk="1"/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 </a:t>
            </a:r>
            <a:r>
              <a:rPr lang="ko-KR" altLang="en-US" sz="2400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외국환포지션 </a:t>
            </a:r>
            <a:r>
              <a:rPr lang="ko-KR" altLang="en-US" sz="2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한도 감축</a:t>
            </a:r>
            <a:r>
              <a:rPr lang="ko-KR" altLang="en-US" sz="2400" baseline="300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*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(2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회 누적의 경우</a:t>
            </a:r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en-US" altLang="ko-KR" sz="2400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latinLnBrk="1"/>
            <a:endParaRPr lang="en-US" altLang="ko-KR" sz="1400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latinLnBrk="1"/>
            <a:r>
              <a:rPr lang="en-US" altLang="ko-KR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      * </a:t>
            </a:r>
            <a:r>
              <a:rPr lang="ko-KR" altLang="en-US" dirty="0" err="1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일평균</a:t>
            </a:r>
            <a:r>
              <a:rPr lang="ko-KR" altLang="en-US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한도위반금액</a:t>
            </a:r>
            <a:r>
              <a:rPr lang="en-US" altLang="ko-KR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×</a:t>
            </a:r>
            <a:r>
              <a:rPr lang="ko-KR" altLang="en-US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한도위반일수</a:t>
            </a:r>
            <a:endParaRPr lang="en-US" altLang="ko-KR" dirty="0" smtClean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 latinLnBrk="1">
              <a:buFont typeface="Arial" charset="0"/>
              <a:buChar char="•"/>
            </a:pPr>
            <a:endParaRPr lang="ko-KR" altLang="en-US" sz="2400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latinLnBrk="1"/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400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보고의무 </a:t>
            </a:r>
            <a:r>
              <a:rPr lang="ko-KR" altLang="en-US" sz="2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해태 및 허위보고 </a:t>
            </a:r>
            <a:endParaRPr lang="en-US" altLang="ko-KR" sz="2400" dirty="0" smtClean="0">
              <a:solidFill>
                <a:srgbClr val="C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latinLnBrk="1"/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: </a:t>
            </a:r>
            <a:r>
              <a:rPr lang="ko-KR" altLang="en-US" sz="2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주의</a:t>
            </a:r>
            <a:r>
              <a:rPr lang="en-US" altLang="ko-KR" sz="2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시정명령 및 외국환포지션한도의 일정기간 감축</a:t>
            </a:r>
          </a:p>
        </p:txBody>
      </p:sp>
    </p:spTree>
    <p:extLst>
      <p:ext uri="{BB962C8B-B14F-4D97-AF65-F5344CB8AC3E}">
        <p14:creationId xmlns:p14="http://schemas.microsoft.com/office/powerpoint/2010/main" val="33830411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1687"/>
            <a:ext cx="1008538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모서리가 둥근 직사각형 8"/>
          <p:cNvSpPr/>
          <p:nvPr/>
        </p:nvSpPr>
        <p:spPr bwMode="auto">
          <a:xfrm>
            <a:off x="1007864" y="3059757"/>
            <a:ext cx="7704856" cy="990641"/>
          </a:xfrm>
          <a:prstGeom prst="roundRect">
            <a:avLst>
              <a:gd name="adj" fmla="val 46013"/>
            </a:avLst>
          </a:prstGeom>
          <a:gradFill flip="none" rotWithShape="1">
            <a:gsLst>
              <a:gs pos="0">
                <a:srgbClr val="21A7B5"/>
              </a:gs>
              <a:gs pos="12000">
                <a:srgbClr val="2DACB9"/>
              </a:gs>
              <a:gs pos="23000">
                <a:schemeClr val="bg1"/>
              </a:gs>
              <a:gs pos="0">
                <a:srgbClr val="33CCFF">
                  <a:gamma/>
                  <a:shade val="45882"/>
                  <a:invGamma/>
                </a:srgb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449263" rtl="0" eaLnBrk="1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kumimoji="0" lang="ko-KR" altLang="en-US" sz="3600" b="0" i="0" u="none" strike="noStrike" cap="none" normalizeH="0" baseline="0" dirty="0" smtClean="0">
                <a:ln>
                  <a:noFill/>
                </a:ln>
                <a:solidFill>
                  <a:srgbClr val="2B4351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           외국환포지션 보고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1662338" y="3183326"/>
            <a:ext cx="354013" cy="59896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/>
          <a:lstStyle/>
          <a:p>
            <a:pPr algn="ctr">
              <a:defRPr/>
            </a:pPr>
            <a:r>
              <a:rPr lang="en-US" altLang="ko-KR" sz="3600" dirty="0" smtClean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rPr>
              <a:t>Ⅳ</a:t>
            </a:r>
            <a:endParaRPr lang="en-US" altLang="ko-KR" sz="3600" dirty="0">
              <a:solidFill>
                <a:srgbClr val="FFFF99"/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27336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1687"/>
            <a:ext cx="10085388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31800" y="214041"/>
            <a:ext cx="7308552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defRPr sz="3200" b="1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외국환포지션 보고서 작성요령</a:t>
            </a:r>
          </a:p>
        </p:txBody>
      </p:sp>
      <p:pic>
        <p:nvPicPr>
          <p:cNvPr id="6" name="Picture 2"/>
          <p:cNvPicPr preferRelativeResize="0">
            <a:picLocks noChangeArrowheads="1"/>
          </p:cNvPicPr>
          <p:nvPr/>
        </p:nvPicPr>
        <p:blipFill>
          <a:blip r:embed="rId5" cstate="print"/>
          <a:srcRect t="19738" r="8072" b="33333"/>
          <a:stretch>
            <a:fillRect/>
          </a:stretch>
        </p:blipFill>
        <p:spPr bwMode="auto">
          <a:xfrm>
            <a:off x="573072" y="1979637"/>
            <a:ext cx="8929718" cy="442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224979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1687"/>
            <a:ext cx="1008538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254" y="323453"/>
            <a:ext cx="8533208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200" b="1" dirty="0" smtClean="0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외국환포지션 </a:t>
            </a:r>
            <a:r>
              <a:rPr lang="ko-KR" altLang="en-US" sz="3200" b="1" dirty="0" err="1" smtClean="0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보고시</a:t>
            </a:r>
            <a:r>
              <a:rPr lang="ko-KR" altLang="en-US" sz="3200" b="1" dirty="0" smtClean="0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 주의 사항</a:t>
            </a:r>
            <a:endParaRPr lang="ko-KR" altLang="en-US" sz="3200" b="1" dirty="0">
              <a:ln w="1905"/>
              <a:solidFill>
                <a:srgbClr val="2B435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1" name="그룹 4"/>
          <p:cNvGrpSpPr>
            <a:grpSpLocks noChangeAspect="1"/>
          </p:cNvGrpSpPr>
          <p:nvPr/>
        </p:nvGrpSpPr>
        <p:grpSpPr>
          <a:xfrm>
            <a:off x="533254" y="1619597"/>
            <a:ext cx="9285221" cy="5184576"/>
            <a:chOff x="354110" y="3261639"/>
            <a:chExt cx="7861229" cy="951685"/>
          </a:xfrm>
        </p:grpSpPr>
        <p:sp>
          <p:nvSpPr>
            <p:cNvPr id="22" name="모서리가 둥근 직사각형 5"/>
            <p:cNvSpPr/>
            <p:nvPr/>
          </p:nvSpPr>
          <p:spPr>
            <a:xfrm>
              <a:off x="2000232" y="3261639"/>
              <a:ext cx="6215107" cy="270899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40000">
                  <a:srgbClr val="E4EDF0"/>
                </a:gs>
                <a:gs pos="100000">
                  <a:srgbClr val="CBDDE3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FX4441 (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종합 포지션상황보고서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와 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FX4450 </a:t>
              </a: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(</a:t>
              </a:r>
              <a:r>
                <a:rPr lang="ko-KR" altLang="en-US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선물환 포지션상황보고서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의 </a:t>
              </a:r>
              <a:r>
                <a:rPr lang="ko-KR" altLang="en-US" sz="240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자기자본은 동일한 금액이 입력되어야 함</a:t>
              </a:r>
              <a:endParaRPr lang="ko-KR" altLang="en-US" sz="2400" kern="0" dirty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23" name="모서리가 둥근 직사각형 6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solidFill>
              <a:srgbClr val="21A7B5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자기자본 </a:t>
              </a:r>
              <a:endParaRPr kumimoji="0" lang="en-US" altLang="ko-KR" sz="2400" b="1" i="0" u="none" strike="noStrike" kern="0" cap="none" spc="-15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00" b="1" kern="0" spc="-150" dirty="0" smtClean="0">
                  <a:solidFill>
                    <a:sysClr val="window" lastClr="FFFFFF"/>
                  </a:solidFill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산</a:t>
              </a:r>
              <a:r>
                <a:rPr lang="ko-KR" altLang="en-US" sz="2400" b="1" kern="0" spc="-150" dirty="0">
                  <a:solidFill>
                    <a:sysClr val="window" lastClr="FFFFFF"/>
                  </a:solidFill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정</a:t>
              </a:r>
              <a:endParaRPr kumimoji="0" lang="ko-KR" altLang="en-US" sz="24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  <p:sp>
          <p:nvSpPr>
            <p:cNvPr id="14" name="모서리가 둥근 직사각형 5"/>
            <p:cNvSpPr/>
            <p:nvPr/>
          </p:nvSpPr>
          <p:spPr>
            <a:xfrm>
              <a:off x="2000232" y="3571238"/>
              <a:ext cx="6215107" cy="637438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40000">
                  <a:srgbClr val="E4EDF0"/>
                </a:gs>
                <a:gs pos="100000">
                  <a:srgbClr val="CBDDE3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자기자본의 산정은 </a:t>
              </a:r>
              <a:r>
                <a:rPr lang="ko-KR" altLang="en-US" sz="240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금융감독원 업무보고서 대차대조표</a:t>
              </a:r>
              <a:r>
                <a:rPr lang="en-US" altLang="ko-KR" sz="240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(</a:t>
              </a:r>
              <a:r>
                <a:rPr lang="ko-KR" altLang="en-US" sz="240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은행계정</a:t>
              </a:r>
              <a:r>
                <a:rPr lang="en-US" altLang="ko-KR" sz="240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2400" kern="0" dirty="0" err="1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총괄분</a:t>
              </a:r>
              <a:r>
                <a:rPr lang="en-US" altLang="ko-KR" sz="240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)[B2101]</a:t>
              </a:r>
              <a:r>
                <a:rPr lang="ko-KR" altLang="en-US" sz="240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계정을 기준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으로 산정</a:t>
              </a:r>
              <a:r>
                <a:rPr lang="en-US" altLang="ko-KR" sz="2400" u="sng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(</a:t>
              </a:r>
              <a:r>
                <a:rPr lang="ko-KR" altLang="en-US" sz="2400" u="sng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보고서 </a:t>
              </a:r>
              <a:r>
                <a:rPr lang="ko-KR" altLang="en-US" sz="2400" u="sng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변경시</a:t>
              </a:r>
              <a:r>
                <a:rPr lang="ko-KR" altLang="en-US" sz="2400" u="sng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같이 수정보고</a:t>
              </a:r>
              <a:r>
                <a:rPr lang="en-US" altLang="ko-KR" sz="2400" u="sng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endParaRPr lang="en-US" altLang="ko-KR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marL="342900" indent="-342900"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Tx/>
                <a:buChar char="-"/>
              </a:pP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공통 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: </a:t>
              </a:r>
              <a:r>
                <a:rPr lang="ko-KR" altLang="en-US" sz="2400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제준비금과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sz="2400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처분전이익잉여금은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자본총계 중 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4. 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이익잉여금 내 </a:t>
              </a:r>
              <a:r>
                <a:rPr lang="ko-KR" altLang="en-US" sz="2400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제준비금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2400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처분전이익잉여금</a:t>
              </a:r>
              <a:endPara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endParaRPr lang="en-US" altLang="ko-KR" sz="12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marL="342900" indent="-342900"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Tx/>
                <a:buChar char="-"/>
              </a:pPr>
              <a:r>
                <a:rPr lang="ko-KR" altLang="en-US" sz="2400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외은지점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: </a:t>
              </a:r>
              <a:r>
                <a:rPr lang="ko-KR" altLang="en-US" sz="2400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을기금은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Ⅲ. 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기타부채</a:t>
              </a:r>
              <a:r>
                <a:rPr lang="en-US" altLang="ko-KR" sz="2400" kern="0" dirty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중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12.</a:t>
              </a:r>
              <a:r>
                <a:rPr lang="ko-KR" altLang="en-US" sz="2400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본지점계정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내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다</a:t>
              </a:r>
              <a:r>
                <a:rPr lang="en-US" altLang="ko-KR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.</a:t>
              </a:r>
              <a:r>
                <a:rPr lang="ko-KR" altLang="en-US" sz="2400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외화본지점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내 </a:t>
              </a:r>
              <a:r>
                <a:rPr lang="ko-KR" altLang="en-US" sz="2400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을기금</a:t>
              </a:r>
              <a:endPara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잉크 1"/>
              <p14:cNvContentPartPr/>
              <p14:nvPr/>
            </p14:nvContentPartPr>
            <p14:xfrm>
              <a:off x="7174440" y="6001560"/>
              <a:ext cx="360" cy="360"/>
            </p14:xfrm>
          </p:contentPart>
        </mc:Choice>
        <mc:Fallback xmlns="">
          <p:pic>
            <p:nvPicPr>
              <p:cNvPr id="2" name="잉크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65080" y="59922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18530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1687"/>
            <a:ext cx="1008538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56" y="146050"/>
            <a:ext cx="7776863" cy="726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77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1687"/>
            <a:ext cx="1008538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254" y="323453"/>
            <a:ext cx="8533208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200" b="1" dirty="0" smtClean="0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외국환포지션 </a:t>
            </a:r>
            <a:r>
              <a:rPr lang="ko-KR" altLang="en-US" sz="3200" b="1" dirty="0" err="1" smtClean="0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보고시</a:t>
            </a:r>
            <a:r>
              <a:rPr lang="ko-KR" altLang="en-US" sz="3200" b="1" dirty="0" smtClean="0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 주의 사항</a:t>
            </a:r>
            <a:endParaRPr lang="ko-KR" altLang="en-US" sz="3200" b="1" dirty="0">
              <a:ln w="1905"/>
              <a:solidFill>
                <a:srgbClr val="2B435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1" name="그룹 4"/>
          <p:cNvGrpSpPr>
            <a:grpSpLocks noChangeAspect="1"/>
          </p:cNvGrpSpPr>
          <p:nvPr/>
        </p:nvGrpSpPr>
        <p:grpSpPr>
          <a:xfrm>
            <a:off x="533254" y="5580037"/>
            <a:ext cx="9285221" cy="1351894"/>
            <a:chOff x="354110" y="3261639"/>
            <a:chExt cx="7861229" cy="951685"/>
          </a:xfrm>
        </p:grpSpPr>
        <p:sp>
          <p:nvSpPr>
            <p:cNvPr id="22" name="모서리가 둥근 직사각형 5"/>
            <p:cNvSpPr/>
            <p:nvPr/>
          </p:nvSpPr>
          <p:spPr>
            <a:xfrm>
              <a:off x="2000232" y="3261639"/>
              <a:ext cx="6215107" cy="942213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40000">
                  <a:srgbClr val="E4EDF0"/>
                </a:gs>
                <a:gs pos="100000">
                  <a:srgbClr val="CBDDE3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defTabSz="914400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</a:pPr>
              <a:r>
                <a:rPr lang="ko-KR" altLang="en-US" sz="240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매월 </a:t>
              </a:r>
              <a:r>
                <a:rPr lang="en-US" altLang="ko-KR" sz="240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20</a:t>
              </a:r>
              <a:r>
                <a:rPr lang="ko-KR" altLang="en-US" sz="240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일 이후 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보고내용 </a:t>
              </a:r>
              <a:r>
                <a:rPr lang="ko-KR" altLang="en-US" sz="2400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변경시에는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반드시   한국은행에 </a:t>
              </a:r>
              <a:r>
                <a:rPr lang="ko-KR" altLang="en-US" sz="2400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통보후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수정보고 요망</a:t>
              </a:r>
              <a:endParaRPr lang="ko-KR" altLang="en-US" sz="2400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23" name="모서리가 둥근 직사각형 6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solidFill>
              <a:srgbClr val="21A7B5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보고내용 변경</a:t>
              </a:r>
              <a:endParaRPr kumimoji="0" lang="ko-KR" altLang="en-US" sz="24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24" name="그룹 10"/>
          <p:cNvGrpSpPr>
            <a:grpSpLocks noChangeAspect="1"/>
          </p:cNvGrpSpPr>
          <p:nvPr/>
        </p:nvGrpSpPr>
        <p:grpSpPr>
          <a:xfrm>
            <a:off x="507619" y="1691604"/>
            <a:ext cx="9285221" cy="3744417"/>
            <a:chOff x="354110" y="3261640"/>
            <a:chExt cx="7861229" cy="1067743"/>
          </a:xfrm>
        </p:grpSpPr>
        <p:sp>
          <p:nvSpPr>
            <p:cNvPr id="25" name="모서리가 둥근 직사각형 24"/>
            <p:cNvSpPr/>
            <p:nvPr/>
          </p:nvSpPr>
          <p:spPr>
            <a:xfrm>
              <a:off x="2000232" y="3261640"/>
              <a:ext cx="6215107" cy="1067743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40000">
                  <a:srgbClr val="E4EDF0"/>
                </a:gs>
                <a:gs pos="100000">
                  <a:srgbClr val="CBDDE3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just" fontAlgn="auto" latinLnBrk="0">
                <a:spcBef>
                  <a:spcPts val="0"/>
                </a:spcBef>
                <a:spcAft>
                  <a:spcPts val="600"/>
                </a:spcAft>
                <a:buClr>
                  <a:srgbClr val="4F81BD">
                    <a:lumMod val="75000"/>
                  </a:srgbClr>
                </a:buClr>
                <a:buSzPct val="145000"/>
                <a:defRPr/>
              </a:pP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전년도 외국환포지션 한도 </a:t>
              </a:r>
              <a:r>
                <a:rPr lang="ko-KR" altLang="en-US" sz="2400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산정시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적용환율 및 전년도 평균 매매기준율의 평균으로 산정하여 외환전산망에 </a:t>
              </a:r>
              <a:r>
                <a:rPr lang="ko-KR" altLang="en-US" sz="2400" kern="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매년말</a:t>
              </a:r>
              <a:r>
                <a:rPr lang="ko-KR" altLang="en-US" sz="24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공지</a:t>
              </a:r>
              <a:endPara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algn="just" fontAlgn="auto" latinLnBrk="0">
                <a:spcBef>
                  <a:spcPts val="0"/>
                </a:spcBef>
                <a:spcAft>
                  <a:spcPts val="600"/>
                </a:spcAft>
                <a:buClr>
                  <a:srgbClr val="4F81BD">
                    <a:lumMod val="75000"/>
                  </a:srgbClr>
                </a:buClr>
                <a:buSzPct val="145000"/>
                <a:defRPr/>
              </a:pPr>
              <a:endParaRPr lang="en-US" altLang="ko-KR" sz="12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algn="just" fontAlgn="auto" latinLnBrk="0">
                <a:spcBef>
                  <a:spcPts val="0"/>
                </a:spcBef>
                <a:spcAft>
                  <a:spcPts val="600"/>
                </a:spcAft>
                <a:buClr>
                  <a:srgbClr val="4F81BD">
                    <a:lumMod val="75000"/>
                  </a:srgbClr>
                </a:buClr>
                <a:buSzPct val="145000"/>
                <a:defRPr/>
              </a:pPr>
              <a:r>
                <a:rPr lang="en-US" altLang="ko-KR" sz="240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&lt;</a:t>
              </a:r>
              <a:r>
                <a:rPr lang="ko-KR" altLang="en-US" sz="240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주의</a:t>
              </a:r>
              <a:r>
                <a:rPr lang="en-US" altLang="ko-KR" sz="240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&gt;</a:t>
              </a:r>
            </a:p>
            <a:p>
              <a:pPr algn="just" fontAlgn="auto" latinLnBrk="0">
                <a:spcBef>
                  <a:spcPts val="0"/>
                </a:spcBef>
                <a:spcAft>
                  <a:spcPts val="600"/>
                </a:spcAft>
                <a:buClr>
                  <a:srgbClr val="4F81BD">
                    <a:lumMod val="75000"/>
                  </a:srgbClr>
                </a:buClr>
                <a:buSzPct val="145000"/>
                <a:defRPr/>
              </a:pPr>
              <a:r>
                <a:rPr lang="ko-KR" altLang="en-US" sz="2400" kern="0" spc="-150" dirty="0" err="1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전월말</a:t>
              </a:r>
              <a:r>
                <a:rPr lang="ko-KR" altLang="en-US" sz="2400" kern="0" spc="-15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자기자본을 기준으로 하므로 </a:t>
              </a:r>
              <a:r>
                <a:rPr lang="en-US" altLang="ko-KR" sz="2400" kern="0" spc="-15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1,2</a:t>
              </a:r>
              <a:r>
                <a:rPr lang="ko-KR" altLang="en-US" sz="2400" kern="0" spc="-15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월 포지션 </a:t>
              </a:r>
              <a:r>
                <a:rPr lang="ko-KR" altLang="en-US" sz="2400" kern="0" spc="-150" dirty="0" err="1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보고시</a:t>
              </a:r>
              <a:r>
                <a:rPr lang="ko-KR" altLang="en-US" sz="2400" kern="0" spc="-15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 전년도 고시환율을 기준</a:t>
              </a:r>
              <a:r>
                <a:rPr lang="ko-KR" altLang="en-US" sz="2400" kern="0" spc="-15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으로 해야 함</a:t>
              </a:r>
              <a:endParaRPr lang="en-US" altLang="ko-KR" sz="2400" kern="0" spc="-15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algn="just" fontAlgn="auto" latinLnBrk="0">
                <a:spcBef>
                  <a:spcPts val="0"/>
                </a:spcBef>
                <a:spcAft>
                  <a:spcPts val="600"/>
                </a:spcAft>
                <a:buClr>
                  <a:srgbClr val="4F81BD">
                    <a:lumMod val="75000"/>
                  </a:srgbClr>
                </a:buClr>
                <a:buSzPct val="145000"/>
                <a:defRPr/>
              </a:pPr>
              <a:r>
                <a:rPr lang="en-US" altLang="ko-KR" sz="20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 - 1,2</a:t>
              </a:r>
              <a:r>
                <a:rPr lang="ko-KR" altLang="en-US" sz="20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월에 보고하는 포지션은 </a:t>
              </a:r>
              <a:r>
                <a:rPr lang="en-US" altLang="ko-KR" sz="20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12,1</a:t>
              </a:r>
              <a:r>
                <a:rPr lang="ko-KR" altLang="en-US" sz="2000" kern="0" dirty="0" smtClean="0">
                  <a:solidFill>
                    <a:srgbClr val="002060"/>
                  </a:solidFill>
                  <a:latin typeface="HY견고딕" pitchFamily="18" charset="-127"/>
                  <a:ea typeface="HY견고딕" pitchFamily="18" charset="-127"/>
                </a:rPr>
                <a:t>월 포지션이므로</a:t>
              </a:r>
              <a:endParaRPr lang="en-US" altLang="ko-KR" sz="20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26" name="모서리가 둥근 직사각형 25"/>
            <p:cNvSpPr/>
            <p:nvPr/>
          </p:nvSpPr>
          <p:spPr>
            <a:xfrm>
              <a:off x="354110" y="3267750"/>
              <a:ext cx="1500198" cy="1061633"/>
            </a:xfrm>
            <a:prstGeom prst="roundRect">
              <a:avLst/>
            </a:prstGeom>
            <a:solidFill>
              <a:srgbClr val="21A7B5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00" b="1" kern="0" spc="-150" dirty="0" smtClean="0">
                  <a:solidFill>
                    <a:sysClr val="window" lastClr="FFFFFF"/>
                  </a:solidFill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환  율</a:t>
              </a:r>
              <a:endParaRPr lang="ko-KR" altLang="en-US" sz="2400" b="1" kern="0" spc="-150" dirty="0">
                <a:solidFill>
                  <a:sysClr val="window" lastClr="FFFFFF"/>
                </a:solidFill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57297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1687"/>
            <a:ext cx="1008538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모서리가 둥근 직사각형 3"/>
          <p:cNvSpPr/>
          <p:nvPr/>
        </p:nvSpPr>
        <p:spPr>
          <a:xfrm>
            <a:off x="581350" y="1644190"/>
            <a:ext cx="9211490" cy="537600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40000">
                <a:srgbClr val="E4EDF0"/>
              </a:gs>
              <a:gs pos="100000">
                <a:srgbClr val="CBDDE3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&lt;</a:t>
            </a:r>
            <a:r>
              <a:rPr lang="ko-KR" altLang="en-US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보고서간 주요 </a:t>
            </a:r>
            <a:r>
              <a:rPr lang="ko-KR" altLang="en-US" sz="2000" dirty="0" err="1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체크로직</a:t>
            </a: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endParaRPr lang="en-US" altLang="ko-KR" sz="2000" dirty="0">
              <a:solidFill>
                <a:srgbClr val="000066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(FX4441)</a:t>
            </a:r>
            <a:r>
              <a:rPr lang="ko-KR" altLang="en-US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관리대상포지션 </a:t>
            </a: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= (FX4442) max(</a:t>
            </a:r>
            <a:r>
              <a:rPr lang="ko-KR" altLang="en-US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｜매입초과포지션｜</a:t>
            </a: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｜매각초과포지션｜</a:t>
            </a: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endParaRPr lang="en-US" altLang="ko-KR" sz="2000" dirty="0">
              <a:solidFill>
                <a:srgbClr val="000066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(FX4444)</a:t>
            </a:r>
            <a:r>
              <a:rPr lang="ko-KR" altLang="en-US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월말종합</a:t>
            </a:r>
            <a:r>
              <a:rPr lang="en-US" altLang="ko-KR" sz="2000" dirty="0" err="1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포지션</a:t>
            </a: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= (FX4442) </a:t>
            </a:r>
            <a:r>
              <a:rPr lang="ko-KR" altLang="en-US" sz="2000" dirty="0" err="1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매입초과포지션계</a:t>
            </a:r>
            <a:r>
              <a:rPr lang="ko-KR" altLang="en-US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 (FX4442) </a:t>
            </a:r>
            <a:r>
              <a:rPr lang="ko-KR" altLang="en-US" sz="2000" dirty="0" err="1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매각초과포지션계</a:t>
            </a: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+ (FX4441) </a:t>
            </a:r>
            <a:r>
              <a:rPr lang="ko-KR" altLang="en-US" sz="2000" dirty="0" err="1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자기자본헤지분</a:t>
            </a:r>
            <a:r>
              <a:rPr lang="ko-KR" altLang="en-US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+ (FX4441) </a:t>
            </a:r>
            <a:r>
              <a:rPr lang="ko-KR" altLang="en-US" sz="2000" dirty="0" err="1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이월이익잉여금헤지분</a:t>
            </a:r>
            <a:endParaRPr lang="en-US" altLang="ko-KR" sz="2000" dirty="0">
              <a:solidFill>
                <a:srgbClr val="000066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※ FX4441 </a:t>
            </a:r>
            <a:r>
              <a:rPr lang="ko-KR" altLang="en-US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및 </a:t>
            </a: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FX4442</a:t>
            </a:r>
            <a:r>
              <a:rPr lang="ko-KR" altLang="en-US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중 말일자에 해당하는 수치</a:t>
            </a:r>
            <a:endParaRPr lang="en-US" altLang="ko-KR" sz="2000" dirty="0">
              <a:solidFill>
                <a:srgbClr val="000066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endParaRPr lang="en-US" altLang="ko-KR" sz="2000" dirty="0">
              <a:solidFill>
                <a:srgbClr val="000066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(FX4444)</a:t>
            </a:r>
            <a:r>
              <a:rPr lang="ko-KR" altLang="en-US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월말선물</a:t>
            </a:r>
            <a:r>
              <a:rPr lang="en-US" altLang="ko-KR" sz="2000" dirty="0" err="1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포지션</a:t>
            </a: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= (FX4450) </a:t>
            </a:r>
            <a:r>
              <a:rPr lang="ko-KR" altLang="en-US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관리대상 선물환포지션</a:t>
            </a: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+ (FX4450) </a:t>
            </a:r>
            <a:r>
              <a:rPr lang="ko-KR" altLang="en-US" sz="2000" dirty="0" err="1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자기자본헤지분</a:t>
            </a:r>
            <a:r>
              <a:rPr lang="ko-KR" altLang="en-US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+ (FX4450) </a:t>
            </a:r>
            <a:r>
              <a:rPr lang="ko-KR" altLang="en-US" sz="2000" dirty="0" err="1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이월이익잉여금헤지분</a:t>
            </a:r>
            <a:endParaRPr lang="en-US" altLang="ko-KR" sz="2000" dirty="0">
              <a:solidFill>
                <a:srgbClr val="000066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en-US" altLang="ko-KR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※ FX4450</a:t>
            </a:r>
            <a:r>
              <a:rPr lang="ko-KR" altLang="en-US" sz="2000" dirty="0">
                <a:solidFill>
                  <a:srgbClr val="000066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중 말일자에 해당하는 수치</a:t>
            </a:r>
            <a:endParaRPr lang="en-US" altLang="ko-KR" sz="2000" dirty="0">
              <a:solidFill>
                <a:srgbClr val="000066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254" y="323453"/>
            <a:ext cx="8533208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200" b="1" dirty="0" smtClean="0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외국환포지션 </a:t>
            </a:r>
            <a:r>
              <a:rPr lang="ko-KR" altLang="en-US" sz="3200" b="1" dirty="0" err="1" smtClean="0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보고시</a:t>
            </a:r>
            <a:r>
              <a:rPr lang="ko-KR" altLang="en-US" sz="3200" b="1" dirty="0" smtClean="0">
                <a:ln w="1905"/>
                <a:solidFill>
                  <a:srgbClr val="2B435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 주의 사항</a:t>
            </a:r>
            <a:endParaRPr lang="ko-KR" altLang="en-US" sz="3200" b="1" dirty="0">
              <a:ln w="1905"/>
              <a:solidFill>
                <a:srgbClr val="2B435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12536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1687"/>
            <a:ext cx="1008538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모서리가 둥근 직사각형 8"/>
          <p:cNvSpPr/>
          <p:nvPr/>
        </p:nvSpPr>
        <p:spPr bwMode="auto">
          <a:xfrm>
            <a:off x="1007864" y="3059757"/>
            <a:ext cx="7704856" cy="990641"/>
          </a:xfrm>
          <a:prstGeom prst="roundRect">
            <a:avLst>
              <a:gd name="adj" fmla="val 46013"/>
            </a:avLst>
          </a:prstGeom>
          <a:gradFill flip="none" rotWithShape="1">
            <a:gsLst>
              <a:gs pos="0">
                <a:srgbClr val="21A7B5"/>
              </a:gs>
              <a:gs pos="12000">
                <a:srgbClr val="2DACB9"/>
              </a:gs>
              <a:gs pos="23000">
                <a:schemeClr val="bg1"/>
              </a:gs>
              <a:gs pos="0">
                <a:srgbClr val="33CCFF">
                  <a:gamma/>
                  <a:shade val="45882"/>
                  <a:invGamma/>
                </a:srgb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449263" rtl="0" eaLnBrk="1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</a:pPr>
            <a:r>
              <a:rPr kumimoji="0" lang="ko-KR" altLang="en-US" sz="3600" b="0" i="0" u="none" strike="noStrike" cap="none" normalizeH="0" baseline="0" dirty="0" smtClean="0">
                <a:ln>
                  <a:noFill/>
                </a:ln>
                <a:solidFill>
                  <a:srgbClr val="283C54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          </a:t>
            </a:r>
            <a:r>
              <a:rPr lang="ko-KR" altLang="en-US" sz="3600" dirty="0" smtClean="0">
                <a:solidFill>
                  <a:srgbClr val="283C54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질의응답</a:t>
            </a:r>
            <a:endParaRPr kumimoji="0" lang="ko-KR" altLang="en-US" sz="3600" b="0" i="0" u="none" strike="noStrike" cap="none" normalizeH="0" baseline="0" dirty="0" smtClean="0">
              <a:ln>
                <a:noFill/>
              </a:ln>
              <a:solidFill>
                <a:srgbClr val="283C54"/>
              </a:solidFill>
              <a:effectLst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1662338" y="3183326"/>
            <a:ext cx="354013" cy="59896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/>
          <a:lstStyle/>
          <a:p>
            <a:pPr algn="ctr">
              <a:defRPr/>
            </a:pPr>
            <a:r>
              <a:rPr lang="en-US" altLang="ko-KR" sz="3600" dirty="0" smtClean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rPr>
              <a:t>Ⅴ</a:t>
            </a:r>
            <a:endParaRPr lang="en-US" altLang="ko-KR" sz="3600" dirty="0">
              <a:solidFill>
                <a:srgbClr val="FFFF99"/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59911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0"/>
            <a:ext cx="10082222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" y="31138"/>
            <a:ext cx="1008538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498297" y="2627709"/>
            <a:ext cx="5123710" cy="372653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6600" b="1" cap="none" spc="0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  <a:endParaRPr lang="en-US" altLang="ko-KR" sz="6600" b="1" cap="none" spc="0" dirty="0" smtClean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endParaRPr lang="en-US" altLang="ko-KR" sz="5400" b="1" cap="none" spc="0" dirty="0" smtClean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r>
              <a:rPr lang="en-US" altLang="ko-KR" sz="3600" b="1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02-759-5731</a:t>
            </a:r>
            <a:endParaRPr lang="en-US" altLang="ko-KR" sz="3600" b="1" cap="none" spc="0" dirty="0" smtClean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r>
              <a:rPr lang="en-US" altLang="ko-KR" sz="3600" b="1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vivesoyoon@bok.or.kr</a:t>
            </a:r>
          </a:p>
          <a:p>
            <a:pPr algn="ctr"/>
            <a:endParaRPr lang="en-US" altLang="ko-KR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39218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 type 간지">
  <a:themeElements>
    <a:clrScheme name="Office 테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6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45000"/>
          <a:buFont typeface="Wingdings" charset="2"/>
          <a:buNone/>
          <a:tabLst/>
          <a:defRPr kumimoji="0" lang="en-GB" altLang="ko-KR" sz="1800" b="0" i="0" u="none" strike="noStrike" cap="none" normalizeH="0" baseline="0" smtClean="0">
            <a:ln>
              <a:noFill/>
            </a:ln>
            <a:effectLst/>
            <a:latin typeface="Arial" charset="0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6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45000"/>
          <a:buFont typeface="Wingdings" charset="2"/>
          <a:buNone/>
          <a:tabLst/>
          <a:defRPr kumimoji="0" lang="en-GB" altLang="ko-KR" sz="1800" b="0" i="0" u="none" strike="noStrike" cap="none" normalizeH="0" baseline="0" smtClean="0">
            <a:ln>
              <a:noFill/>
            </a:ln>
            <a:effectLst/>
            <a:latin typeface="Arial" charset="0"/>
            <a:ea typeface="굴림" charset="-127"/>
          </a:defRPr>
        </a:defPPr>
      </a:lstStyle>
    </a:lnDef>
  </a:objectDefaults>
  <a:extraClrSchemeLst>
    <a:extraClrScheme>
      <a:clrScheme name="Office 테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 type 간지</Template>
  <TotalTime>475</TotalTime>
  <Words>827</Words>
  <Application>Microsoft Office PowerPoint</Application>
  <PresentationFormat>사용자 지정</PresentationFormat>
  <Paragraphs>216</Paragraphs>
  <Slides>24</Slides>
  <Notes>23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5" baseType="lpstr">
      <vt:lpstr>C type 간지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bok</dc:creator>
  <cp:lastModifiedBy>bok</cp:lastModifiedBy>
  <cp:revision>30</cp:revision>
  <dcterms:created xsi:type="dcterms:W3CDTF">2014-12-11T10:11:21Z</dcterms:created>
  <dcterms:modified xsi:type="dcterms:W3CDTF">2014-12-16T01:04:19Z</dcterms:modified>
</cp:coreProperties>
</file>