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6214" r:id="rId1"/>
    <p:sldMasterId id="2147486240" r:id="rId2"/>
    <p:sldMasterId id="2147486252" r:id="rId3"/>
  </p:sldMasterIdLst>
  <p:notesMasterIdLst>
    <p:notesMasterId r:id="rId49"/>
  </p:notesMasterIdLst>
  <p:handoutMasterIdLst>
    <p:handoutMasterId r:id="rId50"/>
  </p:handoutMasterIdLst>
  <p:sldIdLst>
    <p:sldId id="728" r:id="rId4"/>
    <p:sldId id="729" r:id="rId5"/>
    <p:sldId id="911" r:id="rId6"/>
    <p:sldId id="746" r:id="rId7"/>
    <p:sldId id="818" r:id="rId8"/>
    <p:sldId id="830" r:id="rId9"/>
    <p:sldId id="800" r:id="rId10"/>
    <p:sldId id="831" r:id="rId11"/>
    <p:sldId id="833" r:id="rId12"/>
    <p:sldId id="802" r:id="rId13"/>
    <p:sldId id="836" r:id="rId14"/>
    <p:sldId id="778" r:id="rId15"/>
    <p:sldId id="907" r:id="rId16"/>
    <p:sldId id="841" r:id="rId17"/>
    <p:sldId id="858" r:id="rId18"/>
    <p:sldId id="843" r:id="rId19"/>
    <p:sldId id="842" r:id="rId20"/>
    <p:sldId id="844" r:id="rId21"/>
    <p:sldId id="850" r:id="rId22"/>
    <p:sldId id="851" r:id="rId23"/>
    <p:sldId id="854" r:id="rId24"/>
    <p:sldId id="853" r:id="rId25"/>
    <p:sldId id="855" r:id="rId26"/>
    <p:sldId id="857" r:id="rId27"/>
    <p:sldId id="846" r:id="rId28"/>
    <p:sldId id="859" r:id="rId29"/>
    <p:sldId id="863" r:id="rId30"/>
    <p:sldId id="862" r:id="rId31"/>
    <p:sldId id="865" r:id="rId32"/>
    <p:sldId id="866" r:id="rId33"/>
    <p:sldId id="869" r:id="rId34"/>
    <p:sldId id="870" r:id="rId35"/>
    <p:sldId id="871" r:id="rId36"/>
    <p:sldId id="872" r:id="rId37"/>
    <p:sldId id="875" r:id="rId38"/>
    <p:sldId id="876" r:id="rId39"/>
    <p:sldId id="877" r:id="rId40"/>
    <p:sldId id="908" r:id="rId41"/>
    <p:sldId id="884" r:id="rId42"/>
    <p:sldId id="886" r:id="rId43"/>
    <p:sldId id="896" r:id="rId44"/>
    <p:sldId id="897" r:id="rId45"/>
    <p:sldId id="898" r:id="rId46"/>
    <p:sldId id="900" r:id="rId47"/>
    <p:sldId id="909" r:id="rId48"/>
  </p:sldIdLst>
  <p:sldSz cx="9144000" cy="6858000" type="screen4x3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b="1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b="1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b="1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b="1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b="1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5pPr>
    <a:lvl6pPr marL="2286000" algn="l" defTabSz="914400" rtl="0" eaLnBrk="1" latinLnBrk="1" hangingPunct="1">
      <a:defRPr b="1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6pPr>
    <a:lvl7pPr marL="2743200" algn="l" defTabSz="914400" rtl="0" eaLnBrk="1" latinLnBrk="1" hangingPunct="1">
      <a:defRPr b="1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7pPr>
    <a:lvl8pPr marL="3200400" algn="l" defTabSz="914400" rtl="0" eaLnBrk="1" latinLnBrk="1" hangingPunct="1">
      <a:defRPr b="1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8pPr>
    <a:lvl9pPr marL="3657600" algn="l" defTabSz="914400" rtl="0" eaLnBrk="1" latinLnBrk="1" hangingPunct="1">
      <a:defRPr b="1" kern="1200">
        <a:solidFill>
          <a:schemeClr val="bg1"/>
        </a:solidFill>
        <a:latin typeface="HY헤드라인M" pitchFamily="18" charset="-127"/>
        <a:ea typeface="HY헤드라인M" pitchFamily="18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CCFFCC"/>
    <a:srgbClr val="00FFFF"/>
    <a:srgbClr val="02B2CA"/>
    <a:srgbClr val="FFFFCC"/>
    <a:srgbClr val="FFFF99"/>
    <a:srgbClr val="C2FF47"/>
    <a:srgbClr val="FF0000"/>
    <a:srgbClr val="9933FF"/>
    <a:srgbClr val="FF99FF"/>
    <a:srgbClr val="C4D3EA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34587" autoAdjust="0"/>
    <p:restoredTop sz="86379" autoAdjust="0"/>
  </p:normalViewPr>
  <p:slideViewPr>
    <p:cSldViewPr showGuides="1">
      <p:cViewPr>
        <p:scale>
          <a:sx n="75" d="100"/>
          <a:sy n="75" d="100"/>
        </p:scale>
        <p:origin x="-3534" y="-1086"/>
      </p:cViewPr>
      <p:guideLst>
        <p:guide orient="horz" pos="981"/>
        <p:guide pos="2880"/>
      </p:guideLst>
    </p:cSldViewPr>
  </p:slideViewPr>
  <p:outlineViewPr>
    <p:cViewPr>
      <p:scale>
        <a:sx n="33" d="100"/>
        <a:sy n="33" d="100"/>
      </p:scale>
      <p:origin x="25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>
        <p:scale>
          <a:sx n="112" d="100"/>
          <a:sy n="112" d="100"/>
        </p:scale>
        <p:origin x="-3300" y="210"/>
      </p:cViewPr>
      <p:guideLst>
        <p:guide orient="horz" pos="3131"/>
        <p:guide pos="214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9575" cy="496888"/>
          </a:xfrm>
          <a:prstGeom prst="rect">
            <a:avLst/>
          </a:prstGeom>
        </p:spPr>
        <p:txBody>
          <a:bodyPr vert="horz" lIns="91425" tIns="45712" rIns="91425" bIns="45712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9" y="0"/>
            <a:ext cx="2949575" cy="496888"/>
          </a:xfrm>
          <a:prstGeom prst="rect">
            <a:avLst/>
          </a:prstGeom>
        </p:spPr>
        <p:txBody>
          <a:bodyPr vert="horz" lIns="91425" tIns="45712" rIns="91425" bIns="45712" rtlCol="0"/>
          <a:lstStyle>
            <a:lvl1pPr algn="r">
              <a:defRPr sz="1200"/>
            </a:lvl1pPr>
          </a:lstStyle>
          <a:p>
            <a:fld id="{F499F445-CE73-46FA-8FF3-54BD05025D79}" type="datetimeFigureOut">
              <a:rPr lang="ko-KR" altLang="en-US" smtClean="0"/>
              <a:pPr/>
              <a:t>2016-09-02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40863"/>
            <a:ext cx="2949575" cy="496887"/>
          </a:xfrm>
          <a:prstGeom prst="rect">
            <a:avLst/>
          </a:prstGeom>
        </p:spPr>
        <p:txBody>
          <a:bodyPr vert="horz" lIns="91425" tIns="45712" rIns="91425" bIns="45712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9" y="9440863"/>
            <a:ext cx="2949575" cy="496887"/>
          </a:xfrm>
          <a:prstGeom prst="rect">
            <a:avLst/>
          </a:prstGeom>
        </p:spPr>
        <p:txBody>
          <a:bodyPr vert="horz" lIns="91425" tIns="45712" rIns="91425" bIns="45712" rtlCol="0" anchor="b"/>
          <a:lstStyle>
            <a:lvl1pPr algn="r">
              <a:defRPr sz="1200"/>
            </a:lvl1pPr>
          </a:lstStyle>
          <a:p>
            <a:fld id="{A42DB6BA-80D6-4493-809B-39077096D35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311" cy="496729"/>
          </a:xfrm>
          <a:prstGeom prst="rect">
            <a:avLst/>
          </a:prstGeom>
        </p:spPr>
        <p:txBody>
          <a:bodyPr vert="horz" lIns="91361" tIns="45680" rIns="91361" bIns="4568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304" y="1"/>
            <a:ext cx="2949311" cy="496729"/>
          </a:xfrm>
          <a:prstGeom prst="rect">
            <a:avLst/>
          </a:prstGeom>
        </p:spPr>
        <p:txBody>
          <a:bodyPr vert="horz" lIns="91361" tIns="45680" rIns="91361" bIns="45680" rtlCol="0"/>
          <a:lstStyle>
            <a:lvl1pPr algn="r">
              <a:defRPr sz="1200"/>
            </a:lvl1pPr>
          </a:lstStyle>
          <a:p>
            <a:pPr>
              <a:defRPr/>
            </a:pPr>
            <a:fld id="{C6E80B36-C103-4433-8503-221228B6C009}" type="datetimeFigureOut">
              <a:rPr lang="ko-KR" altLang="en-US"/>
              <a:pPr>
                <a:defRPr/>
              </a:pPr>
              <a:t>2016-09-02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7288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61" tIns="45680" rIns="91361" bIns="45680" rtlCol="0" anchor="ctr"/>
          <a:lstStyle/>
          <a:p>
            <a:pPr lvl="0"/>
            <a:endParaRPr lang="ko-KR" altLang="en-US" noProof="0" dirty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245" y="4721306"/>
            <a:ext cx="5446710" cy="4472146"/>
          </a:xfrm>
          <a:prstGeom prst="rect">
            <a:avLst/>
          </a:prstGeom>
        </p:spPr>
        <p:txBody>
          <a:bodyPr vert="horz" lIns="91361" tIns="45680" rIns="91361" bIns="4568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1023"/>
            <a:ext cx="2949311" cy="496728"/>
          </a:xfrm>
          <a:prstGeom prst="rect">
            <a:avLst/>
          </a:prstGeom>
        </p:spPr>
        <p:txBody>
          <a:bodyPr vert="horz" lIns="91361" tIns="45680" rIns="91361" bIns="4568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304" y="9441023"/>
            <a:ext cx="2949311" cy="496728"/>
          </a:xfrm>
          <a:prstGeom prst="rect">
            <a:avLst/>
          </a:prstGeom>
        </p:spPr>
        <p:txBody>
          <a:bodyPr vert="horz" lIns="91361" tIns="45680" rIns="91361" bIns="45680" rtlCol="0" anchor="b"/>
          <a:lstStyle>
            <a:lvl1pPr algn="r">
              <a:defRPr sz="1200"/>
            </a:lvl1pPr>
          </a:lstStyle>
          <a:p>
            <a:pPr>
              <a:defRPr/>
            </a:pPr>
            <a:fld id="{85B4D864-86EB-467A-9B71-B2C9C5B61BB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19983281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 txBox="1">
            <a:spLocks noGrp="1" noChangeArrowheads="1"/>
          </p:cNvSpPr>
          <p:nvPr/>
        </p:nvSpPr>
        <p:spPr bwMode="auto">
          <a:xfrm>
            <a:off x="3854719" y="9441023"/>
            <a:ext cx="2950896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410" tIns="43705" rIns="87410" bIns="43705" anchor="b"/>
          <a:lstStyle/>
          <a:p>
            <a:pPr algn="r" defTabSz="872367"/>
            <a:fld id="{C6299103-E4B9-4F91-85A6-5142D0D59703}" type="slidenum">
              <a:rPr lang="en-US" altLang="ko-KR" sz="1100">
                <a:solidFill>
                  <a:schemeClr val="tx1"/>
                </a:solidFill>
                <a:latin typeface="굴림" pitchFamily="50" charset="-127"/>
                <a:ea typeface="굴림" pitchFamily="50" charset="-127"/>
              </a:rPr>
              <a:pPr algn="r" defTabSz="872367"/>
              <a:t>0</a:t>
            </a:fld>
            <a:endParaRPr lang="en-US" altLang="ko-KR" sz="1100" dirty="0">
              <a:solidFill>
                <a:schemeClr val="tx1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20750" y="747713"/>
            <a:ext cx="4965700" cy="37242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0245" y="4722891"/>
            <a:ext cx="5446710" cy="447056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안녕하십니까 금융감독원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외환감독국에서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외환조사업무를 담당하고 있는 장정현 조사역이라고 합니다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 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반갑습니다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</a:t>
            </a:r>
          </a:p>
          <a:p>
            <a:pPr eaLnBrk="1" hangingPunct="1">
              <a:spcBef>
                <a:spcPct val="0"/>
              </a:spcBef>
            </a:pP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외국환거래법이 절차도 복잡하고 주변에 사례를 찾아보기도 쉽지 않아 외국환거래 당사자들인 개인이나 기업이 고의가 아닌 외국환거래절차가 무엇이 있는지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잘몰라서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위반하는 경우를 실무를 하면서 많이 접하게 되었습니다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 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그래서 저희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금감원에서는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실제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금감원에서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외환조사를 받은 사례들을 토대로 외국환거래 절차와 관련된 위반 사례를 책자 형태로 구성하여 발간하게 되었습니다</a:t>
            </a:r>
            <a:r>
              <a:rPr lang="en-US" altLang="ko-KR" dirty="0" smtClean="0">
                <a:latin typeface="굴림" pitchFamily="50" charset="-127"/>
                <a:ea typeface="굴림" pitchFamily="50" charset="-127"/>
              </a:rPr>
              <a:t>. 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아무쪼록 해외에 </a:t>
            </a:r>
            <a:r>
              <a:rPr lang="ko-KR" altLang="en-US" dirty="0" err="1" smtClean="0">
                <a:latin typeface="굴림" pitchFamily="50" charset="-127"/>
                <a:ea typeface="굴림" pitchFamily="50" charset="-127"/>
              </a:rPr>
              <a:t>직접투자하시거나</a:t>
            </a:r>
            <a:r>
              <a:rPr lang="ko-KR" altLang="en-US" dirty="0" smtClean="0">
                <a:latin typeface="굴림" pitchFamily="50" charset="-127"/>
                <a:ea typeface="굴림" pitchFamily="50" charset="-127"/>
              </a:rPr>
              <a:t> 해외부동산등을 취득하실 때 관련 절차를 숙지하시고 외국환거래법을</a:t>
            </a:r>
            <a:r>
              <a:rPr lang="ko-KR" altLang="en-US" baseline="0" dirty="0" smtClean="0">
                <a:latin typeface="굴림" pitchFamily="50" charset="-127"/>
                <a:ea typeface="굴림" pitchFamily="50" charset="-127"/>
              </a:rPr>
              <a:t> 위반하는 행위가 조금은 줄어들기를 바라는 마음으로 이번 강의를 시작해볼까 합니다</a:t>
            </a:r>
            <a:r>
              <a:rPr lang="en-US" altLang="ko-KR" baseline="0" dirty="0" smtClean="0">
                <a:latin typeface="굴림" pitchFamily="50" charset="-127"/>
                <a:ea typeface="굴림" pitchFamily="50" charset="-127"/>
              </a:rPr>
              <a:t>. </a:t>
            </a:r>
            <a:r>
              <a:rPr lang="ko-KR" altLang="en-US" baseline="0" dirty="0" smtClean="0">
                <a:latin typeface="굴림" pitchFamily="50" charset="-127"/>
                <a:ea typeface="굴림" pitchFamily="50" charset="-127"/>
              </a:rPr>
              <a:t>우선 강의 내용은 가지고 계신 </a:t>
            </a:r>
            <a:r>
              <a:rPr lang="ko-KR" altLang="en-US" baseline="0" dirty="0" err="1" smtClean="0">
                <a:latin typeface="굴림" pitchFamily="50" charset="-127"/>
                <a:ea typeface="굴림" pitchFamily="50" charset="-127"/>
              </a:rPr>
              <a:t>사례집을</a:t>
            </a:r>
            <a:r>
              <a:rPr lang="ko-KR" altLang="en-US" baseline="0" dirty="0" smtClean="0">
                <a:latin typeface="굴림" pitchFamily="50" charset="-127"/>
                <a:ea typeface="굴림" pitchFamily="50" charset="-127"/>
              </a:rPr>
              <a:t> 토대로 구성하였고</a:t>
            </a:r>
            <a:r>
              <a:rPr lang="en-US" altLang="ko-KR" baseline="0" dirty="0" smtClean="0">
                <a:latin typeface="굴림" pitchFamily="50" charset="-127"/>
                <a:ea typeface="굴림" pitchFamily="50" charset="-127"/>
              </a:rPr>
              <a:t>, </a:t>
            </a:r>
            <a:r>
              <a:rPr lang="ko-KR" altLang="en-US" baseline="0" dirty="0" smtClean="0">
                <a:latin typeface="굴림" pitchFamily="50" charset="-127"/>
                <a:ea typeface="굴림" pitchFamily="50" charset="-127"/>
              </a:rPr>
              <a:t>시간관계상 가장 빈번하게 위반이 발생하는 사례 위주로 하여 안내를 </a:t>
            </a:r>
            <a:r>
              <a:rPr lang="ko-KR" altLang="en-US" baseline="0" dirty="0" err="1" smtClean="0">
                <a:latin typeface="굴림" pitchFamily="50" charset="-127"/>
                <a:ea typeface="굴림" pitchFamily="50" charset="-127"/>
              </a:rPr>
              <a:t>해드릴려고</a:t>
            </a:r>
            <a:r>
              <a:rPr lang="ko-KR" altLang="en-US" baseline="0" dirty="0" smtClean="0">
                <a:latin typeface="굴림" pitchFamily="50" charset="-127"/>
                <a:ea typeface="굴림" pitchFamily="50" charset="-127"/>
              </a:rPr>
              <a:t> 합니다</a:t>
            </a:r>
            <a:r>
              <a:rPr lang="en-US" altLang="ko-KR" baseline="0" dirty="0" smtClean="0">
                <a:latin typeface="굴림" pitchFamily="50" charset="-127"/>
                <a:ea typeface="굴림" pitchFamily="50" charset="-127"/>
              </a:rPr>
              <a:t>. </a:t>
            </a: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  <a:p>
            <a:pPr eaLnBrk="1" hangingPunct="1">
              <a:spcBef>
                <a:spcPct val="0"/>
              </a:spcBef>
            </a:pPr>
            <a:endParaRPr lang="en-US" altLang="ko-KR" dirty="0" smtClean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 noChangeArrowheads="1"/>
          </p:cNvSpPr>
          <p:nvPr/>
        </p:nvSpPr>
        <p:spPr bwMode="auto">
          <a:xfrm>
            <a:off x="3853132" y="9441023"/>
            <a:ext cx="2952482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055" tIns="45526" rIns="91055" bIns="45526" anchor="b"/>
          <a:lstStyle/>
          <a:p>
            <a:pPr algn="r" defTabSz="918366"/>
            <a:fld id="{05B0FF60-660D-4FDB-82E2-A608722144D6}" type="slidenum">
              <a:rPr lang="ko-KR" altLang="en-US" b="0">
                <a:solidFill>
                  <a:schemeClr val="tx1"/>
                </a:solidFill>
              </a:rPr>
              <a:pPr algn="r" defTabSz="918366"/>
              <a:t>1</a:t>
            </a:fld>
            <a:endParaRPr lang="en-US" altLang="ko-KR" b="0" dirty="0">
              <a:solidFill>
                <a:schemeClr val="tx1"/>
              </a:solidFill>
            </a:endParaRPr>
          </a:p>
        </p:txBody>
      </p:sp>
      <p:sp>
        <p:nvSpPr>
          <p:cNvPr id="358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1038" y="238125"/>
            <a:ext cx="5411787" cy="406082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4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 typeface="Wingdings" pitchFamily="2" charset="2"/>
              <a:buNone/>
            </a:pPr>
            <a:r>
              <a:rPr lang="ko-KR" altLang="en-US" dirty="0" smtClean="0">
                <a:ea typeface="굴림" pitchFamily="50" charset="-127"/>
              </a:rPr>
              <a:t>강의 순서는 외국환거래법령의 기본개념을 우선 살펴보고</a:t>
            </a:r>
            <a:r>
              <a:rPr lang="en-US" altLang="ko-KR" dirty="0" smtClean="0">
                <a:ea typeface="굴림" pitchFamily="50" charset="-127"/>
              </a:rPr>
              <a:t>, </a:t>
            </a:r>
            <a:r>
              <a:rPr lang="ko-KR" altLang="en-US" dirty="0" err="1" smtClean="0">
                <a:ea typeface="굴림" pitchFamily="50" charset="-127"/>
              </a:rPr>
              <a:t>지급등</a:t>
            </a:r>
            <a:r>
              <a:rPr lang="ko-KR" altLang="en-US" dirty="0" smtClean="0">
                <a:ea typeface="굴림" pitchFamily="50" charset="-127"/>
              </a:rPr>
              <a:t> 절차</a:t>
            </a:r>
            <a:r>
              <a:rPr lang="en-US" altLang="ko-KR" baseline="0" dirty="0" smtClean="0">
                <a:ea typeface="굴림" pitchFamily="50" charset="-127"/>
              </a:rPr>
              <a:t> </a:t>
            </a:r>
            <a:r>
              <a:rPr lang="ko-KR" altLang="en-US" baseline="0" dirty="0" smtClean="0">
                <a:ea typeface="굴림" pitchFamily="50" charset="-127"/>
              </a:rPr>
              <a:t>및 방법</a:t>
            </a:r>
            <a:r>
              <a:rPr lang="en-US" altLang="ko-KR" baseline="0" dirty="0" smtClean="0">
                <a:ea typeface="굴림" pitchFamily="50" charset="-127"/>
              </a:rPr>
              <a:t>, </a:t>
            </a:r>
            <a:r>
              <a:rPr lang="ko-KR" altLang="en-US" baseline="0" dirty="0" smtClean="0">
                <a:ea typeface="굴림" pitchFamily="50" charset="-127"/>
              </a:rPr>
              <a:t>자본거래</a:t>
            </a:r>
            <a:r>
              <a:rPr lang="en-US" altLang="ko-KR" baseline="0" dirty="0" smtClean="0">
                <a:ea typeface="굴림" pitchFamily="50" charset="-127"/>
              </a:rPr>
              <a:t>, </a:t>
            </a:r>
            <a:r>
              <a:rPr lang="ko-KR" altLang="en-US" baseline="0" dirty="0" smtClean="0">
                <a:ea typeface="굴림" pitchFamily="50" charset="-127"/>
              </a:rPr>
              <a:t>해외직접투자</a:t>
            </a:r>
            <a:r>
              <a:rPr lang="en-US" altLang="ko-KR" baseline="0" dirty="0" smtClean="0">
                <a:ea typeface="굴림" pitchFamily="50" charset="-127"/>
              </a:rPr>
              <a:t>, </a:t>
            </a:r>
            <a:r>
              <a:rPr lang="ko-KR" altLang="en-US" baseline="0" dirty="0" smtClean="0">
                <a:ea typeface="굴림" pitchFamily="50" charset="-127"/>
              </a:rPr>
              <a:t>부동산취득 순으로 진행이 </a:t>
            </a:r>
            <a:r>
              <a:rPr lang="ko-KR" altLang="en-US" baseline="0" dirty="0" err="1" smtClean="0">
                <a:ea typeface="굴림" pitchFamily="50" charset="-127"/>
              </a:rPr>
              <a:t>될텐데요</a:t>
            </a:r>
            <a:r>
              <a:rPr lang="en-US" altLang="ko-KR" baseline="0" dirty="0" smtClean="0">
                <a:ea typeface="굴림" pitchFamily="50" charset="-127"/>
              </a:rPr>
              <a:t>.</a:t>
            </a:r>
          </a:p>
          <a:p>
            <a:pPr>
              <a:buFont typeface="Wingdings" pitchFamily="2" charset="2"/>
              <a:buNone/>
            </a:pPr>
            <a:r>
              <a:rPr lang="ko-KR" altLang="en-US" baseline="0" dirty="0" smtClean="0">
                <a:ea typeface="굴림" pitchFamily="50" charset="-127"/>
              </a:rPr>
              <a:t>시간이 많지 않은 관계로 해외직접투자 부분 위주로 설명을 드리도록 하겠습니다</a:t>
            </a:r>
            <a:r>
              <a:rPr lang="en-US" altLang="ko-KR" baseline="0" dirty="0" smtClean="0">
                <a:ea typeface="굴림" pitchFamily="50" charset="-127"/>
              </a:rPr>
              <a:t>.</a:t>
            </a:r>
            <a:endParaRPr lang="en-US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대외거래의 자유를 과도하게 허용할 경우 나타날 문제점에 대비하여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외국환거래제도의 목적은 다들 </a:t>
            </a:r>
            <a:r>
              <a:rPr lang="ko-KR" altLang="en-US" dirty="0" err="1" smtClean="0"/>
              <a:t>아실테구요</a:t>
            </a:r>
            <a:r>
              <a:rPr lang="en-US" altLang="ko-KR" dirty="0" smtClean="0"/>
              <a:t>. </a:t>
            </a:r>
            <a:r>
              <a:rPr lang="ko-KR" altLang="en-US" dirty="0" smtClean="0"/>
              <a:t>외국환거래법은 </a:t>
            </a:r>
            <a:r>
              <a:rPr lang="en-US" altLang="ko-KR" dirty="0" smtClean="0"/>
              <a:t>1961</a:t>
            </a:r>
            <a:r>
              <a:rPr lang="ko-KR" altLang="en-US" dirty="0" smtClean="0"/>
              <a:t>년에는 원칙적으로 규제하고 예외적으로 자유롭게 풀어주는 형태였다면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우리나라가 </a:t>
            </a:r>
            <a:r>
              <a:rPr lang="en-US" altLang="ko-KR" baseline="0" dirty="0" smtClean="0"/>
              <a:t>90</a:t>
            </a:r>
            <a:r>
              <a:rPr lang="ko-KR" altLang="en-US" baseline="0" dirty="0" smtClean="0"/>
              <a:t>년대 외환위기를 거치면서 외환자유화의 기조 속에 원칙적으로 </a:t>
            </a:r>
            <a:r>
              <a:rPr lang="ko-KR" altLang="en-US" dirty="0" smtClean="0"/>
              <a:t>거래의 자유를 보장하면서도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예외적으로 규제를 하는 형태의 </a:t>
            </a:r>
            <a:r>
              <a:rPr lang="ko-KR" altLang="en-US" baseline="0" dirty="0" err="1" smtClean="0"/>
              <a:t>네가티브</a:t>
            </a:r>
            <a:r>
              <a:rPr lang="ko-KR" altLang="en-US" baseline="0" dirty="0" smtClean="0"/>
              <a:t> 시스템으로 변경되었다고 </a:t>
            </a:r>
            <a:r>
              <a:rPr lang="ko-KR" altLang="en-US" baseline="0" dirty="0" err="1" smtClean="0"/>
              <a:t>할수</a:t>
            </a:r>
            <a:r>
              <a:rPr lang="ko-KR" altLang="en-US" baseline="0" dirty="0" smtClean="0"/>
              <a:t> 있습니다</a:t>
            </a:r>
            <a:r>
              <a:rPr lang="en-US" altLang="ko-KR" baseline="0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적용범위는 외국환거래법 제</a:t>
            </a:r>
            <a:r>
              <a:rPr lang="en-US" altLang="ko-KR" dirty="0" smtClean="0"/>
              <a:t>2</a:t>
            </a:r>
            <a:r>
              <a:rPr lang="ko-KR" altLang="en-US" dirty="0" smtClean="0"/>
              <a:t>조에서 주체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장소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수단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상대방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및 행위를 주요요소로 하여 정하고 있습니다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세부내용은 다음 페이지에서 구체적으로 </a:t>
            </a:r>
            <a:r>
              <a:rPr lang="ko-KR" altLang="en-US" dirty="0" err="1" smtClean="0"/>
              <a:t>설명드리겠습니다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적용범위 중에 주체부분을</a:t>
            </a:r>
            <a:r>
              <a:rPr lang="ko-KR" altLang="en-US" baseline="0" dirty="0" smtClean="0"/>
              <a:t> 살펴보면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주체는 거주자와 비거주자로 구분이 되며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거주자는 우선적으로 대한민국에 주소 또는 거소를 둔 개인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대한민국에 주된 사무소를 둔 법인을 의미하며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비거주자란 </a:t>
            </a:r>
            <a:r>
              <a:rPr lang="ko-KR" altLang="en-US" baseline="0" dirty="0" err="1" smtClean="0"/>
              <a:t>거주자외의</a:t>
            </a:r>
            <a:r>
              <a:rPr lang="ko-KR" altLang="en-US" baseline="0" dirty="0" smtClean="0"/>
              <a:t> 개인 및 법인을 말합니다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거주자와 비거주자의 구분이 명백하지 않은 경우에는 대통령령에 따라 구분을 하게 되는데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외국인인 경우라도 국내에서 영업활동에 종사하거나 </a:t>
            </a:r>
            <a:r>
              <a:rPr lang="en-US" altLang="ko-KR" baseline="0" dirty="0" smtClean="0"/>
              <a:t>6</a:t>
            </a:r>
            <a:r>
              <a:rPr lang="ko-KR" altLang="en-US" baseline="0" dirty="0" err="1" smtClean="0"/>
              <a:t>개월이상</a:t>
            </a:r>
            <a:r>
              <a:rPr lang="ko-KR" altLang="en-US" baseline="0" dirty="0" smtClean="0"/>
              <a:t> 국내에 체재하고 있는 경우 거주자로 보게 되며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국민인 경우라도 외국에서 영업활동에 종사하거나</a:t>
            </a:r>
            <a:r>
              <a:rPr lang="en-US" altLang="ko-KR" baseline="0" dirty="0" smtClean="0"/>
              <a:t>, 2</a:t>
            </a:r>
            <a:r>
              <a:rPr lang="ko-KR" altLang="en-US" baseline="0" dirty="0" err="1" smtClean="0"/>
              <a:t>년이상</a:t>
            </a:r>
            <a:r>
              <a:rPr lang="ko-KR" altLang="en-US" baseline="0" dirty="0" smtClean="0"/>
              <a:t> 외국에 체재하게 되는 경우 비거주자로 보게 됩니다</a:t>
            </a:r>
            <a:r>
              <a:rPr lang="en-US" altLang="ko-KR" baseline="0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적용범위 중에 다음으로 행위부분을 살펴 보겠습니다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우선 외국환거래행위에는 원인행위와 결제행위가 있습니다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원인행위에는 크게 무역거래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무역외거래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자본거래로 </a:t>
            </a:r>
            <a:r>
              <a:rPr lang="ko-KR" altLang="en-US" dirty="0" err="1" smtClean="0"/>
              <a:t>나눌수</a:t>
            </a:r>
            <a:r>
              <a:rPr lang="ko-KR" altLang="en-US" dirty="0" smtClean="0"/>
              <a:t> 있고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 무역거래에는 </a:t>
            </a:r>
            <a:r>
              <a:rPr lang="ko-KR" altLang="en-US" dirty="0" err="1" smtClean="0"/>
              <a:t>대외무역법</a:t>
            </a:r>
            <a:r>
              <a:rPr lang="en-US" altLang="ko-KR" dirty="0" smtClean="0"/>
              <a:t>, </a:t>
            </a:r>
            <a:r>
              <a:rPr lang="ko-KR" altLang="en-US" dirty="0" smtClean="0"/>
              <a:t>관세법이 적용되며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무역외거래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자본거래에는 외국환거래법이 적용이 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결제행위는 지급과 수령이 있는데 이와 관련된 내용은 외국환거래법이 적용이 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저희 금융감독원에서는 자본거래에 대한 외환조사업무를 담당하고 있습니다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앞서 강의를 하신 관세청에서는 수출입거래와 관련된 대한 조사를 담당하고 있습니다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외국환거래당사자와 외국환은행의 의무사항을 살펴 보겠습니다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외국환거래당사자는 자본거래</a:t>
            </a:r>
            <a:r>
              <a:rPr lang="ko-KR" altLang="en-US" baseline="0" dirty="0" smtClean="0"/>
              <a:t> 및 상계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제</a:t>
            </a:r>
            <a:r>
              <a:rPr lang="en-US" altLang="ko-KR" baseline="0" dirty="0" smtClean="0"/>
              <a:t>3</a:t>
            </a:r>
            <a:r>
              <a:rPr lang="ko-KR" altLang="en-US" baseline="0" dirty="0" smtClean="0"/>
              <a:t>자지급등에 대한 신고의무가 있고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직접투자등과 같은 경우에는 보고의무까지 부과되어있습니다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또한 미화 </a:t>
            </a:r>
            <a:r>
              <a:rPr lang="en-US" altLang="ko-KR" baseline="0" dirty="0" smtClean="0"/>
              <a:t>2</a:t>
            </a:r>
            <a:r>
              <a:rPr lang="ko-KR" altLang="en-US" baseline="0" dirty="0" smtClean="0"/>
              <a:t>천불 초과지급 및 미화</a:t>
            </a:r>
            <a:r>
              <a:rPr lang="en-US" altLang="ko-KR" baseline="0" dirty="0" smtClean="0"/>
              <a:t>2</a:t>
            </a:r>
            <a:r>
              <a:rPr lang="ko-KR" altLang="en-US" baseline="0" dirty="0" smtClean="0"/>
              <a:t>만불 초과 수령의 경우에는 지정외국환거래은행을 통한 </a:t>
            </a:r>
            <a:r>
              <a:rPr lang="ko-KR" altLang="en-US" baseline="0" dirty="0" err="1" smtClean="0"/>
              <a:t>지급등절차</a:t>
            </a:r>
            <a:r>
              <a:rPr lang="ko-KR" altLang="en-US" baseline="0" dirty="0" smtClean="0"/>
              <a:t> 준수의무가 있고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외국환은행에서는 이러한 당사자의 신고 보고 의무와 관련하여 확인의무 및 사후관리 의무가 있습니다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앞서 </a:t>
            </a:r>
            <a:r>
              <a:rPr lang="ko-KR" altLang="en-US" dirty="0" err="1" smtClean="0"/>
              <a:t>살펴본바와같이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당사자에게느느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여러가지</a:t>
            </a:r>
            <a:r>
              <a:rPr lang="ko-KR" altLang="en-US" dirty="0" smtClean="0"/>
              <a:t> 의무가 부과되어 있는데 이러한 의무들간의 관계를 어려워하시는 분들이 많아 표로 정리하여 왔습니다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우선 자본거래와 상계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제</a:t>
            </a:r>
            <a:r>
              <a:rPr lang="en-US" altLang="ko-KR" dirty="0" smtClean="0"/>
              <a:t>3</a:t>
            </a:r>
            <a:r>
              <a:rPr lang="ko-KR" altLang="en-US" dirty="0" smtClean="0"/>
              <a:t>자지급등 비정상적 결제행위에 대해서는 신고의무를 먼저 지켰는지 확인을 하여야 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신고의무에 해당하지 않는 일정금액 이상의 모든 </a:t>
            </a:r>
            <a:r>
              <a:rPr lang="ko-KR" altLang="en-US" dirty="0" err="1" smtClean="0"/>
              <a:t>지급또는</a:t>
            </a:r>
            <a:r>
              <a:rPr lang="ko-KR" altLang="en-US" dirty="0" smtClean="0"/>
              <a:t> 수령에는 </a:t>
            </a:r>
            <a:r>
              <a:rPr lang="ko-KR" altLang="en-US" dirty="0" err="1" smtClean="0"/>
              <a:t>지급등절차준수의무가</a:t>
            </a:r>
            <a:r>
              <a:rPr lang="ko-KR" altLang="en-US" dirty="0" smtClean="0"/>
              <a:t> 이행이 </a:t>
            </a:r>
            <a:r>
              <a:rPr lang="ko-KR" altLang="en-US" dirty="0" err="1" smtClean="0"/>
              <a:t>되어야합니다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그후에</a:t>
            </a:r>
            <a:r>
              <a:rPr lang="ko-KR" altLang="en-US" dirty="0" smtClean="0"/>
              <a:t> 이러한 </a:t>
            </a:r>
            <a:r>
              <a:rPr lang="ko-KR" altLang="en-US" dirty="0" err="1" smtClean="0"/>
              <a:t>신고등</a:t>
            </a:r>
            <a:r>
              <a:rPr lang="ko-KR" altLang="en-US" dirty="0" smtClean="0"/>
              <a:t> 절차를 이행하였을 경우에는 해외직접투자와 해외지사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해외부동산취득과 같은 해외투자와 관련된 부분에 대해서는 별도로 보고의무가 부과되어 있습니다</a:t>
            </a:r>
            <a:r>
              <a:rPr lang="en-US" altLang="ko-KR" dirty="0" smtClean="0"/>
              <a:t>. 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 smtClean="0"/>
              <a:t>위반시</a:t>
            </a:r>
            <a:r>
              <a:rPr lang="ko-KR" altLang="en-US" dirty="0" smtClean="0"/>
              <a:t> 제재내용에는 행정처분으로 경고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과태료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거래정지가 있고</a:t>
            </a:r>
            <a:r>
              <a:rPr lang="en-US" altLang="ko-KR" dirty="0" smtClean="0"/>
              <a:t>,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 noChangeArrowheads="1"/>
          </p:cNvSpPr>
          <p:nvPr/>
        </p:nvSpPr>
        <p:spPr bwMode="auto">
          <a:xfrm>
            <a:off x="3853132" y="9441023"/>
            <a:ext cx="2952482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055" tIns="45526" rIns="91055" bIns="45526" anchor="b"/>
          <a:lstStyle/>
          <a:p>
            <a:pPr algn="r" defTabSz="918366"/>
            <a:fld id="{05B0FF60-660D-4FDB-82E2-A608722144D6}" type="slidenum">
              <a:rPr lang="ko-KR" altLang="en-US" b="0">
                <a:solidFill>
                  <a:schemeClr val="tx1"/>
                </a:solidFill>
              </a:rPr>
              <a:pPr algn="r" defTabSz="918366"/>
              <a:t>10</a:t>
            </a:fld>
            <a:endParaRPr lang="en-US" altLang="ko-KR" b="0" dirty="0">
              <a:solidFill>
                <a:schemeClr val="tx1"/>
              </a:solidFill>
            </a:endParaRPr>
          </a:p>
        </p:txBody>
      </p:sp>
      <p:sp>
        <p:nvSpPr>
          <p:cNvPr id="358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1038" y="238125"/>
            <a:ext cx="5411787" cy="406082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4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 typeface="Wingdings" pitchFamily="2" charset="2"/>
              <a:buNone/>
            </a:pPr>
            <a:endParaRPr lang="en-US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 noChangeArrowheads="1"/>
          </p:cNvSpPr>
          <p:nvPr/>
        </p:nvSpPr>
        <p:spPr bwMode="auto">
          <a:xfrm>
            <a:off x="3853132" y="9441023"/>
            <a:ext cx="2952482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055" tIns="45526" rIns="91055" bIns="45526" anchor="b"/>
          <a:lstStyle/>
          <a:p>
            <a:pPr algn="r" defTabSz="918366"/>
            <a:fld id="{05B0FF60-660D-4FDB-82E2-A608722144D6}" type="slidenum">
              <a:rPr lang="ko-KR" altLang="en-US" b="0">
                <a:solidFill>
                  <a:schemeClr val="tx1"/>
                </a:solidFill>
              </a:rPr>
              <a:pPr algn="r" defTabSz="918366"/>
              <a:t>14</a:t>
            </a:fld>
            <a:endParaRPr lang="en-US" altLang="ko-KR" b="0" dirty="0">
              <a:solidFill>
                <a:schemeClr val="tx1"/>
              </a:solidFill>
            </a:endParaRPr>
          </a:p>
        </p:txBody>
      </p:sp>
      <p:sp>
        <p:nvSpPr>
          <p:cNvPr id="358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1038" y="238125"/>
            <a:ext cx="5411787" cy="406082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4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 typeface="Wingdings" pitchFamily="2" charset="2"/>
              <a:buNone/>
            </a:pPr>
            <a:endParaRPr lang="en-US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거주자가 해외에 예금하는 경우에는 지정거래외국환은행에 신고 및 해외입금보고 및 잔액현황보고의무가 부과됩니다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다음으로 금전대차의 경우 거주자가 비거주자로부터 차입을 하는 경우</a:t>
            </a:r>
            <a:r>
              <a:rPr lang="ko-KR" altLang="en-US" baseline="0" dirty="0" smtClean="0"/>
              <a:t> 외화인 경우와 원화인 경우 신고기관이 달라지며</a:t>
            </a:r>
            <a:r>
              <a:rPr lang="en-US" altLang="ko-KR" baseline="0" dirty="0" smtClean="0"/>
              <a:t>, </a:t>
            </a:r>
            <a:r>
              <a:rPr lang="ko-KR" altLang="en-US" baseline="0" dirty="0" err="1" smtClean="0"/>
              <a:t>비영리법인및</a:t>
            </a:r>
            <a:r>
              <a:rPr lang="ko-KR" altLang="en-US" baseline="0" dirty="0" smtClean="0"/>
              <a:t> 개인이 차입하는 경우와 대출하는 경우만 한국은행 신고사항이며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나머지는 모두 외국환은행 신고사항임을 꼭 기억하시기 바랍니다</a:t>
            </a:r>
            <a:r>
              <a:rPr lang="en-US" altLang="ko-KR" baseline="0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개인의 경우 </a:t>
            </a:r>
            <a:r>
              <a:rPr lang="ko-KR" altLang="en-US" dirty="0" err="1" smtClean="0"/>
              <a:t>한국은행총재앞</a:t>
            </a:r>
            <a:r>
              <a:rPr lang="ko-KR" altLang="en-US" dirty="0" smtClean="0"/>
              <a:t> 신고사항입니다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주식회사의 경우 영리법인에 해당되므로 외국환은행장 신고사항이며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만기를 </a:t>
            </a:r>
            <a:r>
              <a:rPr lang="en-US" altLang="ko-KR" dirty="0" smtClean="0"/>
              <a:t>1</a:t>
            </a:r>
            <a:r>
              <a:rPr lang="ko-KR" altLang="en-US" dirty="0" err="1" smtClean="0"/>
              <a:t>년연장하는</a:t>
            </a:r>
            <a:r>
              <a:rPr lang="ko-KR" altLang="en-US" dirty="0" smtClean="0"/>
              <a:t> 경우에도 내용이 변경이 되는 것이므로 외국환은행에 변경신고를 </a:t>
            </a:r>
            <a:r>
              <a:rPr lang="ko-KR" altLang="en-US" dirty="0" err="1" smtClean="0"/>
              <a:t>안해서</a:t>
            </a:r>
            <a:r>
              <a:rPr lang="ko-KR" altLang="en-US" dirty="0" smtClean="0"/>
              <a:t> 위반된 사례입니다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증권취득의 경우 거주자가 비거주자로부터 취득하는 경우에는 한국은행 </a:t>
            </a:r>
            <a:r>
              <a:rPr lang="ko-KR" altLang="en-US" dirty="0" err="1" smtClean="0"/>
              <a:t>총재앞</a:t>
            </a:r>
            <a:r>
              <a:rPr lang="ko-KR" altLang="en-US" dirty="0" smtClean="0"/>
              <a:t> 신고 사항이며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비거주자가 거주자로부터 증권을 취득하는 경우 외국인투자촉진법에서 정한 방법으로 취득하는 경우에는 외국환은행장 신고사항이나 </a:t>
            </a:r>
            <a:r>
              <a:rPr lang="ko-KR" altLang="en-US" dirty="0" err="1" smtClean="0"/>
              <a:t>그외의</a:t>
            </a:r>
            <a:r>
              <a:rPr lang="ko-KR" altLang="en-US" dirty="0" smtClean="0"/>
              <a:t> 경우에는 한국은행총재 앞 신고 사항임을 꼭 기억하시기 바랍니다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 noChangeArrowheads="1"/>
          </p:cNvSpPr>
          <p:nvPr/>
        </p:nvSpPr>
        <p:spPr bwMode="auto">
          <a:xfrm>
            <a:off x="3853132" y="9441023"/>
            <a:ext cx="2952482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055" tIns="45526" rIns="91055" bIns="45526" anchor="b"/>
          <a:lstStyle/>
          <a:p>
            <a:pPr algn="r" defTabSz="918366"/>
            <a:fld id="{05B0FF60-660D-4FDB-82E2-A608722144D6}" type="slidenum">
              <a:rPr lang="ko-KR" altLang="en-US" b="0">
                <a:solidFill>
                  <a:schemeClr val="tx1"/>
                </a:solidFill>
              </a:rPr>
              <a:pPr algn="r" defTabSz="918366"/>
              <a:t>23</a:t>
            </a:fld>
            <a:endParaRPr lang="en-US" altLang="ko-KR" b="0" dirty="0">
              <a:solidFill>
                <a:schemeClr val="tx1"/>
              </a:solidFill>
            </a:endParaRPr>
          </a:p>
        </p:txBody>
      </p:sp>
      <p:sp>
        <p:nvSpPr>
          <p:cNvPr id="358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1038" y="238125"/>
            <a:ext cx="5411787" cy="406082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4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 typeface="Wingdings" pitchFamily="2" charset="2"/>
              <a:buNone/>
            </a:pPr>
            <a:endParaRPr lang="en-US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해외직접투자는 외국환거래법 및 외국환거래법 시행령에 자세히 규정이 되어 있으며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증권취득을 통한 지분투자와 금전대여를 통한 대부투자로 크게 </a:t>
            </a:r>
            <a:r>
              <a:rPr lang="ko-KR" altLang="en-US" dirty="0" err="1" smtClean="0"/>
              <a:t>나눌수</a:t>
            </a:r>
            <a:r>
              <a:rPr lang="ko-KR" altLang="en-US" dirty="0" smtClean="0"/>
              <a:t>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증권취득은 </a:t>
            </a:r>
            <a:r>
              <a:rPr lang="en-US" altLang="ko-KR" dirty="0" smtClean="0"/>
              <a:t>10</a:t>
            </a:r>
            <a:r>
              <a:rPr lang="ko-KR" altLang="en-US" dirty="0" smtClean="0"/>
              <a:t>프로 이상의 지분을 취득해야 하고 </a:t>
            </a:r>
            <a:r>
              <a:rPr lang="ko-KR" altLang="en-US" dirty="0" err="1" smtClean="0"/>
              <a:t>십프로</a:t>
            </a:r>
            <a:r>
              <a:rPr lang="ko-KR" altLang="en-US" dirty="0" smtClean="0"/>
              <a:t> 미만일 경우라도 </a:t>
            </a:r>
            <a:r>
              <a:rPr lang="ko-KR" altLang="en-US" dirty="0" err="1" smtClean="0"/>
              <a:t>임원파견등의</a:t>
            </a:r>
            <a:r>
              <a:rPr lang="ko-KR" altLang="en-US" dirty="0" smtClean="0"/>
              <a:t> 경우에는 해외직접투자가 </a:t>
            </a:r>
            <a:r>
              <a:rPr lang="ko-KR" altLang="en-US" dirty="0" err="1" smtClean="0"/>
              <a:t>될수</a:t>
            </a:r>
            <a:r>
              <a:rPr lang="ko-KR" altLang="en-US" dirty="0" smtClean="0"/>
              <a:t> 있습니다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대부투자의 경우 지분을 투자한 현지법인에 장기</a:t>
            </a:r>
            <a:r>
              <a:rPr lang="en-US" altLang="ko-KR" dirty="0" smtClean="0"/>
              <a:t>1</a:t>
            </a:r>
            <a:r>
              <a:rPr lang="ko-KR" altLang="en-US" dirty="0" err="1" smtClean="0"/>
              <a:t>년이상의</a:t>
            </a:r>
            <a:r>
              <a:rPr lang="ko-KR" altLang="en-US" dirty="0" smtClean="0"/>
              <a:t> 금전을 대여하는 경우 해외직접투자가 </a:t>
            </a:r>
            <a:r>
              <a:rPr lang="ko-KR" altLang="en-US" dirty="0" err="1" smtClean="0"/>
              <a:t>될수</a:t>
            </a:r>
            <a:r>
              <a:rPr lang="ko-KR" altLang="en-US" dirty="0" smtClean="0"/>
              <a:t> 있습니다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해외직접투자의 경우 신고의무와 변경신고의무가 자본거래와 별도로 규정되어 있습니다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해외직접투자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해외부동산취득은 자본거래의 </a:t>
            </a:r>
            <a:r>
              <a:rPr lang="ko-KR" altLang="en-US" baseline="0" dirty="0" err="1" smtClean="0"/>
              <a:t>특칙이</a:t>
            </a:r>
            <a:r>
              <a:rPr lang="ko-KR" altLang="en-US" baseline="0" dirty="0" smtClean="0"/>
              <a:t> 되므로 해외직접투자의 규정이 </a:t>
            </a:r>
            <a:r>
              <a:rPr lang="ko-KR" altLang="en-US" baseline="0" dirty="0" err="1" smtClean="0"/>
              <a:t>우선적용됩니다</a:t>
            </a:r>
            <a:r>
              <a:rPr lang="en-US" altLang="ko-KR" baseline="0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해외직접투자의 변경신고에 대하여 </a:t>
            </a:r>
            <a:r>
              <a:rPr lang="ko-KR" altLang="en-US" dirty="0" err="1" smtClean="0"/>
              <a:t>조금더</a:t>
            </a:r>
            <a:r>
              <a:rPr lang="ko-KR" altLang="en-US" dirty="0" smtClean="0"/>
              <a:t> 자세히 살펴보면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자회사 </a:t>
            </a:r>
            <a:r>
              <a:rPr lang="ko-KR" altLang="en-US" dirty="0" err="1" smtClean="0"/>
              <a:t>손회사</a:t>
            </a:r>
            <a:r>
              <a:rPr lang="ko-KR" altLang="en-US" dirty="0" smtClean="0"/>
              <a:t> 설립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지분율</a:t>
            </a:r>
            <a:r>
              <a:rPr lang="ko-KR" altLang="en-US" dirty="0" smtClean="0"/>
              <a:t> 변동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대부투자신고후</a:t>
            </a:r>
            <a:r>
              <a:rPr lang="ko-KR" altLang="en-US" dirty="0" smtClean="0"/>
              <a:t> </a:t>
            </a:r>
            <a:r>
              <a:rPr lang="en-US" altLang="ko-KR" dirty="0" smtClean="0"/>
              <a:t>1</a:t>
            </a:r>
            <a:r>
              <a:rPr lang="ko-KR" altLang="en-US" dirty="0" err="1" smtClean="0"/>
              <a:t>년이내</a:t>
            </a:r>
            <a:r>
              <a:rPr lang="ko-KR" altLang="en-US" dirty="0" smtClean="0"/>
              <a:t> 자금회수 등의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지분 양수한 경우 등에는 변경신고가 필요하며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출자전환의 경우에도 변경신고</a:t>
            </a:r>
            <a:r>
              <a:rPr lang="ko-KR" altLang="en-US" baseline="0" dirty="0" smtClean="0"/>
              <a:t> 대상이 됩니다</a:t>
            </a:r>
            <a:r>
              <a:rPr lang="en-US" altLang="ko-KR" baseline="0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자회사가 설립되거나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자회사에 대한 투자금액이 증액되거나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자회사를 청산하는 경우에도 변경신고대상이 되는 것으로 </a:t>
            </a:r>
            <a:r>
              <a:rPr lang="en-US" altLang="ko-KR" dirty="0" smtClean="0"/>
              <a:t>13.12</a:t>
            </a:r>
            <a:r>
              <a:rPr lang="ko-KR" altLang="en-US" dirty="0" smtClean="0"/>
              <a:t>월에 규정이 신설되었습니다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30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31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32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33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34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35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36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 txBox="1">
            <a:spLocks noGrp="1" noChangeArrowheads="1"/>
          </p:cNvSpPr>
          <p:nvPr/>
        </p:nvSpPr>
        <p:spPr bwMode="auto">
          <a:xfrm>
            <a:off x="3853132" y="9441023"/>
            <a:ext cx="2952482" cy="496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055" tIns="45526" rIns="91055" bIns="45526" anchor="b"/>
          <a:lstStyle/>
          <a:p>
            <a:pPr algn="r" defTabSz="918366"/>
            <a:fld id="{05B0FF60-660D-4FDB-82E2-A608722144D6}" type="slidenum">
              <a:rPr lang="ko-KR" altLang="en-US" b="0">
                <a:solidFill>
                  <a:schemeClr val="tx1"/>
                </a:solidFill>
              </a:rPr>
              <a:pPr algn="r" defTabSz="918366"/>
              <a:t>37</a:t>
            </a:fld>
            <a:endParaRPr lang="en-US" altLang="ko-KR" b="0" dirty="0">
              <a:solidFill>
                <a:schemeClr val="tx1"/>
              </a:solidFill>
            </a:endParaRPr>
          </a:p>
        </p:txBody>
      </p:sp>
      <p:sp>
        <p:nvSpPr>
          <p:cNvPr id="35843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681038" y="238125"/>
            <a:ext cx="5411787" cy="406082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4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 typeface="Wingdings" pitchFamily="2" charset="2"/>
              <a:buNone/>
            </a:pPr>
            <a:endParaRPr lang="en-US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38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39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40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대출사기 피해를 예방하기 위해서는 전화 또는 메시지를 통한 대출광고는 전부 사기라고 보시고 절대 연락하시면 안됩니다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그리고 정상적인 대출업체는 수수료 등 명목으로 금전을 요구하지 않으므로 대출실행과 관련된 금전요구는 사기라고 의심하시면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 대출 받으려면 통장을 보내라고 하더라도 절대로 통장을 보내주시면 안됩니다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통장을 보내는 순간 대포통장 명의인으로 등록되셔서 전자금융거래법 위반으로 형사처벌까지 가능하며 각종 금융거래제한을 받게 되십니다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그리고 </a:t>
            </a:r>
            <a:r>
              <a:rPr lang="ko-KR" altLang="en-US" dirty="0" err="1" smtClean="0"/>
              <a:t>문자메세지에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유알엘</a:t>
            </a:r>
            <a:r>
              <a:rPr lang="ko-KR" altLang="en-US" dirty="0" smtClean="0"/>
              <a:t> 주소 </a:t>
            </a:r>
            <a:r>
              <a:rPr lang="ko-KR" altLang="en-US" dirty="0" err="1" smtClean="0"/>
              <a:t>같은게</a:t>
            </a:r>
            <a:r>
              <a:rPr lang="ko-KR" altLang="en-US" dirty="0" smtClean="0"/>
              <a:t> 많이 오는데요</a:t>
            </a:r>
            <a:r>
              <a:rPr lang="en-US" altLang="ko-KR" dirty="0" smtClean="0"/>
              <a:t>~</a:t>
            </a:r>
            <a:r>
              <a:rPr lang="ko-KR" altLang="en-US" dirty="0" smtClean="0"/>
              <a:t>그걸 클릭하시는 순간 핸드폰에 악성코드가 감염되니 절대 클릭하시면 안됩니다</a:t>
            </a:r>
            <a:r>
              <a:rPr lang="en-US" altLang="ko-KR" dirty="0" smtClean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41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대출사기 피해를 예방하기 위해서는 전화 또는 메시지를 통한 대출광고는 전부 사기라고 보시고 절대 연락하시면 안됩니다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그리고 정상적인 대출업체는 수수료 등 명목으로 금전을 요구하지 않으므로 대출실행과 관련된 금전요구는 사기라고 의심하시면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 대출 받으려면 통장을 보내라고 하더라도 절대로 통장을 보내주시면 안됩니다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통장을 보내는 순간 대포통장 명의인으로 등록되셔서 전자금융거래법 위반으로 형사처벌까지 가능하며 각종 금융거래제한을 받게 되십니다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그리고 </a:t>
            </a:r>
            <a:r>
              <a:rPr lang="ko-KR" altLang="en-US" dirty="0" err="1" smtClean="0"/>
              <a:t>문자메세지에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유알엘</a:t>
            </a:r>
            <a:r>
              <a:rPr lang="ko-KR" altLang="en-US" dirty="0" smtClean="0"/>
              <a:t> 주소 </a:t>
            </a:r>
            <a:r>
              <a:rPr lang="ko-KR" altLang="en-US" dirty="0" err="1" smtClean="0"/>
              <a:t>같은게</a:t>
            </a:r>
            <a:r>
              <a:rPr lang="ko-KR" altLang="en-US" dirty="0" smtClean="0"/>
              <a:t> 많이 오는데요</a:t>
            </a:r>
            <a:r>
              <a:rPr lang="en-US" altLang="ko-KR" dirty="0" smtClean="0"/>
              <a:t>~</a:t>
            </a:r>
            <a:r>
              <a:rPr lang="ko-KR" altLang="en-US" dirty="0" smtClean="0"/>
              <a:t>그걸 클릭하시는 순간 핸드폰에 악성코드가 감염되니 절대 클릭하시면 안됩니다</a:t>
            </a:r>
            <a:r>
              <a:rPr lang="en-US" altLang="ko-KR" dirty="0" smtClean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42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43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이상으로 오늘 강의를 마치도록 하겠습니다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지금까지 경청해주셔서 감사합니다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B4D864-86EB-467A-9B71-B2C9C5B61BB1}" type="slidenum">
              <a:rPr lang="ko-KR" altLang="en-US" smtClean="0"/>
              <a:pPr>
                <a:defRPr/>
              </a:pPr>
              <a:t>44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4752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F:\업무\2010_프로젝트디자인\100916_법제처 대통령보고자료 PPT\PSD\5.jpg"/>
          <p:cNvPicPr>
            <a:picLocks noChangeAspect="1" noChangeArrowheads="1"/>
          </p:cNvPicPr>
          <p:nvPr userDrawn="1"/>
        </p:nvPicPr>
        <p:blipFill>
          <a:blip r:embed="rId2" cstate="print"/>
          <a:srcRect l="205" r="98550" b="92001"/>
          <a:stretch>
            <a:fillRect/>
          </a:stretch>
        </p:blipFill>
        <p:spPr bwMode="auto">
          <a:xfrm>
            <a:off x="174859" y="0"/>
            <a:ext cx="113831" cy="548600"/>
          </a:xfrm>
          <a:prstGeom prst="rect">
            <a:avLst/>
          </a:prstGeom>
          <a:noFill/>
        </p:spPr>
      </p:pic>
      <p:pic>
        <p:nvPicPr>
          <p:cNvPr id="4" name="Picture 12" descr="상단바"/>
          <p:cNvPicPr>
            <a:picLocks noChangeAspect="1" noChangeArrowheads="1"/>
          </p:cNvPicPr>
          <p:nvPr userDrawn="1"/>
        </p:nvPicPr>
        <p:blipFill>
          <a:blip r:embed="rId3" cstate="print"/>
          <a:srcRect b="84143"/>
          <a:stretch>
            <a:fillRect/>
          </a:stretch>
        </p:blipFill>
        <p:spPr bwMode="auto">
          <a:xfrm>
            <a:off x="0" y="-15892"/>
            <a:ext cx="9144000" cy="1087438"/>
          </a:xfrm>
          <a:prstGeom prst="rect">
            <a:avLst/>
          </a:prstGeom>
          <a:noFill/>
        </p:spPr>
      </p:pic>
      <p:pic>
        <p:nvPicPr>
          <p:cNvPr id="5" name="Picture 22" descr="D:\강정묵_인턴\200812_표준강의안제작\클립\금융감독원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15304" y="158589"/>
            <a:ext cx="1428728" cy="451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업무\2010_프로젝트디자인\101123_법제처 대통령국가보고 PT\PSD\발표순서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7" y="0"/>
            <a:ext cx="9142534" cy="68580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F:\업무\2010_프로젝트디자인\101118_법령정보 시맨틱 서비스 향후 추진방향(정승택)\PSD\3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" y="0"/>
            <a:ext cx="9142535" cy="6858000"/>
          </a:xfrm>
          <a:prstGeom prst="rect">
            <a:avLst/>
          </a:prstGeom>
          <a:noFill/>
        </p:spPr>
      </p:pic>
      <p:pic>
        <p:nvPicPr>
          <p:cNvPr id="5" name="Picture 12" descr="상단바"/>
          <p:cNvPicPr>
            <a:picLocks noChangeAspect="1" noChangeArrowheads="1"/>
          </p:cNvPicPr>
          <p:nvPr userDrawn="1"/>
        </p:nvPicPr>
        <p:blipFill>
          <a:blip r:embed="rId3" cstate="print"/>
          <a:srcRect b="84143"/>
          <a:stretch>
            <a:fillRect/>
          </a:stretch>
        </p:blipFill>
        <p:spPr bwMode="auto">
          <a:xfrm>
            <a:off x="0" y="-15892"/>
            <a:ext cx="9144000" cy="1087438"/>
          </a:xfrm>
          <a:prstGeom prst="rect">
            <a:avLst/>
          </a:prstGeom>
          <a:noFill/>
        </p:spPr>
      </p:pic>
      <p:pic>
        <p:nvPicPr>
          <p:cNvPr id="6" name="Picture 22" descr="D:\강정묵_인턴\200812_표준강의안제작\클립\금융감독원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15304" y="142852"/>
            <a:ext cx="1428728" cy="451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F:\업무\2010_프로젝트디자인\101118_법령정보 시맨틱 서비스 향후 추진방향(정승택)\PSD\3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" y="0"/>
            <a:ext cx="9142535" cy="6858000"/>
          </a:xfrm>
          <a:prstGeom prst="rect">
            <a:avLst/>
          </a:prstGeom>
          <a:noFill/>
        </p:spPr>
      </p:pic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F:\업무\2010_프로젝트디자인\101123_법제처 대통령국가보고 PT\PSD\제안설명회본문3(밝은)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1405" y="6669360"/>
            <a:ext cx="2133600" cy="182116"/>
          </a:xfrm>
        </p:spPr>
        <p:txBody>
          <a:bodyPr/>
          <a:lstStyle>
            <a:lvl1pPr algn="ctr">
              <a:defRPr sz="10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smtClean="0"/>
              <a:t>- </a:t>
            </a:r>
            <a:fld id="{FB45760D-A692-43CA-9897-E8C3B0795779}" type="slidenum">
              <a:rPr lang="ko-KR" altLang="en-US" smtClean="0"/>
              <a:pPr/>
              <a:t>‹#›</a:t>
            </a:fld>
            <a:r>
              <a:rPr lang="ko-KR" altLang="en-US" smtClean="0"/>
              <a:t> </a:t>
            </a:r>
            <a:r>
              <a:rPr lang="en-US" altLang="ko-KR" smtClean="0"/>
              <a:t>-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0631" y="204536"/>
            <a:ext cx="8638673" cy="6096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6" name="내용 개체 틀 6"/>
          <p:cNvSpPr>
            <a:spLocks noGrp="1"/>
          </p:cNvSpPr>
          <p:nvPr>
            <p:ph sz="quarter" idx="13"/>
          </p:nvPr>
        </p:nvSpPr>
        <p:spPr>
          <a:xfrm>
            <a:off x="257816" y="1052737"/>
            <a:ext cx="8610600" cy="5425794"/>
          </a:xfrm>
        </p:spPr>
        <p:txBody>
          <a:bodyPr/>
          <a:lstStyle>
            <a:lvl1pPr marL="265113" indent="-2651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 pitchFamily="34" charset="0"/>
              <a:buChar char="■"/>
              <a:defRPr sz="1800" b="1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  <a:lvl2pPr marL="625475" indent="-28098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75000"/>
              <a:buFont typeface="Arial" pitchFamily="34" charset="0"/>
              <a:buChar char="►"/>
              <a:defRPr sz="1600" b="1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2pPr>
            <a:lvl3pPr marL="901700" indent="-21431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Font typeface="맑은 고딕" pitchFamily="50" charset="-127"/>
              <a:buChar char="–"/>
              <a:defRPr sz="1400" b="0">
                <a:solidFill>
                  <a:schemeClr val="accent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388424" y="6507163"/>
            <a:ext cx="792088" cy="330200"/>
          </a:xfrm>
          <a:prstGeom prst="rect">
            <a:avLst/>
          </a:prstGeom>
        </p:spPr>
        <p:txBody>
          <a:bodyPr/>
          <a:lstStyle>
            <a:lvl1pPr>
              <a:defRPr sz="1600" b="1">
                <a:solidFill>
                  <a:srgbClr val="002060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r>
              <a:rPr lang="en-US" altLang="ko-KR" smtClean="0"/>
              <a:t>- </a:t>
            </a:r>
            <a:fld id="{0D3E83FF-AE6C-4A1D-A6A1-41A6FC65CEBC}" type="slidenum">
              <a:rPr lang="en-US" altLang="ko-KR" smtClean="0"/>
              <a:pPr>
                <a:defRPr/>
              </a:pPr>
              <a:t>‹#›</a:t>
            </a:fld>
            <a:r>
              <a:rPr lang="en-US" altLang="ko-KR" smtClean="0"/>
              <a:t> -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pic>
        <p:nvPicPr>
          <p:cNvPr id="3" name="Picture 21" descr="00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effectLst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altLang="ko-KR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US" altLang="ko-KR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wrap="square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2E3CF56A-5549-4988-A0C7-AA1B961A7B04}" type="slidenum">
              <a:rPr lang="en-US" altLang="ko-KR"/>
              <a:pPr/>
              <a:t>‹#›</a:t>
            </a:fld>
            <a:endParaRPr lang="en-US" altLang="ko-KR" dirty="0"/>
          </a:p>
        </p:txBody>
      </p:sp>
      <p:pic>
        <p:nvPicPr>
          <p:cNvPr id="9232" name="Picture 16" descr="main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pic>
        <p:nvPicPr>
          <p:cNvPr id="3" name="Picture 107" descr="contents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pic>
        <p:nvPicPr>
          <p:cNvPr id="3" name="Picture 31" descr="end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pic>
        <p:nvPicPr>
          <p:cNvPr id="3" name="Picture 2" descr="jangi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pic>
        <p:nvPicPr>
          <p:cNvPr id="3" name="Picture 41" descr="0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금감원로고(글자흰색)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5113" y="188913"/>
            <a:ext cx="1138237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69" descr="005_1 copy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pic>
        <p:nvPicPr>
          <p:cNvPr id="3" name="Picture 21" descr="00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pic>
        <p:nvPicPr>
          <p:cNvPr id="3" name="Picture 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:\업무\2010_프로젝트디자인\101123_법제처 대통령국가보고 PT\PSD\발표순서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7" y="0"/>
            <a:ext cx="9142534" cy="6858000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2.jpe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 cstate="print">
            <a:alphaModFix amt="84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D9C2C-1BCA-43C9-8B23-E20EFEBB48E6}" type="datetimeFigureOut">
              <a:rPr lang="ko-KR" altLang="en-US" smtClean="0"/>
              <a:pPr/>
              <a:t>2016-09-02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59FC0-E73C-4DA8-BA3F-4B34E0A8E2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215" r:id="rId1"/>
    <p:sldLayoutId id="2147486222" r:id="rId2"/>
    <p:sldLayoutId id="2147486223" r:id="rId3"/>
    <p:sldLayoutId id="2147486224" r:id="rId4"/>
    <p:sldLayoutId id="2147486225" r:id="rId5"/>
    <p:sldLayoutId id="2147486226" r:id="rId6"/>
    <p:sldLayoutId id="2147486228" r:id="rId7"/>
    <p:sldLayoutId id="2147486273" r:id="rId8"/>
    <p:sldLayoutId id="2147486274" r:id="rId9"/>
    <p:sldLayoutId id="2147486278" r:id="rId10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alphaModFix amt="84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16" descr="012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247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alphaModFix amt="84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6" descr="010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-32" y="0"/>
            <a:ext cx="914403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3641" name="Rectangle 25"/>
          <p:cNvSpPr>
            <a:spLocks noChangeArrowheads="1"/>
          </p:cNvSpPr>
          <p:nvPr userDrawn="1"/>
        </p:nvSpPr>
        <p:spPr bwMode="auto">
          <a:xfrm>
            <a:off x="0" y="3594100"/>
            <a:ext cx="9144000" cy="195263"/>
          </a:xfrm>
          <a:prstGeom prst="rect">
            <a:avLst/>
          </a:prstGeom>
          <a:solidFill>
            <a:schemeClr val="bg1">
              <a:alpha val="13000"/>
            </a:schemeClr>
          </a:solidFill>
          <a:ln w="3175" algn="ctr">
            <a:noFill/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259" r:id="rId1"/>
    <p:sldLayoutId id="2147486260" r:id="rId2"/>
    <p:sldLayoutId id="2147486261" r:id="rId3"/>
    <p:sldLayoutId id="2147486262" r:id="rId4"/>
    <p:sldLayoutId id="2147486263" r:id="rId5"/>
    <p:sldLayoutId id="2147486264" r:id="rId6"/>
    <p:sldLayoutId id="2147486267" r:id="rId7"/>
    <p:sldLayoutId id="2147486265" r:id="rId8"/>
    <p:sldLayoutId id="2147486266" r:id="rId9"/>
    <p:sldLayoutId id="2147486268" r:id="rId10"/>
    <p:sldLayoutId id="2147486271" r:id="rId11"/>
    <p:sldLayoutId id="2147486275" r:id="rId12"/>
    <p:sldLayoutId id="2147486276" r:id="rId13"/>
    <p:sldLayoutId id="2147486277" r:id="rId1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65000"/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96"/>
          <p:cNvGrpSpPr>
            <a:grpSpLocks/>
          </p:cNvGrpSpPr>
          <p:nvPr/>
        </p:nvGrpSpPr>
        <p:grpSpPr bwMode="auto">
          <a:xfrm rot="636205">
            <a:off x="555114" y="1808479"/>
            <a:ext cx="8024813" cy="3359150"/>
            <a:chOff x="214282" y="223814"/>
            <a:chExt cx="8510645" cy="3562376"/>
          </a:xfrm>
        </p:grpSpPr>
        <p:grpSp>
          <p:nvGrpSpPr>
            <p:cNvPr id="3" name="그룹 7"/>
            <p:cNvGrpSpPr>
              <a:grpSpLocks/>
            </p:cNvGrpSpPr>
            <p:nvPr/>
          </p:nvGrpSpPr>
          <p:grpSpPr bwMode="auto">
            <a:xfrm>
              <a:off x="785802" y="1928802"/>
              <a:ext cx="1305642" cy="1357323"/>
              <a:chOff x="4319662" y="1285597"/>
              <a:chExt cx="1462839" cy="1432356"/>
            </a:xfrm>
          </p:grpSpPr>
          <p:grpSp>
            <p:nvGrpSpPr>
              <p:cNvPr id="4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77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78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5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75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76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6" name="그룹 7"/>
            <p:cNvGrpSpPr>
              <a:grpSpLocks/>
            </p:cNvGrpSpPr>
            <p:nvPr/>
          </p:nvGrpSpPr>
          <p:grpSpPr bwMode="auto">
            <a:xfrm>
              <a:off x="846344" y="1928802"/>
              <a:ext cx="765060" cy="795343"/>
              <a:chOff x="4319662" y="1285597"/>
              <a:chExt cx="1462839" cy="1432356"/>
            </a:xfrm>
          </p:grpSpPr>
          <p:grpSp>
            <p:nvGrpSpPr>
              <p:cNvPr id="7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71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72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8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69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70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9" name="그룹 7"/>
            <p:cNvGrpSpPr>
              <a:grpSpLocks/>
            </p:cNvGrpSpPr>
            <p:nvPr/>
          </p:nvGrpSpPr>
          <p:grpSpPr bwMode="auto">
            <a:xfrm>
              <a:off x="2409102" y="1285861"/>
              <a:ext cx="1162766" cy="1071570"/>
              <a:chOff x="4319662" y="1285597"/>
              <a:chExt cx="1462839" cy="1432356"/>
            </a:xfrm>
          </p:grpSpPr>
          <p:grpSp>
            <p:nvGrpSpPr>
              <p:cNvPr id="16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65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66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7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63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64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8" name="그룹 7"/>
            <p:cNvGrpSpPr>
              <a:grpSpLocks/>
            </p:cNvGrpSpPr>
            <p:nvPr/>
          </p:nvGrpSpPr>
          <p:grpSpPr bwMode="auto">
            <a:xfrm>
              <a:off x="2462202" y="571480"/>
              <a:ext cx="1305642" cy="1357323"/>
              <a:chOff x="4319662" y="1285597"/>
              <a:chExt cx="1462839" cy="1432356"/>
            </a:xfrm>
          </p:grpSpPr>
          <p:grpSp>
            <p:nvGrpSpPr>
              <p:cNvPr id="19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59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60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20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57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58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21" name="그룹 7"/>
            <p:cNvGrpSpPr>
              <a:grpSpLocks/>
            </p:cNvGrpSpPr>
            <p:nvPr/>
          </p:nvGrpSpPr>
          <p:grpSpPr bwMode="auto">
            <a:xfrm>
              <a:off x="1459010" y="1071545"/>
              <a:ext cx="765070" cy="795343"/>
              <a:chOff x="4319662" y="1285597"/>
              <a:chExt cx="1462858" cy="1432356"/>
            </a:xfrm>
          </p:grpSpPr>
          <p:grpSp>
            <p:nvGrpSpPr>
              <p:cNvPr id="22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53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54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23" name="타원 34"/>
              <p:cNvGrpSpPr>
                <a:grpSpLocks/>
              </p:cNvGrpSpPr>
              <p:nvPr/>
            </p:nvGrpSpPr>
            <p:grpSpPr bwMode="auto">
              <a:xfrm>
                <a:off x="4319687" y="1285597"/>
                <a:ext cx="1462833" cy="1432356"/>
                <a:chOff x="5187694" y="2773680"/>
                <a:chExt cx="292608" cy="286512"/>
              </a:xfrm>
            </p:grpSpPr>
            <p:pic>
              <p:nvPicPr>
                <p:cNvPr id="151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52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0752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24" name="그룹 204"/>
            <p:cNvGrpSpPr>
              <a:grpSpLocks/>
            </p:cNvGrpSpPr>
            <p:nvPr/>
          </p:nvGrpSpPr>
          <p:grpSpPr bwMode="auto">
            <a:xfrm>
              <a:off x="1763810" y="1938326"/>
              <a:ext cx="1090326" cy="1133484"/>
              <a:chOff x="4319662" y="1285597"/>
              <a:chExt cx="1462839" cy="1432356"/>
            </a:xfrm>
          </p:grpSpPr>
          <p:grpSp>
            <p:nvGrpSpPr>
              <p:cNvPr id="25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47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48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26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45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46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27" name="그룹 7"/>
            <p:cNvGrpSpPr>
              <a:grpSpLocks/>
            </p:cNvGrpSpPr>
            <p:nvPr/>
          </p:nvGrpSpPr>
          <p:grpSpPr bwMode="auto">
            <a:xfrm>
              <a:off x="592230" y="1366822"/>
              <a:ext cx="765060" cy="795343"/>
              <a:chOff x="4319662" y="1285597"/>
              <a:chExt cx="1462839" cy="1432356"/>
            </a:xfrm>
          </p:grpSpPr>
          <p:grpSp>
            <p:nvGrpSpPr>
              <p:cNvPr id="28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41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42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29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39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40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30" name="그룹 7"/>
            <p:cNvGrpSpPr>
              <a:grpSpLocks/>
            </p:cNvGrpSpPr>
            <p:nvPr/>
          </p:nvGrpSpPr>
          <p:grpSpPr bwMode="auto">
            <a:xfrm>
              <a:off x="214282" y="1704963"/>
              <a:ext cx="765060" cy="795343"/>
              <a:chOff x="4319662" y="1285597"/>
              <a:chExt cx="1462839" cy="1432356"/>
            </a:xfrm>
          </p:grpSpPr>
          <p:grpSp>
            <p:nvGrpSpPr>
              <p:cNvPr id="31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35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6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32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33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4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33" name="그룹 7"/>
            <p:cNvGrpSpPr>
              <a:grpSpLocks/>
            </p:cNvGrpSpPr>
            <p:nvPr/>
          </p:nvGrpSpPr>
          <p:grpSpPr bwMode="auto">
            <a:xfrm>
              <a:off x="3584467" y="2919410"/>
              <a:ext cx="558905" cy="581028"/>
              <a:chOff x="4319662" y="1285597"/>
              <a:chExt cx="1462839" cy="1432356"/>
            </a:xfrm>
          </p:grpSpPr>
          <p:grpSp>
            <p:nvGrpSpPr>
              <p:cNvPr id="34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29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0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35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27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28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36" name="그룹 7"/>
            <p:cNvGrpSpPr>
              <a:grpSpLocks/>
            </p:cNvGrpSpPr>
            <p:nvPr/>
          </p:nvGrpSpPr>
          <p:grpSpPr bwMode="auto">
            <a:xfrm>
              <a:off x="3714744" y="2428868"/>
              <a:ext cx="558905" cy="581028"/>
              <a:chOff x="4319662" y="1285597"/>
              <a:chExt cx="1462839" cy="1432356"/>
            </a:xfrm>
          </p:grpSpPr>
          <p:grpSp>
            <p:nvGrpSpPr>
              <p:cNvPr id="37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23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24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38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21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22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39" name="그룹 7"/>
            <p:cNvGrpSpPr>
              <a:grpSpLocks/>
            </p:cNvGrpSpPr>
            <p:nvPr/>
          </p:nvGrpSpPr>
          <p:grpSpPr bwMode="auto">
            <a:xfrm>
              <a:off x="3981740" y="2571744"/>
              <a:ext cx="1090326" cy="1133484"/>
              <a:chOff x="4319662" y="1285597"/>
              <a:chExt cx="1462839" cy="1432356"/>
            </a:xfrm>
          </p:grpSpPr>
          <p:grpSp>
            <p:nvGrpSpPr>
              <p:cNvPr id="40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17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18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41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15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16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42" name="그룹 7"/>
            <p:cNvGrpSpPr>
              <a:grpSpLocks/>
            </p:cNvGrpSpPr>
            <p:nvPr/>
          </p:nvGrpSpPr>
          <p:grpSpPr bwMode="auto">
            <a:xfrm>
              <a:off x="6745422" y="1938326"/>
              <a:ext cx="765060" cy="795343"/>
              <a:chOff x="4319662" y="1285597"/>
              <a:chExt cx="1462839" cy="1432356"/>
            </a:xfrm>
          </p:grpSpPr>
          <p:grpSp>
            <p:nvGrpSpPr>
              <p:cNvPr id="47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11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12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48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09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10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53" name="그룹 7"/>
            <p:cNvGrpSpPr>
              <a:grpSpLocks/>
            </p:cNvGrpSpPr>
            <p:nvPr/>
          </p:nvGrpSpPr>
          <p:grpSpPr bwMode="auto">
            <a:xfrm>
              <a:off x="7358081" y="2090726"/>
              <a:ext cx="1081165" cy="1123960"/>
              <a:chOff x="4319662" y="1285597"/>
              <a:chExt cx="1462839" cy="1432356"/>
            </a:xfrm>
          </p:grpSpPr>
          <p:grpSp>
            <p:nvGrpSpPr>
              <p:cNvPr id="54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05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06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59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03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04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60" name="그룹 7"/>
            <p:cNvGrpSpPr>
              <a:grpSpLocks/>
            </p:cNvGrpSpPr>
            <p:nvPr/>
          </p:nvGrpSpPr>
          <p:grpSpPr bwMode="auto">
            <a:xfrm>
              <a:off x="3857620" y="918400"/>
              <a:ext cx="500066" cy="519860"/>
              <a:chOff x="4319662" y="1285597"/>
              <a:chExt cx="1462839" cy="1432356"/>
            </a:xfrm>
          </p:grpSpPr>
          <p:grpSp>
            <p:nvGrpSpPr>
              <p:cNvPr id="65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99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00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66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97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98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71" name="그룹 7"/>
            <p:cNvGrpSpPr>
              <a:grpSpLocks/>
            </p:cNvGrpSpPr>
            <p:nvPr/>
          </p:nvGrpSpPr>
          <p:grpSpPr bwMode="auto">
            <a:xfrm>
              <a:off x="7143768" y="1070800"/>
              <a:ext cx="500066" cy="519860"/>
              <a:chOff x="4319662" y="1285597"/>
              <a:chExt cx="1462839" cy="1432356"/>
            </a:xfrm>
          </p:grpSpPr>
          <p:grpSp>
            <p:nvGrpSpPr>
              <p:cNvPr id="72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93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94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77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91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92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78" name="그룹 7"/>
            <p:cNvGrpSpPr>
              <a:grpSpLocks/>
            </p:cNvGrpSpPr>
            <p:nvPr/>
          </p:nvGrpSpPr>
          <p:grpSpPr bwMode="auto">
            <a:xfrm>
              <a:off x="7143768" y="3266330"/>
              <a:ext cx="500066" cy="519860"/>
              <a:chOff x="4319662" y="1285597"/>
              <a:chExt cx="1462839" cy="1432356"/>
            </a:xfrm>
          </p:grpSpPr>
          <p:grpSp>
            <p:nvGrpSpPr>
              <p:cNvPr id="83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87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8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84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85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6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89" name="그룹 7"/>
            <p:cNvGrpSpPr>
              <a:grpSpLocks/>
            </p:cNvGrpSpPr>
            <p:nvPr/>
          </p:nvGrpSpPr>
          <p:grpSpPr bwMode="auto">
            <a:xfrm>
              <a:off x="7429520" y="2754953"/>
              <a:ext cx="785818" cy="816923"/>
              <a:chOff x="4319662" y="1285597"/>
              <a:chExt cx="1462839" cy="1432356"/>
            </a:xfrm>
          </p:grpSpPr>
          <p:grpSp>
            <p:nvGrpSpPr>
              <p:cNvPr id="90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81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2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95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79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0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96" name="그룹 7"/>
            <p:cNvGrpSpPr>
              <a:grpSpLocks/>
            </p:cNvGrpSpPr>
            <p:nvPr/>
          </p:nvGrpSpPr>
          <p:grpSpPr bwMode="auto">
            <a:xfrm>
              <a:off x="7929586" y="2571744"/>
              <a:ext cx="500066" cy="519860"/>
              <a:chOff x="4319662" y="1285597"/>
              <a:chExt cx="1462839" cy="1432356"/>
            </a:xfrm>
          </p:grpSpPr>
          <p:grpSp>
            <p:nvGrpSpPr>
              <p:cNvPr id="101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75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76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02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73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74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07" name="그룹 7"/>
            <p:cNvGrpSpPr>
              <a:grpSpLocks/>
            </p:cNvGrpSpPr>
            <p:nvPr/>
          </p:nvGrpSpPr>
          <p:grpSpPr bwMode="auto">
            <a:xfrm>
              <a:off x="7684996" y="428604"/>
              <a:ext cx="1039931" cy="1081094"/>
              <a:chOff x="4319662" y="1285597"/>
              <a:chExt cx="1462839" cy="1432356"/>
            </a:xfrm>
          </p:grpSpPr>
          <p:grpSp>
            <p:nvGrpSpPr>
              <p:cNvPr id="108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69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70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13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67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8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14" name="그룹 7"/>
            <p:cNvGrpSpPr>
              <a:grpSpLocks/>
            </p:cNvGrpSpPr>
            <p:nvPr/>
          </p:nvGrpSpPr>
          <p:grpSpPr bwMode="auto">
            <a:xfrm>
              <a:off x="6072198" y="581004"/>
              <a:ext cx="1039931" cy="1081094"/>
              <a:chOff x="4319662" y="1285597"/>
              <a:chExt cx="1462839" cy="1432356"/>
            </a:xfrm>
          </p:grpSpPr>
          <p:grpSp>
            <p:nvGrpSpPr>
              <p:cNvPr id="119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63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4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20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61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2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25" name="그룹 7"/>
            <p:cNvGrpSpPr>
              <a:grpSpLocks/>
            </p:cNvGrpSpPr>
            <p:nvPr/>
          </p:nvGrpSpPr>
          <p:grpSpPr bwMode="auto">
            <a:xfrm>
              <a:off x="5500694" y="857232"/>
              <a:ext cx="852100" cy="885828"/>
              <a:chOff x="4319662" y="1285597"/>
              <a:chExt cx="1462839" cy="1432356"/>
            </a:xfrm>
          </p:grpSpPr>
          <p:grpSp>
            <p:nvGrpSpPr>
              <p:cNvPr id="126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57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8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31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55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6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32" name="그룹 7"/>
            <p:cNvGrpSpPr>
              <a:grpSpLocks/>
            </p:cNvGrpSpPr>
            <p:nvPr/>
          </p:nvGrpSpPr>
          <p:grpSpPr bwMode="auto">
            <a:xfrm>
              <a:off x="5200340" y="1142984"/>
              <a:ext cx="723825" cy="752476"/>
              <a:chOff x="4319662" y="1285597"/>
              <a:chExt cx="1462839" cy="1432356"/>
            </a:xfrm>
          </p:grpSpPr>
          <p:grpSp>
            <p:nvGrpSpPr>
              <p:cNvPr id="137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51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2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38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49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0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43" name="그룹 7"/>
            <p:cNvGrpSpPr>
              <a:grpSpLocks/>
            </p:cNvGrpSpPr>
            <p:nvPr/>
          </p:nvGrpSpPr>
          <p:grpSpPr bwMode="auto">
            <a:xfrm>
              <a:off x="6929533" y="223814"/>
              <a:ext cx="723825" cy="752476"/>
              <a:chOff x="4319662" y="1285597"/>
              <a:chExt cx="1462839" cy="1432356"/>
            </a:xfrm>
          </p:grpSpPr>
          <p:grpSp>
            <p:nvGrpSpPr>
              <p:cNvPr id="144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45" name="포인트가 4개인 별 4"/>
                <p:cNvPicPr>
                  <a:picLocks noChangeArrowheads="1"/>
                </p:cNvPicPr>
                <p:nvPr/>
              </p:nvPicPr>
              <p:blipFill>
                <a:blip r:embed="rId4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6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49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43" name="타원 34"/>
                <p:cNvPicPr>
                  <a:picLocks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4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 dirty="0">
                    <a:latin typeface="맑은 고딕" pitchFamily="50" charset="-127"/>
                  </a:endParaRPr>
                </a:p>
              </p:txBody>
            </p:sp>
          </p:grpSp>
        </p:grpSp>
      </p:grpSp>
      <p:sp>
        <p:nvSpPr>
          <p:cNvPr id="174" name="직사각형 173"/>
          <p:cNvSpPr/>
          <p:nvPr/>
        </p:nvSpPr>
        <p:spPr>
          <a:xfrm>
            <a:off x="323528" y="1962125"/>
            <a:ext cx="8424935" cy="153888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bliqueBottomRight"/>
              <a:lightRig rig="contrasting" dir="t">
                <a:rot lat="0" lon="0" rev="4500000"/>
              </a:lightRig>
            </a:scene3d>
            <a:sp3d extrusionH="57150" contourW="6350" prstMaterial="metal">
              <a:bevelT w="127000" h="31750" prst="divo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latinLnBrk="0">
              <a:defRPr/>
            </a:pPr>
            <a:r>
              <a:rPr lang="ko-KR" altLang="en-US" sz="4700" cap="all" dirty="0" smtClean="0">
                <a:ln w="28575">
                  <a:solidFill>
                    <a:schemeClr val="tx1"/>
                  </a:solidFill>
                </a:ln>
                <a:solidFill>
                  <a:srgbClr val="92D050"/>
                </a:solidFill>
                <a:effectLst/>
              </a:rPr>
              <a:t>외국환거래법규 </a:t>
            </a:r>
            <a:r>
              <a:rPr lang="ko-KR" altLang="en-US" sz="4700" cap="all" dirty="0" smtClean="0">
                <a:ln w="28575">
                  <a:solidFill>
                    <a:schemeClr val="tx1"/>
                  </a:solidFill>
                </a:ln>
                <a:solidFill>
                  <a:srgbClr val="92D050"/>
                </a:solidFill>
              </a:rPr>
              <a:t>및</a:t>
            </a:r>
            <a:endParaRPr lang="en-US" altLang="ko-KR" sz="4700" cap="all" dirty="0" smtClean="0">
              <a:ln w="28575">
                <a:solidFill>
                  <a:schemeClr val="tx1"/>
                </a:solidFill>
              </a:ln>
              <a:solidFill>
                <a:srgbClr val="92D050"/>
              </a:solidFill>
              <a:effectLst/>
            </a:endParaRPr>
          </a:p>
          <a:p>
            <a:pPr algn="ctr" latinLnBrk="0">
              <a:defRPr/>
            </a:pPr>
            <a:r>
              <a:rPr lang="ko-KR" altLang="en-US" sz="4700" cap="all" dirty="0" smtClean="0">
                <a:ln w="28575">
                  <a:solidFill>
                    <a:schemeClr val="tx1"/>
                  </a:solidFill>
                </a:ln>
                <a:solidFill>
                  <a:srgbClr val="92D050"/>
                </a:solidFill>
              </a:rPr>
              <a:t>주요 위반사례</a:t>
            </a:r>
            <a:endParaRPr lang="ko-KR" altLang="en-US" sz="4700" cap="all" dirty="0">
              <a:ln w="28575">
                <a:solidFill>
                  <a:schemeClr val="tx1"/>
                </a:solidFill>
              </a:ln>
              <a:solidFill>
                <a:srgbClr val="92D050"/>
              </a:solidFill>
              <a:effectLst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2051720" y="5827330"/>
            <a:ext cx="5099050" cy="553998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>
              <a:defRPr/>
            </a:pPr>
            <a:r>
              <a:rPr lang="ko-KR" altLang="en-US" sz="3000" dirty="0" smtClean="0">
                <a:ln w="57150">
                  <a:solidFill>
                    <a:schemeClr val="tx2"/>
                  </a:solidFill>
                  <a:prstDash val="solid"/>
                  <a:miter lim="800000"/>
                </a:ln>
                <a:solidFill>
                  <a:srgbClr val="FFFF00"/>
                </a:solidFill>
                <a:latin typeface="+mj-ea"/>
                <a:ea typeface="+mj-ea"/>
              </a:rPr>
              <a:t>금융감독원 </a:t>
            </a:r>
            <a:r>
              <a:rPr lang="ko-KR" altLang="en-US" sz="3000" dirty="0" err="1" smtClean="0">
                <a:ln w="57150">
                  <a:solidFill>
                    <a:schemeClr val="tx2"/>
                  </a:solidFill>
                  <a:prstDash val="solid"/>
                  <a:miter lim="800000"/>
                </a:ln>
                <a:solidFill>
                  <a:srgbClr val="FFFF00"/>
                </a:solidFill>
                <a:latin typeface="+mj-ea"/>
                <a:ea typeface="+mj-ea"/>
              </a:rPr>
              <a:t>외환감독국</a:t>
            </a:r>
            <a:r>
              <a:rPr lang="ko-KR" altLang="en-US" sz="3000" dirty="0" smtClean="0">
                <a:ln w="57150">
                  <a:solidFill>
                    <a:schemeClr val="tx2"/>
                  </a:solidFill>
                  <a:prstDash val="solid"/>
                </a:ln>
                <a:solidFill>
                  <a:srgbClr val="0070C0"/>
                </a:solidFill>
                <a:latin typeface="+mj-ea"/>
                <a:ea typeface="+mj-ea"/>
              </a:rPr>
              <a:t> </a:t>
            </a:r>
            <a:endParaRPr lang="ko-KR" altLang="en-US" sz="3000" dirty="0">
              <a:ln w="57150">
                <a:solidFill>
                  <a:schemeClr val="tx2"/>
                </a:solidFill>
                <a:prstDash val="solid"/>
              </a:ln>
              <a:solidFill>
                <a:srgbClr val="0070C0"/>
              </a:solidFill>
              <a:latin typeface="+mj-ea"/>
              <a:ea typeface="+mj-ea"/>
            </a:endParaRPr>
          </a:p>
        </p:txBody>
      </p:sp>
      <p:sp>
        <p:nvSpPr>
          <p:cNvPr id="173" name="TextBox 172"/>
          <p:cNvSpPr txBox="1">
            <a:spLocks noChangeArrowheads="1"/>
          </p:cNvSpPr>
          <p:nvPr/>
        </p:nvSpPr>
        <p:spPr bwMode="auto">
          <a:xfrm>
            <a:off x="323528" y="188640"/>
            <a:ext cx="2376264" cy="923330"/>
          </a:xfrm>
          <a:prstGeom prst="rect">
            <a:avLst/>
          </a:prstGeom>
          <a:noFill/>
          <a:ln w="19050">
            <a:solidFill>
              <a:srgbClr val="0070C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굴림"/>
                <a:ea typeface="굴림"/>
              </a:rPr>
              <a:t>외</a:t>
            </a:r>
            <a:r>
              <a:rPr lang="ko-KR" altLang="en-US" kern="0" dirty="0" smtClean="0">
                <a:solidFill>
                  <a:srgbClr val="000066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굴림"/>
                <a:ea typeface="굴림"/>
              </a:rPr>
              <a:t>국환</a:t>
            </a:r>
            <a:r>
              <a:rPr kumimoji="1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굴림"/>
                <a:ea typeface="굴림"/>
              </a:rPr>
              <a:t>거래제도</a:t>
            </a:r>
            <a:endParaRPr kumimoji="1" lang="en-US" altLang="ko-KR" sz="1800" b="1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굴림"/>
              <a:ea typeface="굴림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굴림"/>
                <a:ea typeface="굴림"/>
              </a:rPr>
              <a:t>공동 설명회</a:t>
            </a:r>
            <a:endParaRPr kumimoji="1" lang="en-US" altLang="ko-KR" sz="1800" b="1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굴림"/>
              <a:ea typeface="굴림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굴림"/>
                <a:ea typeface="굴림"/>
              </a:rPr>
              <a:t>(2016.8</a:t>
            </a:r>
            <a:r>
              <a:rPr kumimoji="1" lang="ko-KR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굴림"/>
                <a:ea typeface="굴림"/>
              </a:rPr>
              <a:t>월</a:t>
            </a:r>
            <a:r>
              <a:rPr kumimoji="1" lang="en-US" altLang="ko-K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굴림"/>
                <a:ea typeface="굴림"/>
              </a:rPr>
              <a:t>)</a:t>
            </a:r>
            <a:endParaRPr kumimoji="1" lang="ko-KR" altLang="en-US" sz="1800" b="1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굴림"/>
              <a:ea typeface="굴림"/>
            </a:endParaRPr>
          </a:p>
        </p:txBody>
      </p:sp>
    </p:spTree>
  </p:cSld>
  <p:clrMapOvr>
    <a:masterClrMapping/>
  </p:clrMapOvr>
  <p:transition advTm="99812"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구름"/>
          <p:cNvPicPr>
            <a:picLocks noChangeAspect="1" noChangeArrowheads="1"/>
          </p:cNvPicPr>
          <p:nvPr/>
        </p:nvPicPr>
        <p:blipFill>
          <a:blip r:embed="rId3" cstate="print"/>
          <a:srcRect r="17708" b="34259"/>
          <a:stretch>
            <a:fillRect/>
          </a:stretch>
        </p:blipFill>
        <p:spPr bwMode="auto">
          <a:xfrm>
            <a:off x="1000100" y="0"/>
            <a:ext cx="7524750" cy="4508500"/>
          </a:xfrm>
          <a:prstGeom prst="rect">
            <a:avLst/>
          </a:prstGeom>
          <a:noFill/>
        </p:spPr>
      </p:pic>
      <p:grpSp>
        <p:nvGrpSpPr>
          <p:cNvPr id="42" name="그룹 35"/>
          <p:cNvGrpSpPr/>
          <p:nvPr/>
        </p:nvGrpSpPr>
        <p:grpSpPr>
          <a:xfrm>
            <a:off x="833932" y="1772816"/>
            <a:ext cx="7410476" cy="757236"/>
            <a:chOff x="947738" y="3032123"/>
            <a:chExt cx="7753648" cy="757236"/>
          </a:xfrm>
        </p:grpSpPr>
        <p:pic>
          <p:nvPicPr>
            <p:cNvPr id="43" name="Picture 27" descr="목차바"/>
            <p:cNvPicPr preferRelativeResize="0">
              <a:picLocks noChangeArrowheads="1"/>
            </p:cNvPicPr>
            <p:nvPr/>
          </p:nvPicPr>
          <p:blipFill>
            <a:blip r:embed="rId4" cstate="print"/>
            <a:srcRect l="10118" t="20419" r="10709" b="64514"/>
            <a:stretch>
              <a:fillRect/>
            </a:stretch>
          </p:blipFill>
          <p:spPr bwMode="auto">
            <a:xfrm>
              <a:off x="947738" y="3032123"/>
              <a:ext cx="7753648" cy="757236"/>
            </a:xfrm>
            <a:prstGeom prst="rect">
              <a:avLst/>
            </a:prstGeom>
            <a:noFill/>
          </p:spPr>
        </p:pic>
        <p:sp>
          <p:nvSpPr>
            <p:cNvPr id="44" name="Text Box 30"/>
            <p:cNvSpPr txBox="1">
              <a:spLocks noChangeArrowheads="1"/>
            </p:cNvSpPr>
            <p:nvPr/>
          </p:nvSpPr>
          <p:spPr bwMode="auto">
            <a:xfrm>
              <a:off x="1717724" y="3155020"/>
              <a:ext cx="66404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l"/>
              <a:r>
                <a:rPr lang="en-US" altLang="ko-KR" sz="2400" dirty="0" smtClean="0">
                  <a:solidFill>
                    <a:srgbClr val="0E3C88"/>
                  </a:solidFill>
                </a:rPr>
                <a:t> </a:t>
              </a:r>
              <a:r>
                <a:rPr lang="ko-KR" altLang="en-US" sz="2400" dirty="0" smtClean="0">
                  <a:solidFill>
                    <a:srgbClr val="0E3C88"/>
                  </a:solidFill>
                </a:rPr>
                <a:t>외국환거래법령 기본개념</a:t>
              </a:r>
              <a:endParaRPr lang="ko-KR" altLang="en-US" sz="2400" dirty="0">
                <a:solidFill>
                  <a:srgbClr val="0E3C88"/>
                </a:solidFill>
              </a:endParaRPr>
            </a:p>
          </p:txBody>
        </p:sp>
        <p:pic>
          <p:nvPicPr>
            <p:cNvPr id="45" name="Picture 23" descr="볼"/>
            <p:cNvPicPr preferRelativeResize="0">
              <a:picLocks noChangeAspect="1" noChangeArrowheads="1"/>
            </p:cNvPicPr>
            <p:nvPr/>
          </p:nvPicPr>
          <p:blipFill>
            <a:blip r:embed="rId5" cstate="print"/>
            <a:srcRect l="11215" t="22037" r="79791" b="66251"/>
            <a:stretch>
              <a:fillRect/>
            </a:stretch>
          </p:blipFill>
          <p:spPr bwMode="auto">
            <a:xfrm>
              <a:off x="1017588" y="3124206"/>
              <a:ext cx="719137" cy="590298"/>
            </a:xfrm>
            <a:prstGeom prst="rect">
              <a:avLst/>
            </a:prstGeom>
            <a:noFill/>
          </p:spPr>
        </p:pic>
        <p:sp>
          <p:nvSpPr>
            <p:cNvPr id="46" name="Text Box 19"/>
            <p:cNvSpPr txBox="1">
              <a:spLocks noChangeArrowheads="1"/>
            </p:cNvSpPr>
            <p:nvPr/>
          </p:nvSpPr>
          <p:spPr bwMode="auto">
            <a:xfrm>
              <a:off x="1089144" y="3121684"/>
              <a:ext cx="682625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altLang="ko-KR" sz="2800" dirty="0" smtClean="0">
                  <a:solidFill>
                    <a:srgbClr val="FCE06A"/>
                  </a:solidFill>
                  <a:latin typeface="HY견명조" pitchFamily="18" charset="-127"/>
                  <a:ea typeface="HY견명조" pitchFamily="18" charset="-127"/>
                </a:rPr>
                <a:t>1</a:t>
              </a:r>
            </a:p>
          </p:txBody>
        </p:sp>
      </p:grpSp>
      <p:grpSp>
        <p:nvGrpSpPr>
          <p:cNvPr id="47" name="그룹 35"/>
          <p:cNvGrpSpPr/>
          <p:nvPr/>
        </p:nvGrpSpPr>
        <p:grpSpPr>
          <a:xfrm>
            <a:off x="833932" y="2728789"/>
            <a:ext cx="7410476" cy="757236"/>
            <a:chOff x="947738" y="3032123"/>
            <a:chExt cx="7753648" cy="757236"/>
          </a:xfrm>
        </p:grpSpPr>
        <p:pic>
          <p:nvPicPr>
            <p:cNvPr id="49" name="Picture 27" descr="목차바"/>
            <p:cNvPicPr preferRelativeResize="0">
              <a:picLocks noChangeArrowheads="1"/>
            </p:cNvPicPr>
            <p:nvPr/>
          </p:nvPicPr>
          <p:blipFill>
            <a:blip r:embed="rId4" cstate="print"/>
            <a:srcRect l="10118" t="20419" r="10709" b="64514"/>
            <a:stretch>
              <a:fillRect/>
            </a:stretch>
          </p:blipFill>
          <p:spPr bwMode="auto">
            <a:xfrm>
              <a:off x="947738" y="3032123"/>
              <a:ext cx="7753648" cy="757236"/>
            </a:xfrm>
            <a:prstGeom prst="rect">
              <a:avLst/>
            </a:prstGeom>
            <a:noFill/>
          </p:spPr>
        </p:pic>
        <p:sp>
          <p:nvSpPr>
            <p:cNvPr id="50" name="Text Box 30"/>
            <p:cNvSpPr txBox="1">
              <a:spLocks noChangeArrowheads="1"/>
            </p:cNvSpPr>
            <p:nvPr/>
          </p:nvSpPr>
          <p:spPr bwMode="auto">
            <a:xfrm>
              <a:off x="1717724" y="3155020"/>
              <a:ext cx="66404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l"/>
              <a:r>
                <a:rPr lang="en-US" altLang="ko-KR" sz="2400" dirty="0" smtClean="0">
                  <a:solidFill>
                    <a:srgbClr val="0E3C88"/>
                  </a:solidFill>
                </a:rPr>
                <a:t> </a:t>
              </a:r>
              <a:r>
                <a:rPr lang="ko-KR" altLang="en-US" sz="2400" dirty="0" err="1" smtClean="0">
                  <a:solidFill>
                    <a:srgbClr val="0E3C88"/>
                  </a:solidFill>
                </a:rPr>
                <a:t>지급등</a:t>
              </a:r>
              <a:r>
                <a:rPr lang="ko-KR" altLang="en-US" sz="2400" dirty="0" smtClean="0">
                  <a:solidFill>
                    <a:srgbClr val="0E3C88"/>
                  </a:solidFill>
                </a:rPr>
                <a:t> 절차 및 방법 </a:t>
              </a:r>
              <a:endParaRPr lang="ko-KR" altLang="en-US" sz="2400" dirty="0">
                <a:solidFill>
                  <a:srgbClr val="0E3C88"/>
                </a:solidFill>
              </a:endParaRPr>
            </a:p>
          </p:txBody>
        </p:sp>
        <p:pic>
          <p:nvPicPr>
            <p:cNvPr id="51" name="Picture 23" descr="볼"/>
            <p:cNvPicPr preferRelativeResize="0">
              <a:picLocks noChangeAspect="1" noChangeArrowheads="1"/>
            </p:cNvPicPr>
            <p:nvPr/>
          </p:nvPicPr>
          <p:blipFill>
            <a:blip r:embed="rId5" cstate="print"/>
            <a:srcRect l="11215" t="22037" r="79791" b="66251"/>
            <a:stretch>
              <a:fillRect/>
            </a:stretch>
          </p:blipFill>
          <p:spPr bwMode="auto">
            <a:xfrm>
              <a:off x="1017588" y="3124206"/>
              <a:ext cx="719137" cy="590298"/>
            </a:xfrm>
            <a:prstGeom prst="rect">
              <a:avLst/>
            </a:prstGeom>
            <a:noFill/>
          </p:spPr>
        </p:pic>
        <p:sp>
          <p:nvSpPr>
            <p:cNvPr id="52" name="Text Box 19"/>
            <p:cNvSpPr txBox="1">
              <a:spLocks noChangeArrowheads="1"/>
            </p:cNvSpPr>
            <p:nvPr/>
          </p:nvSpPr>
          <p:spPr bwMode="auto">
            <a:xfrm>
              <a:off x="1089144" y="3121684"/>
              <a:ext cx="682625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altLang="ko-KR" sz="2800" dirty="0" smtClean="0">
                  <a:solidFill>
                    <a:srgbClr val="FCE06A"/>
                  </a:solidFill>
                  <a:latin typeface="HY견명조" pitchFamily="18" charset="-127"/>
                  <a:ea typeface="HY견명조" pitchFamily="18" charset="-127"/>
                </a:rPr>
                <a:t>2</a:t>
              </a:r>
            </a:p>
          </p:txBody>
        </p:sp>
      </p:grpSp>
      <p:grpSp>
        <p:nvGrpSpPr>
          <p:cNvPr id="53" name="그룹 35"/>
          <p:cNvGrpSpPr/>
          <p:nvPr/>
        </p:nvGrpSpPr>
        <p:grpSpPr>
          <a:xfrm>
            <a:off x="833932" y="3684762"/>
            <a:ext cx="7410476" cy="757236"/>
            <a:chOff x="947738" y="3032123"/>
            <a:chExt cx="7753648" cy="757236"/>
          </a:xfrm>
        </p:grpSpPr>
        <p:pic>
          <p:nvPicPr>
            <p:cNvPr id="54" name="Picture 27" descr="목차바"/>
            <p:cNvPicPr preferRelativeResize="0">
              <a:picLocks noChangeArrowheads="1"/>
            </p:cNvPicPr>
            <p:nvPr/>
          </p:nvPicPr>
          <p:blipFill>
            <a:blip r:embed="rId4" cstate="print"/>
            <a:srcRect l="10118" t="20419" r="10709" b="64514"/>
            <a:stretch>
              <a:fillRect/>
            </a:stretch>
          </p:blipFill>
          <p:spPr bwMode="auto">
            <a:xfrm>
              <a:off x="947738" y="3032123"/>
              <a:ext cx="7753648" cy="757236"/>
            </a:xfrm>
            <a:prstGeom prst="rect">
              <a:avLst/>
            </a:prstGeom>
            <a:noFill/>
          </p:spPr>
        </p:pic>
        <p:sp>
          <p:nvSpPr>
            <p:cNvPr id="55" name="Text Box 30"/>
            <p:cNvSpPr txBox="1">
              <a:spLocks noChangeArrowheads="1"/>
            </p:cNvSpPr>
            <p:nvPr/>
          </p:nvSpPr>
          <p:spPr bwMode="auto">
            <a:xfrm>
              <a:off x="1717724" y="3155020"/>
              <a:ext cx="66404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l"/>
              <a:r>
                <a:rPr lang="en-US" altLang="ko-KR" sz="2400" dirty="0" smtClean="0">
                  <a:solidFill>
                    <a:srgbClr val="0E3C88"/>
                  </a:solidFill>
                </a:rPr>
                <a:t> </a:t>
              </a:r>
              <a:r>
                <a:rPr lang="ko-KR" altLang="en-US" sz="2400" dirty="0" smtClean="0">
                  <a:solidFill>
                    <a:srgbClr val="0E3C88"/>
                  </a:solidFill>
                </a:rPr>
                <a:t>자본거래 </a:t>
              </a:r>
              <a:endParaRPr lang="ko-KR" altLang="en-US" sz="2400" dirty="0">
                <a:solidFill>
                  <a:srgbClr val="0E3C88"/>
                </a:solidFill>
              </a:endParaRPr>
            </a:p>
          </p:txBody>
        </p:sp>
        <p:pic>
          <p:nvPicPr>
            <p:cNvPr id="56" name="Picture 23" descr="볼"/>
            <p:cNvPicPr preferRelativeResize="0">
              <a:picLocks noChangeAspect="1" noChangeArrowheads="1"/>
            </p:cNvPicPr>
            <p:nvPr/>
          </p:nvPicPr>
          <p:blipFill>
            <a:blip r:embed="rId5" cstate="print"/>
            <a:srcRect l="11215" t="22037" r="79791" b="66251"/>
            <a:stretch>
              <a:fillRect/>
            </a:stretch>
          </p:blipFill>
          <p:spPr bwMode="auto">
            <a:xfrm>
              <a:off x="1017588" y="3124206"/>
              <a:ext cx="719137" cy="590298"/>
            </a:xfrm>
            <a:prstGeom prst="rect">
              <a:avLst/>
            </a:prstGeom>
            <a:noFill/>
          </p:spPr>
        </p:pic>
        <p:sp>
          <p:nvSpPr>
            <p:cNvPr id="57" name="Text Box 19"/>
            <p:cNvSpPr txBox="1">
              <a:spLocks noChangeArrowheads="1"/>
            </p:cNvSpPr>
            <p:nvPr/>
          </p:nvSpPr>
          <p:spPr bwMode="auto">
            <a:xfrm>
              <a:off x="1089144" y="3121684"/>
              <a:ext cx="682625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altLang="ko-KR" sz="2800" dirty="0" smtClean="0">
                  <a:solidFill>
                    <a:srgbClr val="FCE06A"/>
                  </a:solidFill>
                  <a:latin typeface="HY견명조" pitchFamily="18" charset="-127"/>
                  <a:ea typeface="HY견명조" pitchFamily="18" charset="-127"/>
                </a:rPr>
                <a:t>3</a:t>
              </a:r>
            </a:p>
          </p:txBody>
        </p:sp>
      </p:grpSp>
      <p:grpSp>
        <p:nvGrpSpPr>
          <p:cNvPr id="58" name="그룹 35"/>
          <p:cNvGrpSpPr/>
          <p:nvPr/>
        </p:nvGrpSpPr>
        <p:grpSpPr>
          <a:xfrm>
            <a:off x="827584" y="4640735"/>
            <a:ext cx="7410476" cy="757236"/>
            <a:chOff x="947738" y="3032123"/>
            <a:chExt cx="7753648" cy="757236"/>
          </a:xfrm>
        </p:grpSpPr>
        <p:pic>
          <p:nvPicPr>
            <p:cNvPr id="59" name="Picture 27" descr="목차바"/>
            <p:cNvPicPr preferRelativeResize="0">
              <a:picLocks noChangeArrowheads="1"/>
            </p:cNvPicPr>
            <p:nvPr/>
          </p:nvPicPr>
          <p:blipFill>
            <a:blip r:embed="rId4" cstate="print"/>
            <a:srcRect l="10118" t="20419" r="10709" b="64514"/>
            <a:stretch>
              <a:fillRect/>
            </a:stretch>
          </p:blipFill>
          <p:spPr bwMode="auto">
            <a:xfrm>
              <a:off x="947738" y="3032123"/>
              <a:ext cx="7753648" cy="757236"/>
            </a:xfrm>
            <a:prstGeom prst="rect">
              <a:avLst/>
            </a:prstGeom>
            <a:noFill/>
          </p:spPr>
        </p:pic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1717724" y="3155020"/>
              <a:ext cx="66404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l"/>
              <a:r>
                <a:rPr lang="en-US" altLang="ko-KR" sz="2400" dirty="0" smtClean="0">
                  <a:solidFill>
                    <a:srgbClr val="0E3C88"/>
                  </a:solidFill>
                </a:rPr>
                <a:t> </a:t>
              </a:r>
              <a:r>
                <a:rPr lang="ko-KR" altLang="en-US" sz="2400" dirty="0" smtClean="0">
                  <a:solidFill>
                    <a:srgbClr val="0E3C88"/>
                  </a:solidFill>
                </a:rPr>
                <a:t>해외직접투자</a:t>
              </a:r>
              <a:endParaRPr lang="ko-KR" altLang="en-US" sz="2400" dirty="0">
                <a:solidFill>
                  <a:srgbClr val="0E3C88"/>
                </a:solidFill>
              </a:endParaRPr>
            </a:p>
          </p:txBody>
        </p:sp>
        <p:pic>
          <p:nvPicPr>
            <p:cNvPr id="61" name="Picture 23" descr="볼"/>
            <p:cNvPicPr preferRelativeResize="0">
              <a:picLocks noChangeAspect="1" noChangeArrowheads="1"/>
            </p:cNvPicPr>
            <p:nvPr/>
          </p:nvPicPr>
          <p:blipFill>
            <a:blip r:embed="rId5" cstate="print"/>
            <a:srcRect l="11215" t="22037" r="79791" b="66251"/>
            <a:stretch>
              <a:fillRect/>
            </a:stretch>
          </p:blipFill>
          <p:spPr bwMode="auto">
            <a:xfrm>
              <a:off x="1017588" y="3124206"/>
              <a:ext cx="719137" cy="590298"/>
            </a:xfrm>
            <a:prstGeom prst="rect">
              <a:avLst/>
            </a:prstGeom>
            <a:noFill/>
          </p:spPr>
        </p:pic>
        <p:sp>
          <p:nvSpPr>
            <p:cNvPr id="62" name="Text Box 19"/>
            <p:cNvSpPr txBox="1">
              <a:spLocks noChangeArrowheads="1"/>
            </p:cNvSpPr>
            <p:nvPr/>
          </p:nvSpPr>
          <p:spPr bwMode="auto">
            <a:xfrm>
              <a:off x="1089144" y="3121684"/>
              <a:ext cx="682625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altLang="ko-KR" sz="2800" dirty="0" smtClean="0">
                  <a:solidFill>
                    <a:srgbClr val="FCE06A"/>
                  </a:solidFill>
                  <a:latin typeface="HY견명조" pitchFamily="18" charset="-127"/>
                  <a:ea typeface="HY견명조" pitchFamily="18" charset="-127"/>
                </a:rPr>
                <a:t>4</a:t>
              </a:r>
            </a:p>
          </p:txBody>
        </p:sp>
      </p:grpSp>
      <p:pic>
        <p:nvPicPr>
          <p:cNvPr id="71" name="Picture 11" descr="목차바"/>
          <p:cNvPicPr>
            <a:picLocks noChangeArrowheads="1"/>
          </p:cNvPicPr>
          <p:nvPr/>
        </p:nvPicPr>
        <p:blipFill>
          <a:blip r:embed="rId4" cstate="print"/>
          <a:srcRect l="10118" t="20419" r="10709" b="64514"/>
          <a:stretch>
            <a:fillRect/>
          </a:stretch>
        </p:blipFill>
        <p:spPr bwMode="auto">
          <a:xfrm>
            <a:off x="1071538" y="582961"/>
            <a:ext cx="2714644" cy="685799"/>
          </a:xfrm>
          <a:prstGeom prst="rect">
            <a:avLst/>
          </a:prstGeom>
          <a:noFill/>
        </p:spPr>
      </p:pic>
      <p:sp>
        <p:nvSpPr>
          <p:cNvPr id="72" name="Rectangle 1567"/>
          <p:cNvSpPr txBox="1">
            <a:spLocks noChangeArrowheads="1"/>
          </p:cNvSpPr>
          <p:nvPr/>
        </p:nvSpPr>
        <p:spPr>
          <a:xfrm flipH="1">
            <a:off x="1142976" y="605628"/>
            <a:ext cx="2643206" cy="519116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000" b="1" kern="0" dirty="0" smtClean="0">
                <a:ln w="1905"/>
                <a:solidFill>
                  <a:srgbClr val="F5960B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D아트체" pitchFamily="18" charset="-127"/>
                <a:ea typeface="MD아트체" pitchFamily="18" charset="-127"/>
                <a:cs typeface="+mj-cs"/>
              </a:rPr>
              <a:t>목   차</a:t>
            </a:r>
            <a:endParaRPr kumimoji="1" lang="en-US" altLang="ko-KR" sz="3000" b="1" u="none" strike="noStrike" kern="0" normalizeH="0" noProof="0" dirty="0" smtClean="0">
              <a:ln w="1905"/>
              <a:solidFill>
                <a:srgbClr val="F5960B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MD아트체" pitchFamily="18" charset="-127"/>
              <a:ea typeface="MD아트체" pitchFamily="18" charset="-127"/>
              <a:cs typeface="+mj-cs"/>
            </a:endParaRPr>
          </a:p>
        </p:txBody>
      </p:sp>
      <p:grpSp>
        <p:nvGrpSpPr>
          <p:cNvPr id="73" name="그룹 35"/>
          <p:cNvGrpSpPr/>
          <p:nvPr/>
        </p:nvGrpSpPr>
        <p:grpSpPr>
          <a:xfrm>
            <a:off x="827584" y="5596708"/>
            <a:ext cx="7410476" cy="757236"/>
            <a:chOff x="947738" y="3032123"/>
            <a:chExt cx="7753648" cy="757236"/>
          </a:xfrm>
        </p:grpSpPr>
        <p:pic>
          <p:nvPicPr>
            <p:cNvPr id="74" name="Picture 27" descr="목차바"/>
            <p:cNvPicPr preferRelativeResize="0">
              <a:picLocks noChangeArrowheads="1"/>
            </p:cNvPicPr>
            <p:nvPr/>
          </p:nvPicPr>
          <p:blipFill>
            <a:blip r:embed="rId4" cstate="print"/>
            <a:srcRect l="10118" t="20419" r="10709" b="64514"/>
            <a:stretch>
              <a:fillRect/>
            </a:stretch>
          </p:blipFill>
          <p:spPr bwMode="auto">
            <a:xfrm>
              <a:off x="947738" y="3032123"/>
              <a:ext cx="7753648" cy="757236"/>
            </a:xfrm>
            <a:prstGeom prst="rect">
              <a:avLst/>
            </a:prstGeom>
            <a:noFill/>
          </p:spPr>
        </p:pic>
        <p:sp>
          <p:nvSpPr>
            <p:cNvPr id="75" name="Text Box 30"/>
            <p:cNvSpPr txBox="1">
              <a:spLocks noChangeArrowheads="1"/>
            </p:cNvSpPr>
            <p:nvPr/>
          </p:nvSpPr>
          <p:spPr bwMode="auto">
            <a:xfrm>
              <a:off x="1717724" y="3155020"/>
              <a:ext cx="66404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l"/>
              <a:r>
                <a:rPr lang="en-US" altLang="ko-KR" sz="2400" dirty="0" smtClean="0">
                  <a:solidFill>
                    <a:srgbClr val="0E3C88"/>
                  </a:solidFill>
                </a:rPr>
                <a:t> </a:t>
              </a:r>
              <a:r>
                <a:rPr lang="ko-KR" altLang="en-US" sz="2400" dirty="0" smtClean="0">
                  <a:solidFill>
                    <a:srgbClr val="0E3C88"/>
                  </a:solidFill>
                </a:rPr>
                <a:t>부동산취득 </a:t>
              </a:r>
              <a:endParaRPr lang="ko-KR" altLang="en-US" sz="2400" dirty="0">
                <a:solidFill>
                  <a:srgbClr val="0E3C88"/>
                </a:solidFill>
              </a:endParaRPr>
            </a:p>
          </p:txBody>
        </p:sp>
        <p:pic>
          <p:nvPicPr>
            <p:cNvPr id="76" name="Picture 23" descr="볼"/>
            <p:cNvPicPr preferRelativeResize="0">
              <a:picLocks noChangeAspect="1" noChangeArrowheads="1"/>
            </p:cNvPicPr>
            <p:nvPr/>
          </p:nvPicPr>
          <p:blipFill>
            <a:blip r:embed="rId5" cstate="print"/>
            <a:srcRect l="11215" t="22037" r="79791" b="66251"/>
            <a:stretch>
              <a:fillRect/>
            </a:stretch>
          </p:blipFill>
          <p:spPr bwMode="auto">
            <a:xfrm>
              <a:off x="1017588" y="3124206"/>
              <a:ext cx="719137" cy="590298"/>
            </a:xfrm>
            <a:prstGeom prst="rect">
              <a:avLst/>
            </a:prstGeom>
            <a:noFill/>
          </p:spPr>
        </p:pic>
        <p:sp>
          <p:nvSpPr>
            <p:cNvPr id="77" name="Text Box 19"/>
            <p:cNvSpPr txBox="1">
              <a:spLocks noChangeArrowheads="1"/>
            </p:cNvSpPr>
            <p:nvPr/>
          </p:nvSpPr>
          <p:spPr bwMode="auto">
            <a:xfrm>
              <a:off x="1089144" y="3121684"/>
              <a:ext cx="682625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altLang="ko-KR" sz="2800" dirty="0" smtClean="0">
                  <a:solidFill>
                    <a:srgbClr val="FCE06A"/>
                  </a:solidFill>
                  <a:latin typeface="HY견명조" pitchFamily="18" charset="-127"/>
                  <a:ea typeface="HY견명조" pitchFamily="18" charset="-127"/>
                </a:rPr>
                <a:t>5</a:t>
              </a:r>
            </a:p>
          </p:txBody>
        </p:sp>
      </p:grpSp>
    </p:spTree>
  </p:cSld>
  <p:clrMapOvr>
    <a:masterClrMapping/>
  </p:clrMapOvr>
  <p:transition advTm="43531"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Rectangle 7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3840" y="2448794"/>
            <a:ext cx="8680648" cy="3500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61951" y="1718171"/>
            <a:ext cx="1329729" cy="486693"/>
            <a:chOff x="-273" y="368"/>
            <a:chExt cx="4089" cy="512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-273" y="368"/>
              <a:ext cx="4089" cy="512"/>
              <a:chOff x="476" y="1026"/>
              <a:chExt cx="3765" cy="544"/>
            </a:xfrm>
          </p:grpSpPr>
          <p:sp>
            <p:nvSpPr>
              <p:cNvPr id="72" name="AutoShape 8"/>
              <p:cNvSpPr>
                <a:spLocks noChangeArrowheads="1"/>
              </p:cNvSpPr>
              <p:nvPr/>
            </p:nvSpPr>
            <p:spPr bwMode="auto">
              <a:xfrm rot="5400000">
                <a:off x="2087" y="-583"/>
                <a:ext cx="544" cy="376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AEAEA"/>
                  </a:gs>
                  <a:gs pos="100000">
                    <a:srgbClr val="B2B2B2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3" name="AutoShape 9"/>
              <p:cNvSpPr>
                <a:spLocks noChangeArrowheads="1"/>
              </p:cNvSpPr>
              <p:nvPr/>
            </p:nvSpPr>
            <p:spPr bwMode="auto">
              <a:xfrm rot="5400000">
                <a:off x="2156" y="-461"/>
                <a:ext cx="403" cy="351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666666"/>
                  </a:gs>
                  <a:gs pos="100000">
                    <a:srgbClr val="FFFFFF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  <a:effectLst>
                <a:prstShdw prst="shdw17" dist="17961" dir="13500000">
                  <a:srgbClr val="999999"/>
                </a:prstShdw>
              </a:effectLst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4" name="AutoShape 10"/>
              <p:cNvSpPr>
                <a:spLocks noChangeArrowheads="1"/>
              </p:cNvSpPr>
              <p:nvPr/>
            </p:nvSpPr>
            <p:spPr bwMode="auto">
              <a:xfrm rot="5400000">
                <a:off x="2178" y="-425"/>
                <a:ext cx="360" cy="344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9933"/>
                  </a:gs>
                  <a:gs pos="50000">
                    <a:srgbClr val="FFD6AD"/>
                  </a:gs>
                  <a:gs pos="100000">
                    <a:srgbClr val="FF9933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  <a:effectLst>
                <a:prstShdw prst="shdw17" dist="17961" dir="13500000">
                  <a:srgbClr val="995C1F"/>
                </a:prstShdw>
              </a:effectLst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71" name="Rectangle 11"/>
            <p:cNvSpPr>
              <a:spLocks noChangeArrowheads="1"/>
            </p:cNvSpPr>
            <p:nvPr/>
          </p:nvSpPr>
          <p:spPr bwMode="auto">
            <a:xfrm flipH="1">
              <a:off x="14" y="452"/>
              <a:ext cx="3581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99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dirty="0" smtClean="0">
                  <a:solidFill>
                    <a:schemeClr val="tx1"/>
                  </a:solidFill>
                </a:rPr>
                <a:t>의의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75" name="Text Box 27"/>
          <p:cNvSpPr txBox="1">
            <a:spLocks noChangeArrowheads="1"/>
          </p:cNvSpPr>
          <p:nvPr/>
        </p:nvSpPr>
        <p:spPr bwMode="auto">
          <a:xfrm>
            <a:off x="107504" y="2204864"/>
            <a:ext cx="8169275" cy="2116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58775" lvl="2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endParaRPr lang="ko-KR" altLang="en-US" sz="9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83518" y="2350035"/>
            <a:ext cx="868097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개방경제체제 하의 원활한 대외거래를 위해서는 외환거래의 자유를 보장하는 것이 </a:t>
            </a:r>
            <a:r>
              <a:rPr lang="ko-KR" altLang="en-US" b="0" dirty="0" err="1" smtClean="0">
                <a:solidFill>
                  <a:schemeClr val="tx1"/>
                </a:solidFill>
                <a:latin typeface="+mn-ea"/>
                <a:ea typeface="+mn-ea"/>
              </a:rPr>
              <a:t>바람직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대외거래의 자유를 과도하게 허용할 경우 외환시장 및 국민 경제의 안정성을 저해하거나 한 국가의 외국환 수요 및 공급이 균형 상태를 유지하지 못하고 외환 수급의 불균형이 심화될 수 있음</a:t>
            </a:r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ko-KR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buFont typeface="Arial" pitchFamily="34" charset="0"/>
              <a:buChar char="•"/>
            </a:pP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통화 및 재정 정책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환율의 유연성 제고 등과 함께 외국환거래에 대한 직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·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간접적인 규제를 통한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대외 불균형을 해소하기 위해 외국환거래법령의 규율을 받는 제도적 장치의 마련이 필요</a:t>
            </a:r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en-US" altLang="ko-KR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6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1. </a:t>
            </a:r>
            <a:r>
              <a:rPr lang="ko-KR" altLang="en-US" sz="2400" dirty="0" smtClean="0">
                <a:solidFill>
                  <a:srgbClr val="FFFF00"/>
                </a:solidFill>
              </a:rPr>
              <a:t>외국환거래법령 기본개념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grpSp>
        <p:nvGrpSpPr>
          <p:cNvPr id="6" name="그룹 104"/>
          <p:cNvGrpSpPr>
            <a:grpSpLocks/>
          </p:cNvGrpSpPr>
          <p:nvPr/>
        </p:nvGrpSpPr>
        <p:grpSpPr bwMode="auto">
          <a:xfrm>
            <a:off x="285777" y="785795"/>
            <a:ext cx="8215313" cy="750886"/>
            <a:chOff x="428596" y="3571877"/>
            <a:chExt cx="8215370" cy="750234"/>
          </a:xfrm>
        </p:grpSpPr>
        <p:sp>
          <p:nvSpPr>
            <p:cNvPr id="88" name="직사각형 87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9" name="직사각형 88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7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99" name="포인트가 5개인 별 98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00" name="포인트가 5개인 별 99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91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2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외국환거래제도 개요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8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95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96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97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98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94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Rectangle 7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060848"/>
            <a:ext cx="8424614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5" name="직사각형 84"/>
          <p:cNvSpPr/>
          <p:nvPr/>
        </p:nvSpPr>
        <p:spPr>
          <a:xfrm>
            <a:off x="395536" y="2204864"/>
            <a:ext cx="82089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외국환거래 및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대외거래의 자유를 보장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하고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시장기능을 활성화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함으로써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대외거래의 원활화</a:t>
            </a:r>
            <a:r>
              <a:rPr lang="en-US" altLang="ko-KR" dirty="0" smtClean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국제수지의 균형 및 통화가치의 대외적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안정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을 통해 </a:t>
            </a:r>
            <a:r>
              <a:rPr lang="ko-KR" altLang="en-US" dirty="0" smtClean="0">
                <a:solidFill>
                  <a:schemeClr val="tx1"/>
                </a:solidFill>
                <a:latin typeface="+mn-ea"/>
                <a:ea typeface="+mn-ea"/>
              </a:rPr>
              <a:t>국민경제의 건전한 발전에 이바지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하는 데 최종적인 목적이 있음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외국환거래법 제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조</a:t>
            </a:r>
            <a:r>
              <a:rPr lang="en-US" altLang="ko-KR" b="0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ko-KR" altLang="en-US" b="0" dirty="0" smtClean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ko-KR" altLang="en-US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6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1. </a:t>
            </a:r>
            <a:r>
              <a:rPr lang="ko-KR" altLang="en-US" sz="2400" dirty="0" smtClean="0">
                <a:solidFill>
                  <a:srgbClr val="FFFF00"/>
                </a:solidFill>
              </a:rPr>
              <a:t>외국환거래법령 기본개념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grpSp>
        <p:nvGrpSpPr>
          <p:cNvPr id="87" name="그룹 104"/>
          <p:cNvGrpSpPr>
            <a:grpSpLocks/>
          </p:cNvGrpSpPr>
          <p:nvPr/>
        </p:nvGrpSpPr>
        <p:grpSpPr bwMode="auto">
          <a:xfrm>
            <a:off x="285777" y="785795"/>
            <a:ext cx="8215313" cy="750886"/>
            <a:chOff x="428596" y="3571877"/>
            <a:chExt cx="8215370" cy="750234"/>
          </a:xfrm>
        </p:grpSpPr>
        <p:sp>
          <p:nvSpPr>
            <p:cNvPr id="88" name="직사각형 87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9" name="직사각형 88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90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99" name="포인트가 5개인 별 98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00" name="포인트가 5개인 별 99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91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2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외국환거래제도 개요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93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95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96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97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98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94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1835696" y="3501009"/>
          <a:ext cx="5439283" cy="792088"/>
        </p:xfrm>
        <a:graphic>
          <a:graphicData uri="http://schemas.openxmlformats.org/drawingml/2006/table">
            <a:tbl>
              <a:tblPr/>
              <a:tblGrid>
                <a:gridCol w="5439283"/>
              </a:tblGrid>
              <a:tr h="7920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휴먼명조"/>
                        </a:rPr>
                        <a:t>舊「외국환관리법」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휴먼명조"/>
                        </a:rPr>
                        <a:t>(1961.12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휴먼명조"/>
                        </a:rPr>
                        <a:t>월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휴먼명조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바탕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휴먼명조"/>
                        </a:rPr>
                        <a:t>원칙적 규제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휴먼명조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휴먼명조"/>
                        </a:rPr>
                        <a:t>예외적 자유 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휴먼명조"/>
                        </a:rPr>
                        <a:t>(Positive System)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바탕"/>
                      </a:endParaRPr>
                    </a:p>
                  </a:txBody>
                  <a:tcPr marL="64770" marR="64770" marT="17907" marB="17907" anchor="ctr">
                    <a:lnL w="10795" cap="flat" cmpd="tri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tri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tri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tri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EFE8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/>
        </p:nvGraphicFramePr>
        <p:xfrm>
          <a:off x="1835696" y="5301208"/>
          <a:ext cx="5455946" cy="792088"/>
        </p:xfrm>
        <a:graphic>
          <a:graphicData uri="http://schemas.openxmlformats.org/drawingml/2006/table">
            <a:tbl>
              <a:tblPr/>
              <a:tblGrid>
                <a:gridCol w="5455946"/>
              </a:tblGrid>
              <a:tr h="7920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휴먼명조"/>
                        </a:rPr>
                        <a:t>「외국환거래법」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휴먼명조"/>
                        </a:rPr>
                        <a:t>(1999.4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휴먼명조"/>
                        </a:rPr>
                        <a:t>월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휴먼명조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바탕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휴먼명조"/>
                        </a:rPr>
                        <a:t>원칙적 자유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휴먼명조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휴먼명조"/>
                        </a:rPr>
                        <a:t>예외적 규제 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휴먼명조"/>
                        </a:rPr>
                        <a:t>(Negative System)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바탕"/>
                      </a:endParaRPr>
                    </a:p>
                  </a:txBody>
                  <a:tcPr marL="64770" marR="64770" marT="17907" marB="17907" anchor="ctr">
                    <a:lnL w="10795" cap="flat" cmpd="tri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tri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tri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tri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EFE86"/>
                    </a:solidFill>
                  </a:tcPr>
                </a:tc>
              </a:tr>
            </a:tbl>
          </a:graphicData>
        </a:graphic>
      </p:graphicFrame>
      <p:sp>
        <p:nvSpPr>
          <p:cNvPr id="40" name="아래쪽 화살표 39"/>
          <p:cNvSpPr/>
          <p:nvPr/>
        </p:nvSpPr>
        <p:spPr>
          <a:xfrm>
            <a:off x="4139952" y="4581128"/>
            <a:ext cx="504056" cy="504056"/>
          </a:xfrm>
          <a:prstGeom prst="downArrow">
            <a:avLst/>
          </a:prstGeom>
          <a:solidFill>
            <a:srgbClr val="92D050"/>
          </a:solidFill>
          <a:ln>
            <a:solidFill>
              <a:srgbClr val="02B2CA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relaxedInset"/>
            </a:sp3d>
          </a:bodyPr>
          <a:lstStyle/>
          <a:p>
            <a:pPr algn="ctr"/>
            <a:endParaRPr lang="ko-KR" altLang="en-US"/>
          </a:p>
        </p:txBody>
      </p:sp>
      <p:grpSp>
        <p:nvGrpSpPr>
          <p:cNvPr id="78" name="Group 6"/>
          <p:cNvGrpSpPr>
            <a:grpSpLocks/>
          </p:cNvGrpSpPr>
          <p:nvPr/>
        </p:nvGrpSpPr>
        <p:grpSpPr bwMode="auto">
          <a:xfrm>
            <a:off x="251520" y="1502147"/>
            <a:ext cx="1329729" cy="486693"/>
            <a:chOff x="-273" y="368"/>
            <a:chExt cx="4089" cy="512"/>
          </a:xfrm>
        </p:grpSpPr>
        <p:grpSp>
          <p:nvGrpSpPr>
            <p:cNvPr id="79" name="Group 7"/>
            <p:cNvGrpSpPr>
              <a:grpSpLocks/>
            </p:cNvGrpSpPr>
            <p:nvPr/>
          </p:nvGrpSpPr>
          <p:grpSpPr bwMode="auto">
            <a:xfrm>
              <a:off x="-273" y="368"/>
              <a:ext cx="4089" cy="512"/>
              <a:chOff x="476" y="1026"/>
              <a:chExt cx="3765" cy="544"/>
            </a:xfrm>
          </p:grpSpPr>
          <p:sp>
            <p:nvSpPr>
              <p:cNvPr id="81" name="AutoShape 8"/>
              <p:cNvSpPr>
                <a:spLocks noChangeArrowheads="1"/>
              </p:cNvSpPr>
              <p:nvPr/>
            </p:nvSpPr>
            <p:spPr bwMode="auto">
              <a:xfrm rot="5400000">
                <a:off x="2087" y="-583"/>
                <a:ext cx="544" cy="376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AEAEA"/>
                  </a:gs>
                  <a:gs pos="100000">
                    <a:srgbClr val="B2B2B2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2" name="AutoShape 9"/>
              <p:cNvSpPr>
                <a:spLocks noChangeArrowheads="1"/>
              </p:cNvSpPr>
              <p:nvPr/>
            </p:nvSpPr>
            <p:spPr bwMode="auto">
              <a:xfrm rot="5400000">
                <a:off x="2156" y="-461"/>
                <a:ext cx="403" cy="351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666666"/>
                  </a:gs>
                  <a:gs pos="100000">
                    <a:srgbClr val="FFFFFF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  <a:effectLst>
                <a:prstShdw prst="shdw17" dist="17961" dir="13500000">
                  <a:srgbClr val="999999"/>
                </a:prstShdw>
              </a:effectLst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3" name="AutoShape 10"/>
              <p:cNvSpPr>
                <a:spLocks noChangeArrowheads="1"/>
              </p:cNvSpPr>
              <p:nvPr/>
            </p:nvSpPr>
            <p:spPr bwMode="auto">
              <a:xfrm rot="5400000">
                <a:off x="2178" y="-425"/>
                <a:ext cx="360" cy="344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9933"/>
                  </a:gs>
                  <a:gs pos="50000">
                    <a:srgbClr val="FFD6AD"/>
                  </a:gs>
                  <a:gs pos="100000">
                    <a:srgbClr val="FF9933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  <a:effectLst>
                <a:prstShdw prst="shdw17" dist="17961" dir="13500000">
                  <a:srgbClr val="995C1F"/>
                </a:prstShdw>
              </a:effectLst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80" name="Rectangle 11"/>
            <p:cNvSpPr>
              <a:spLocks noChangeArrowheads="1"/>
            </p:cNvSpPr>
            <p:nvPr/>
          </p:nvSpPr>
          <p:spPr bwMode="auto">
            <a:xfrm flipH="1">
              <a:off x="14" y="452"/>
              <a:ext cx="3581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99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dirty="0" smtClean="0">
                  <a:solidFill>
                    <a:schemeClr val="tx1"/>
                  </a:solidFill>
                </a:rPr>
                <a:t>목적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104"/>
          <p:cNvGrpSpPr>
            <a:grpSpLocks/>
          </p:cNvGrpSpPr>
          <p:nvPr/>
        </p:nvGrpSpPr>
        <p:grpSpPr bwMode="auto">
          <a:xfrm>
            <a:off x="285777" y="785795"/>
            <a:ext cx="8215313" cy="750886"/>
            <a:chOff x="428596" y="3571877"/>
            <a:chExt cx="8215370" cy="750234"/>
          </a:xfrm>
        </p:grpSpPr>
        <p:sp>
          <p:nvSpPr>
            <p:cNvPr id="32" name="직사각형 31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4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46" name="포인트가 5개인 별 4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47" name="포인트가 5개인 별 4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35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7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외국환거래법의 적용범위</a:t>
              </a: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(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제</a:t>
              </a: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2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조</a:t>
              </a: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)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39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4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4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4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4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40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62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1. </a:t>
            </a:r>
            <a:r>
              <a:rPr lang="ko-KR" altLang="en-US" sz="2400" dirty="0" smtClean="0">
                <a:solidFill>
                  <a:srgbClr val="FFFF00"/>
                </a:solidFill>
              </a:rPr>
              <a:t>외국환거래법령 기본개념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pic>
        <p:nvPicPr>
          <p:cNvPr id="26" name="Rectangle 7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628799"/>
            <a:ext cx="8424614" cy="3096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611560" y="1688609"/>
            <a:ext cx="8064896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① 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대한민국에서의 외국환과 대한민국에서 하는 외국환거래 및 그 밖에 이와 관련되는 행위</a:t>
            </a:r>
            <a:endParaRPr kumimoji="1" lang="en-US" altLang="ko-KR" sz="14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  <a:ea typeface="+mn-ea"/>
              <a:cs typeface="굴림" pitchFamily="50" charset="-127"/>
            </a:endParaRPr>
          </a:p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② 대한민국과 외국 간의 거래 또는 지급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·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수령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, 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그 밖에 이와 관련되는 행위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(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외국에서 하는 행위로서 대한민국에서 그 효과가 발생하는 것을 포함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)</a:t>
            </a:r>
            <a:endParaRPr kumimoji="1" lang="en-US" altLang="ko-KR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14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  <a:ea typeface="+mn-ea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③ 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외국에 주소 또는 거소를 둔 개인과 외국에 주된 사무소를 둔 법인이 하는 거래로서 대한민국 통화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(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通貨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)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로 표시되거나 지급받을 수 있는 거래와 그 밖에 이와 관련되는 행위</a:t>
            </a:r>
            <a:endParaRPr kumimoji="1" lang="ko-KR" alt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14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  <a:ea typeface="+mn-ea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④ 대한민국에 주소 또는 거소를 둔 개인 또는 그 대리인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, 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사용인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, 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그 밖의 종업원이 외국에서 그 개인의 재산 또는 업무에 관하여 한 행위</a:t>
            </a:r>
            <a:endParaRPr kumimoji="1" lang="ko-KR" alt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140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  <a:ea typeface="+mn-ea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⑤ 대한민국에 주된 사무소를 둔 법인의 대표자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, 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대리인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, 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사용인</a:t>
            </a:r>
            <a:r>
              <a:rPr kumimoji="1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, </a:t>
            </a: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그 밖의 종업원이 외국에서 그 법인의 재산 또는 업무에 관하여 한 행위</a:t>
            </a:r>
            <a:endParaRPr kumimoji="1" lang="ko-KR" alt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  </a:t>
            </a:r>
            <a:endParaRPr kumimoji="1" lang="ko-KR" alt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굴림" pitchFamily="50" charset="-127"/>
            </a:endParaRPr>
          </a:p>
        </p:txBody>
      </p:sp>
      <p:sp>
        <p:nvSpPr>
          <p:cNvPr id="49" name="아래쪽 화살표 48"/>
          <p:cNvSpPr/>
          <p:nvPr/>
        </p:nvSpPr>
        <p:spPr>
          <a:xfrm>
            <a:off x="4139952" y="4797152"/>
            <a:ext cx="504056" cy="504056"/>
          </a:xfrm>
          <a:prstGeom prst="downArrow">
            <a:avLst/>
          </a:prstGeom>
          <a:solidFill>
            <a:srgbClr val="92D050"/>
          </a:solidFill>
          <a:ln>
            <a:solidFill>
              <a:srgbClr val="02B2CA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relaxedInset"/>
            </a:sp3d>
          </a:bodyPr>
          <a:lstStyle/>
          <a:p>
            <a:pPr algn="ctr"/>
            <a:endParaRPr lang="ko-KR" altLang="en-US"/>
          </a:p>
        </p:txBody>
      </p:sp>
      <p:grpSp>
        <p:nvGrpSpPr>
          <p:cNvPr id="51" name="그룹 86"/>
          <p:cNvGrpSpPr>
            <a:grpSpLocks/>
          </p:cNvGrpSpPr>
          <p:nvPr/>
        </p:nvGrpSpPr>
        <p:grpSpPr bwMode="auto">
          <a:xfrm>
            <a:off x="1043608" y="5301208"/>
            <a:ext cx="6840760" cy="1440160"/>
            <a:chOff x="1977486" y="3190048"/>
            <a:chExt cx="1500198" cy="736500"/>
          </a:xfrm>
        </p:grpSpPr>
        <p:pic>
          <p:nvPicPr>
            <p:cNvPr id="52" name="Picture 105" descr="그림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977486" y="3190048"/>
              <a:ext cx="1500198" cy="736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3" name="Text Box 13"/>
            <p:cNvSpPr txBox="1">
              <a:spLocks noChangeArrowheads="1"/>
            </p:cNvSpPr>
            <p:nvPr/>
          </p:nvSpPr>
          <p:spPr bwMode="auto">
            <a:xfrm>
              <a:off x="2065732" y="3344061"/>
              <a:ext cx="1302206" cy="2358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003938"/>
              </a:outerShdw>
            </a:effectLst>
          </p:spPr>
          <p:txBody>
            <a:bodyPr wrap="square" lIns="0" tIns="0" rIns="0" bIns="0" anchor="ctr">
              <a:spAutoFit/>
            </a:bodyPr>
            <a:lstStyle/>
            <a:p>
              <a:pPr algn="ctr" latinLnBrk="0">
                <a:lnSpc>
                  <a:spcPct val="110000"/>
                </a:lnSpc>
                <a:defRPr/>
              </a:pPr>
              <a:endParaRPr kumimoji="0" lang="ko-KR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Y헤드라인M" pitchFamily="18" charset="-127"/>
              </a:endParaRPr>
            </a:p>
          </p:txBody>
        </p:sp>
      </p:grpSp>
      <p:sp>
        <p:nvSpPr>
          <p:cNvPr id="55" name="직사각형 54"/>
          <p:cNvSpPr/>
          <p:nvPr/>
        </p:nvSpPr>
        <p:spPr>
          <a:xfrm>
            <a:off x="2123728" y="5446965"/>
            <a:ext cx="51125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① 주체</a:t>
            </a:r>
            <a:r>
              <a:rPr lang="en-US" altLang="ko-KR" dirty="0" smtClean="0">
                <a:solidFill>
                  <a:schemeClr val="tx1"/>
                </a:solidFill>
              </a:rPr>
              <a:t>, ② </a:t>
            </a:r>
            <a:r>
              <a:rPr lang="ko-KR" altLang="en-US" dirty="0" smtClean="0">
                <a:solidFill>
                  <a:schemeClr val="tx1"/>
                </a:solidFill>
              </a:rPr>
              <a:t>장소</a:t>
            </a:r>
            <a:r>
              <a:rPr lang="en-US" altLang="ko-KR" dirty="0" smtClean="0">
                <a:solidFill>
                  <a:schemeClr val="tx1"/>
                </a:solidFill>
              </a:rPr>
              <a:t>, ③ </a:t>
            </a:r>
            <a:r>
              <a:rPr lang="ko-KR" altLang="en-US" dirty="0" smtClean="0">
                <a:solidFill>
                  <a:schemeClr val="tx1"/>
                </a:solidFill>
              </a:rPr>
              <a:t>수단</a:t>
            </a:r>
            <a:r>
              <a:rPr lang="en-US" altLang="ko-KR" dirty="0" smtClean="0">
                <a:solidFill>
                  <a:schemeClr val="tx1"/>
                </a:solidFill>
              </a:rPr>
              <a:t>, ④ </a:t>
            </a:r>
            <a:r>
              <a:rPr lang="ko-KR" altLang="en-US" dirty="0" smtClean="0">
                <a:solidFill>
                  <a:schemeClr val="tx1"/>
                </a:solidFill>
              </a:rPr>
              <a:t>상대방 및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⑤ 행위 등을 주요 요소로 하여 정하고 있음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1. </a:t>
            </a:r>
            <a:r>
              <a:rPr lang="ko-KR" altLang="en-US" sz="2400" dirty="0" smtClean="0">
                <a:solidFill>
                  <a:srgbClr val="FFFF00"/>
                </a:solidFill>
              </a:rPr>
              <a:t>외국환거래법령 기본개념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grpSp>
        <p:nvGrpSpPr>
          <p:cNvPr id="16" name="그룹 104"/>
          <p:cNvGrpSpPr>
            <a:grpSpLocks/>
          </p:cNvGrpSpPr>
          <p:nvPr/>
        </p:nvGrpSpPr>
        <p:grpSpPr bwMode="auto">
          <a:xfrm>
            <a:off x="285777" y="785795"/>
            <a:ext cx="8215313" cy="750886"/>
            <a:chOff x="428596" y="3571877"/>
            <a:chExt cx="8215370" cy="750234"/>
          </a:xfrm>
        </p:grpSpPr>
        <p:sp>
          <p:nvSpPr>
            <p:cNvPr id="17" name="직사각형 16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8" name="직사각형 17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19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34" name="포인트가 5개인 별 33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35" name="포인트가 5개인 별 34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20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3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거주자와 비거주자의 구분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2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26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31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32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33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25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pic>
        <p:nvPicPr>
          <p:cNvPr id="22" name="Rectangle 7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772816"/>
            <a:ext cx="8424614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15" descr="button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3271" y="2132980"/>
            <a:ext cx="21431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561" name="Rectangle 1"/>
          <p:cNvSpPr>
            <a:spLocks noChangeArrowheads="1"/>
          </p:cNvSpPr>
          <p:nvPr/>
        </p:nvSpPr>
        <p:spPr bwMode="auto">
          <a:xfrm>
            <a:off x="827584" y="2072461"/>
            <a:ext cx="7848872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외국환거래의 주체는 </a:t>
            </a:r>
            <a:r>
              <a:rPr kumimoji="1" 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거주자</a:t>
            </a:r>
            <a:r>
              <a:rPr kumimoji="1" 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와 </a:t>
            </a:r>
            <a:r>
              <a:rPr kumimoji="1" 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비거주자</a:t>
            </a:r>
            <a:r>
              <a:rPr kumimoji="1" 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로 구분되며</a:t>
            </a:r>
            <a:r>
              <a:rPr kumimoji="1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, </a:t>
            </a:r>
            <a:r>
              <a:rPr kumimoji="1" 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양자는 서로 </a:t>
            </a:r>
            <a:r>
              <a:rPr kumimoji="1" 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모순관계</a:t>
            </a:r>
            <a:r>
              <a:rPr kumimoji="1" 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에 있음</a:t>
            </a:r>
            <a:endParaRPr kumimoji="1" lang="ko-KR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  </a:t>
            </a:r>
            <a:endParaRPr kumimoji="1" lang="ko-KR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굴림" pitchFamily="50" charset="-127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여기서 ① </a:t>
            </a:r>
            <a:r>
              <a:rPr kumimoji="1" lang="ko-KR" alt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거주자란 대한민국에 주소 또는 거소를 둔 개인</a:t>
            </a:r>
            <a:r>
              <a:rPr kumimoji="1" lang="en-US" altLang="ko-KR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, </a:t>
            </a:r>
            <a:r>
              <a:rPr kumimoji="1" lang="ko-KR" alt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대한민국에 주된 사무소를 둔 법인</a:t>
            </a:r>
            <a:r>
              <a:rPr kumimoji="1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을</a:t>
            </a:r>
            <a:r>
              <a:rPr kumimoji="1" lang="en-US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, ② </a:t>
            </a:r>
            <a:r>
              <a:rPr kumimoji="1" lang="ko-KR" alt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비거주자란 거주자 외의 개인 및 법인</a:t>
            </a:r>
            <a:r>
              <a:rPr kumimoji="1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을 말함 </a:t>
            </a:r>
            <a:endParaRPr kumimoji="1" lang="ko-K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굴림" pitchFamily="50" charset="-127"/>
            </a:endParaRPr>
          </a:p>
        </p:txBody>
      </p:sp>
      <p:pic>
        <p:nvPicPr>
          <p:cNvPr id="28" name="Picture 15" descr="button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3271" y="3212976"/>
            <a:ext cx="21431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1"/>
          <p:cNvSpPr>
            <a:spLocks noChangeArrowheads="1"/>
          </p:cNvSpPr>
          <p:nvPr/>
        </p:nvSpPr>
        <p:spPr bwMode="auto">
          <a:xfrm>
            <a:off x="827584" y="3140968"/>
            <a:ext cx="784887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거주자와 비거주자의 구분이 명백하지 아니한 경우에는 아래와 같이 </a:t>
            </a:r>
            <a:r>
              <a:rPr kumimoji="1" lang="ko-KR" alt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대통령령</a:t>
            </a:r>
            <a:r>
              <a:rPr kumimoji="1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으로 정하는 바에 따르고 </a:t>
            </a:r>
            <a:r>
              <a:rPr kumimoji="1" lang="en-US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(</a:t>
            </a:r>
            <a:r>
              <a:rPr kumimoji="1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시행령 제</a:t>
            </a:r>
            <a:r>
              <a:rPr kumimoji="1" lang="en-US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10</a:t>
            </a:r>
            <a:r>
              <a:rPr kumimoji="1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조</a:t>
            </a:r>
            <a:r>
              <a:rPr kumimoji="1" lang="en-US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) , </a:t>
            </a:r>
            <a:r>
              <a:rPr kumimoji="1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거주자와 비거주자의 요건을 동시에 충족하는 경우에는 </a:t>
            </a:r>
            <a:r>
              <a:rPr kumimoji="1" lang="ko-KR" alt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경제활동의 실질적 중심지</a:t>
            </a:r>
            <a:r>
              <a:rPr kumimoji="1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를</a:t>
            </a:r>
            <a:r>
              <a:rPr kumimoji="1" lang="ko-KR" alt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 </a:t>
            </a:r>
            <a:r>
              <a:rPr kumimoji="1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ea typeface="+mn-ea"/>
                <a:cs typeface="굴림" pitchFamily="50" charset="-127"/>
              </a:rPr>
              <a:t>기준으로 판단함</a:t>
            </a:r>
            <a:endParaRPr kumimoji="1" lang="ko-KR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  <a:cs typeface="굴림" pitchFamily="50" charset="-127"/>
            </a:endParaRPr>
          </a:p>
        </p:txBody>
      </p:sp>
      <p:graphicFrame>
        <p:nvGraphicFramePr>
          <p:cNvPr id="30" name="표 29"/>
          <p:cNvGraphicFramePr>
            <a:graphicFrameLocks noGrp="1"/>
          </p:cNvGraphicFramePr>
          <p:nvPr/>
        </p:nvGraphicFramePr>
        <p:xfrm>
          <a:off x="827584" y="4149081"/>
          <a:ext cx="7632848" cy="2030753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792088"/>
                <a:gridCol w="936104"/>
                <a:gridCol w="5904656"/>
              </a:tblGrid>
              <a:tr h="39421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거주자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25936" marR="25936" marT="7171" marB="7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국민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25936" marR="25936" marT="7171" marB="7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/>
                        <a:t>· </a:t>
                      </a:r>
                      <a:r>
                        <a:rPr lang="ko-KR" altLang="en-US" sz="1400" b="1" dirty="0"/>
                        <a:t>비거주자이었던 자로서 입국하여 국내에 </a:t>
                      </a:r>
                      <a:r>
                        <a:rPr lang="en-US" altLang="ko-KR" sz="1400" b="1" dirty="0"/>
                        <a:t>3</a:t>
                      </a:r>
                      <a:r>
                        <a:rPr lang="ko-KR" altLang="en-US" sz="1400" b="1" dirty="0"/>
                        <a:t>개월 이상 체재하고 있는 자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25936" marR="25936" marT="7171" marB="7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</a:tr>
              <a:tr h="6044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/>
                        <a:t>외국인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25936" marR="25936" marT="7171" marB="7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/>
                        <a:t>· </a:t>
                      </a:r>
                      <a:r>
                        <a:rPr lang="ko-KR" altLang="en-US" sz="1400" b="1" dirty="0"/>
                        <a:t>국내에서 영업활동에 종사하고 있는 자</a:t>
                      </a:r>
                    </a:p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/>
                        <a:t>· 6</a:t>
                      </a:r>
                      <a:r>
                        <a:rPr lang="ko-KR" altLang="en-US" sz="1400" b="1" dirty="0"/>
                        <a:t>개월 이상 국내에 체재하고 있는 자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25936" marR="25936" marT="7171" marB="7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</a:tr>
              <a:tr h="60448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/>
                        <a:t>비거주자</a:t>
                      </a:r>
                      <a:endParaRPr lang="ko-KR" altLang="en-US" sz="1400" b="1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25936" marR="25936" marT="7171" marB="7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/>
                        <a:t>국민</a:t>
                      </a:r>
                      <a:endParaRPr lang="ko-KR" altLang="en-US" sz="1400" b="1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25936" marR="25936" marT="7171" marB="7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/>
                        <a:t>· </a:t>
                      </a:r>
                      <a:r>
                        <a:rPr lang="ko-KR" altLang="en-US" sz="1400" b="1" dirty="0"/>
                        <a:t>외국에서 영업활동에 종사하고 있는 자</a:t>
                      </a:r>
                    </a:p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/>
                        <a:t>· 2</a:t>
                      </a:r>
                      <a:r>
                        <a:rPr lang="ko-KR" altLang="en-US" sz="1400" b="1" dirty="0"/>
                        <a:t>년 이상 외국에 체재하고 있는 자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25936" marR="25936" marT="7171" marB="7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</a:tr>
              <a:tr h="4130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/>
                        <a:t>외국인</a:t>
                      </a:r>
                      <a:endParaRPr lang="ko-KR" altLang="en-US" sz="1400" b="1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25936" marR="25936" marT="7171" marB="7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/>
                        <a:t>· </a:t>
                      </a:r>
                      <a:r>
                        <a:rPr lang="ko-KR" altLang="en-US" sz="1400" b="1" dirty="0"/>
                        <a:t>거주자였던 외국인으로서 출국하여 외국에서 </a:t>
                      </a:r>
                      <a:r>
                        <a:rPr lang="en-US" altLang="ko-KR" sz="1400" b="1" dirty="0"/>
                        <a:t>3</a:t>
                      </a:r>
                      <a:r>
                        <a:rPr lang="ko-KR" altLang="en-US" sz="1400" b="1" dirty="0"/>
                        <a:t>개월 이상 체재 중인 자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25936" marR="25936" marT="7171" marB="71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</a:tr>
            </a:tbl>
          </a:graphicData>
        </a:graphic>
      </p:graphicFrame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1. </a:t>
            </a:r>
            <a:r>
              <a:rPr lang="ko-KR" altLang="en-US" sz="2400" dirty="0" smtClean="0">
                <a:solidFill>
                  <a:srgbClr val="FFFF00"/>
                </a:solidFill>
              </a:rPr>
              <a:t>외국환거래법령 기본개념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grpSp>
        <p:nvGrpSpPr>
          <p:cNvPr id="9" name="그룹 104"/>
          <p:cNvGrpSpPr>
            <a:grpSpLocks/>
          </p:cNvGrpSpPr>
          <p:nvPr/>
        </p:nvGrpSpPr>
        <p:grpSpPr bwMode="auto">
          <a:xfrm>
            <a:off x="285777" y="785795"/>
            <a:ext cx="8215313" cy="750886"/>
            <a:chOff x="428596" y="3571877"/>
            <a:chExt cx="8215370" cy="750234"/>
          </a:xfrm>
        </p:grpSpPr>
        <p:sp>
          <p:nvSpPr>
            <p:cNvPr id="10" name="직사각형 9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12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5" name="포인트가 5개인 별 24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6" name="포인트가 5개인 별 25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3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외국환거래행위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15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20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1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2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4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9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27" name="직사각형 26"/>
          <p:cNvSpPr/>
          <p:nvPr/>
        </p:nvSpPr>
        <p:spPr>
          <a:xfrm>
            <a:off x="11268744" y="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9" name="표 28"/>
          <p:cNvGraphicFramePr>
            <a:graphicFrameLocks noGrp="1"/>
          </p:cNvGraphicFramePr>
          <p:nvPr/>
        </p:nvGraphicFramePr>
        <p:xfrm>
          <a:off x="467544" y="1844823"/>
          <a:ext cx="8280921" cy="4590531"/>
        </p:xfrm>
        <a:graphic>
          <a:graphicData uri="http://schemas.openxmlformats.org/drawingml/2006/table">
            <a:tbl>
              <a:tblPr/>
              <a:tblGrid>
                <a:gridCol w="1133855"/>
                <a:gridCol w="2477563"/>
                <a:gridCol w="2477563"/>
                <a:gridCol w="915453"/>
                <a:gridCol w="1276487"/>
              </a:tblGrid>
              <a:tr h="445031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원인행위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>
                          <a:solidFill>
                            <a:srgbClr val="000000"/>
                          </a:solidFill>
                          <a:latin typeface="맑은 고딕"/>
                        </a:rPr>
                        <a:t>결제행위</a:t>
                      </a:r>
                      <a:endParaRPr lang="ko-KR" altLang="en-US" sz="150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D6D6D6"/>
                    </a:solidFill>
                  </a:tcPr>
                </a:tc>
              </a:tr>
              <a:tr h="5916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무역거래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E3F4E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수출입거래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비거주자와의 용역거래　</a:t>
                      </a:r>
                    </a:p>
                  </a:txBody>
                  <a:tcPr marL="47191" marR="47191" marT="23595" marB="23595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E3F4E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>
                          <a:solidFill>
                            <a:srgbClr val="000000"/>
                          </a:solidFill>
                          <a:latin typeface="맑은 고딕"/>
                        </a:rPr>
                        <a:t>지급등</a:t>
                      </a:r>
                      <a:endParaRPr lang="ko-KR" altLang="en-US" sz="150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15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지급</a:t>
                      </a:r>
                      <a:r>
                        <a:rPr lang="en-US" altLang="ko-KR" sz="15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·</a:t>
                      </a:r>
                      <a:r>
                        <a:rPr lang="ko-KR" altLang="en-US" sz="15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수령</a:t>
                      </a:r>
                      <a:r>
                        <a:rPr lang="en-US" altLang="ko-KR" sz="15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lang="ko-KR" altLang="en-US" sz="150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E1E1"/>
                    </a:solidFill>
                  </a:tcPr>
                </a:tc>
              </a:tr>
              <a:tr h="6017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>
                          <a:solidFill>
                            <a:srgbClr val="000000"/>
                          </a:solidFill>
                          <a:latin typeface="맑은 고딕"/>
                        </a:rPr>
                        <a:t>무역외거래</a:t>
                      </a:r>
                      <a:endParaRPr lang="ko-KR" altLang="en-US" sz="150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E3F4E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여행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운수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보험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투자수익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정부거래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기타 서비스거래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이전거래</a:t>
                      </a:r>
                    </a:p>
                  </a:txBody>
                  <a:tcPr marL="47191" marR="47191" marT="23595" marB="23595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E3F4E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094527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자본거래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E3F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협의의자본거래</a:t>
                      </a:r>
                    </a:p>
                  </a:txBody>
                  <a:tcPr marL="47191" marR="47191" marT="23595" marB="23595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E3F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예금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·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신탁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금전대차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·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보증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증권발행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증권취득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파생상품거래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기타 자본거래</a:t>
                      </a:r>
                    </a:p>
                  </a:txBody>
                  <a:tcPr marL="47191" marR="47191" marT="23595" marB="23595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E3F4E3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89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>
                          <a:solidFill>
                            <a:srgbClr val="000000"/>
                          </a:solidFill>
                          <a:latin typeface="맑은 고딕"/>
                        </a:rPr>
                        <a:t>직접투자등</a:t>
                      </a:r>
                    </a:p>
                  </a:txBody>
                  <a:tcPr marL="47191" marR="47191" marT="23595" marB="23595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E3F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해외직접투자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지사설치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맑은 고딕"/>
                        </a:rPr>
                        <a:t>부동산취득</a:t>
                      </a:r>
                    </a:p>
                  </a:txBody>
                  <a:tcPr marL="47191" marR="47191" marT="23595" marB="23595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E3F4E3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45031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</a:tr>
              <a:tr h="67954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무역거래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대외무역법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관세법</a:t>
                      </a: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),  </a:t>
                      </a: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맑은 고딕"/>
                        </a:rPr>
                        <a:t>무역외거래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·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자본거래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외국환거래법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E3F4E3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외국환거래법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47191" marR="47191" marT="23595" marB="2359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25400" h="25400" prst="angle"/>
                      <a:lightRig rig="flood" dir="t"/>
                    </a:cell3D>
                    <a:solidFill>
                      <a:srgbClr val="FFE1E1"/>
                    </a:solidFill>
                  </a:tcPr>
                </a:tc>
              </a:tr>
            </a:tbl>
          </a:graphicData>
        </a:graphic>
      </p:graphicFrame>
      <p:sp>
        <p:nvSpPr>
          <p:cNvPr id="6451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바탕"/>
                <a:ea typeface="굴림" pitchFamily="50" charset="-127"/>
                <a:cs typeface="굴림" pitchFamily="50" charset="-127"/>
              </a:rPr>
              <a:t> </a:t>
            </a:r>
            <a:r>
              <a:rPr kumimoji="1" lang="ko-KR" altLang="ko-KR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굴림" pitchFamily="50" charset="-127"/>
                <a:ea typeface="굴림" pitchFamily="50" charset="-127"/>
                <a:cs typeface="굴림" pitchFamily="50" charset="-127"/>
              </a:rPr>
              <a:t> </a:t>
            </a:r>
            <a:endParaRPr kumimoji="1" lang="ko-KR" altLang="ko-KR" sz="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30" name="아래쪽 화살표 29"/>
          <p:cNvSpPr/>
          <p:nvPr/>
        </p:nvSpPr>
        <p:spPr>
          <a:xfrm>
            <a:off x="3131840" y="5373216"/>
            <a:ext cx="504056" cy="360040"/>
          </a:xfrm>
          <a:prstGeom prst="downArrow">
            <a:avLst/>
          </a:prstGeom>
          <a:solidFill>
            <a:srgbClr val="92D050"/>
          </a:solidFill>
          <a:ln>
            <a:solidFill>
              <a:srgbClr val="02B2CA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CFFCC"/>
              </a:solidFill>
            </a:endParaRPr>
          </a:p>
        </p:txBody>
      </p:sp>
      <p:sp>
        <p:nvSpPr>
          <p:cNvPr id="32" name="아래쪽 화살표 31"/>
          <p:cNvSpPr/>
          <p:nvPr/>
        </p:nvSpPr>
        <p:spPr>
          <a:xfrm>
            <a:off x="7884368" y="5373216"/>
            <a:ext cx="504056" cy="360040"/>
          </a:xfrm>
          <a:prstGeom prst="downArrow">
            <a:avLst/>
          </a:prstGeom>
          <a:solidFill>
            <a:srgbClr val="92D050"/>
          </a:solidFill>
          <a:ln>
            <a:solidFill>
              <a:srgbClr val="02B2CA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CFFCC"/>
              </a:solidFill>
            </a:endParaRPr>
          </a:p>
        </p:txBody>
      </p:sp>
      <p:sp>
        <p:nvSpPr>
          <p:cNvPr id="33" name="아래쪽 화살표 32"/>
          <p:cNvSpPr/>
          <p:nvPr/>
        </p:nvSpPr>
        <p:spPr>
          <a:xfrm rot="16200000">
            <a:off x="6789273" y="3534149"/>
            <a:ext cx="482959" cy="451586"/>
          </a:xfrm>
          <a:prstGeom prst="downArrow">
            <a:avLst/>
          </a:prstGeom>
          <a:solidFill>
            <a:srgbClr val="92D050"/>
          </a:solidFill>
          <a:ln>
            <a:solidFill>
              <a:srgbClr val="02B2CA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CCFFCC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1. </a:t>
            </a:r>
            <a:r>
              <a:rPr lang="ko-KR" altLang="en-US" sz="2400" dirty="0" smtClean="0">
                <a:solidFill>
                  <a:srgbClr val="FFFF00"/>
                </a:solidFill>
              </a:rPr>
              <a:t>외국환거래법령 기본개념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285777" y="785795"/>
            <a:ext cx="8215313" cy="750886"/>
            <a:chOff x="428596" y="3571877"/>
            <a:chExt cx="8215370" cy="750234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38" name="포인트가 5개인 별 37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39" name="포인트가 5개인 별 38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30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1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외국환거래당사자와 외국환은행의 의무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34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35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36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37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33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graphicFrame>
        <p:nvGraphicFramePr>
          <p:cNvPr id="40" name="표 39"/>
          <p:cNvGraphicFramePr>
            <a:graphicFrameLocks noGrp="1"/>
          </p:cNvGraphicFramePr>
          <p:nvPr/>
        </p:nvGraphicFramePr>
        <p:xfrm>
          <a:off x="780256" y="1988841"/>
          <a:ext cx="7752184" cy="4104455"/>
        </p:xfrm>
        <a:graphic>
          <a:graphicData uri="http://schemas.openxmlformats.org/drawingml/2006/table">
            <a:tbl>
              <a:tblPr/>
              <a:tblGrid>
                <a:gridCol w="2039263"/>
                <a:gridCol w="3858441"/>
                <a:gridCol w="1854480"/>
              </a:tblGrid>
              <a:tr h="5716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외국환거래당사자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외국환은행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3F4E3"/>
                    </a:solidFill>
                  </a:tcPr>
                </a:tc>
              </a:tr>
              <a:tr h="9509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신고의무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 · 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원인행위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자본거래의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신고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 · 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결제행위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: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상계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자지급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 등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확인의무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3F4E3"/>
                    </a:solidFill>
                  </a:tcPr>
                </a:tc>
              </a:tr>
              <a:tr h="8071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보고의무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 ·  </a:t>
                      </a: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직접투자등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현지금융 등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사후관리의무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3F4E3"/>
                    </a:solidFill>
                  </a:tcPr>
                </a:tc>
              </a:tr>
              <a:tr h="8237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지급등절차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 준수의무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 ·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미화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천불 초과 지급 및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맑은 고딕"/>
                      </a:endParaRPr>
                    </a:p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   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미화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만불 초과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수령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확인의무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3F4E3"/>
                    </a:solidFill>
                  </a:tcPr>
                </a:tc>
              </a:tr>
              <a:tr h="9509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회수의무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 ·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채권회수의무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  <a:p>
                      <a:pPr marL="0" marR="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 ·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투자금회수의무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확인의무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바탕"/>
                      </a:endParaRPr>
                    </a:p>
                  </a:txBody>
                  <a:tcPr marL="43695" marR="43695" marT="12080" marB="1208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E3F4E3"/>
                    </a:solidFill>
                  </a:tcPr>
                </a:tc>
              </a:tr>
            </a:tbl>
          </a:graphicData>
        </a:graphic>
      </p:graphicFrame>
      <p:sp>
        <p:nvSpPr>
          <p:cNvPr id="6246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1. </a:t>
            </a:r>
            <a:r>
              <a:rPr lang="ko-KR" altLang="en-US" sz="2400" dirty="0" smtClean="0">
                <a:solidFill>
                  <a:srgbClr val="FFFF00"/>
                </a:solidFill>
              </a:rPr>
              <a:t>외국환거래법령 기본개념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285777" y="785795"/>
            <a:ext cx="8215313" cy="750886"/>
            <a:chOff x="428596" y="3571877"/>
            <a:chExt cx="8215370" cy="750234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38" name="포인트가 5개인 별 37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39" name="포인트가 5개인 별 38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30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1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err="1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지급등절차</a:t>
              </a: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,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신고의무 및 보고의무의 관계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34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35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36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37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33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6246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899592" y="1772816"/>
            <a:ext cx="7272808" cy="3816424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187624" y="1628800"/>
            <a:ext cx="2736304" cy="43204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A. </a:t>
            </a:r>
            <a:r>
              <a:rPr lang="ko-KR" altLang="en-US" dirty="0" err="1" smtClean="0">
                <a:solidFill>
                  <a:schemeClr val="tx1"/>
                </a:solidFill>
              </a:rPr>
              <a:t>지급등절차준수의무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1763688" y="2924944"/>
            <a:ext cx="5616624" cy="2448272"/>
          </a:xfrm>
          <a:prstGeom prst="roundRect">
            <a:avLst/>
          </a:prstGeom>
          <a:solidFill>
            <a:srgbClr val="CCFFCC"/>
          </a:solidFill>
          <a:ln w="31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2123728" y="2708920"/>
            <a:ext cx="1656184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B. </a:t>
            </a:r>
            <a:r>
              <a:rPr lang="ko-KR" altLang="en-US" dirty="0" smtClean="0">
                <a:solidFill>
                  <a:schemeClr val="tx1"/>
                </a:solidFill>
              </a:rPr>
              <a:t>신고의무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2627784" y="3933056"/>
            <a:ext cx="4104456" cy="1296144"/>
          </a:xfrm>
          <a:prstGeom prst="roundRect">
            <a:avLst/>
          </a:prstGeom>
          <a:solidFill>
            <a:srgbClr val="92D050"/>
          </a:solidFill>
          <a:ln w="31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2843808" y="3861048"/>
            <a:ext cx="1440160" cy="3600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C. </a:t>
            </a:r>
            <a:r>
              <a:rPr lang="ko-KR" altLang="en-US" dirty="0" smtClean="0">
                <a:solidFill>
                  <a:schemeClr val="tx1"/>
                </a:solidFill>
              </a:rPr>
              <a:t>보고의무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" name="그룹 86"/>
          <p:cNvGrpSpPr>
            <a:grpSpLocks/>
          </p:cNvGrpSpPr>
          <p:nvPr/>
        </p:nvGrpSpPr>
        <p:grpSpPr bwMode="auto">
          <a:xfrm>
            <a:off x="1115616" y="5733256"/>
            <a:ext cx="6768752" cy="1440160"/>
            <a:chOff x="1977486" y="3190048"/>
            <a:chExt cx="1500198" cy="736500"/>
          </a:xfrm>
        </p:grpSpPr>
        <p:pic>
          <p:nvPicPr>
            <p:cNvPr id="50" name="Picture 105" descr="그림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77486" y="3190048"/>
              <a:ext cx="1500198" cy="736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" name="Text Box 13"/>
            <p:cNvSpPr txBox="1">
              <a:spLocks noChangeArrowheads="1"/>
            </p:cNvSpPr>
            <p:nvPr/>
          </p:nvSpPr>
          <p:spPr bwMode="auto">
            <a:xfrm>
              <a:off x="2065732" y="3369355"/>
              <a:ext cx="1302206" cy="152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003938"/>
              </a:outerShdw>
            </a:effectLst>
          </p:spPr>
          <p:txBody>
            <a:bodyPr wrap="square" lIns="0" tIns="0" rIns="0" bIns="0" anchor="ctr">
              <a:spAutoFit/>
            </a:bodyPr>
            <a:lstStyle/>
            <a:p>
              <a:pPr algn="ctr" latinLnBrk="0">
                <a:lnSpc>
                  <a:spcPct val="110000"/>
                </a:lnSpc>
                <a:defRPr/>
              </a:pPr>
              <a:r>
                <a:rPr lang="en-US" altLang="ko-KR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B. </a:t>
              </a:r>
              <a:r>
                <a:rPr lang="ko-KR" altLang="en-US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신고의무→ </a:t>
              </a:r>
              <a:r>
                <a:rPr lang="en-US" altLang="ko-KR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A. </a:t>
              </a:r>
              <a:r>
                <a:rPr lang="ko-KR" altLang="en-US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지급절차준수의무→</a:t>
              </a:r>
              <a:r>
                <a:rPr lang="en-US" altLang="ko-KR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 . </a:t>
              </a:r>
              <a:r>
                <a:rPr lang="ko-KR" altLang="en-US" sz="2000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보고의무</a:t>
              </a:r>
              <a:endParaRPr kumimoji="0" lang="ko-KR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Y헤드라인M" pitchFamily="18" charset="-127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1331640" y="2204864"/>
            <a:ext cx="6336704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ko-KR" altLang="en-US" smtClean="0">
                <a:solidFill>
                  <a:schemeClr val="tx1"/>
                </a:solidFill>
              </a:rPr>
              <a:t>일정금액 이상의 모든 지급 또는 수령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763688" y="3347700"/>
            <a:ext cx="6336704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자본거래 및 비정상적 결제방법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상계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제</a:t>
            </a:r>
            <a:r>
              <a:rPr lang="en-US" altLang="ko-KR" dirty="0" smtClean="0">
                <a:solidFill>
                  <a:schemeClr val="tx1"/>
                </a:solidFill>
              </a:rPr>
              <a:t>3</a:t>
            </a:r>
            <a:r>
              <a:rPr lang="ko-KR" altLang="en-US" dirty="0" smtClean="0">
                <a:solidFill>
                  <a:schemeClr val="tx1"/>
                </a:solidFill>
              </a:rPr>
              <a:t>자 지급등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771800" y="4438853"/>
            <a:ext cx="6336704" cy="64633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해외직접투자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해외지사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dirty="0" smtClean="0">
                <a:solidFill>
                  <a:schemeClr val="tx1"/>
                </a:solidFill>
              </a:rPr>
              <a:t>해외부동산취득 등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1. </a:t>
            </a:r>
            <a:r>
              <a:rPr lang="ko-KR" altLang="en-US" sz="2400" dirty="0" smtClean="0">
                <a:solidFill>
                  <a:srgbClr val="FFFF00"/>
                </a:solidFill>
              </a:rPr>
              <a:t>외국환거래법령 기본개념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grpSp>
        <p:nvGrpSpPr>
          <p:cNvPr id="8" name="그룹 104"/>
          <p:cNvGrpSpPr>
            <a:grpSpLocks/>
          </p:cNvGrpSpPr>
          <p:nvPr/>
        </p:nvGrpSpPr>
        <p:grpSpPr bwMode="auto">
          <a:xfrm>
            <a:off x="285777" y="785795"/>
            <a:ext cx="8215313" cy="750886"/>
            <a:chOff x="428596" y="3571877"/>
            <a:chExt cx="8215370" cy="750234"/>
          </a:xfrm>
        </p:grpSpPr>
        <p:sp>
          <p:nvSpPr>
            <p:cNvPr id="9" name="직사각형 8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" name="직사각형 9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17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6" name="포인트가 5개인 별 2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7" name="포인트가 5개인 별 2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err="1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위반시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제재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20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2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2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842134265"/>
              </p:ext>
            </p:extLst>
          </p:nvPr>
        </p:nvGraphicFramePr>
        <p:xfrm>
          <a:off x="611560" y="1700808"/>
          <a:ext cx="8064896" cy="4851812"/>
        </p:xfrm>
        <a:graphic>
          <a:graphicData uri="http://schemas.openxmlformats.org/drawingml/2006/table">
            <a:tbl>
              <a:tblPr/>
              <a:tblGrid>
                <a:gridCol w="1155741"/>
                <a:gridCol w="1381831"/>
                <a:gridCol w="1381831"/>
                <a:gridCol w="1381831"/>
                <a:gridCol w="1381831"/>
                <a:gridCol w="1381831"/>
              </a:tblGrid>
              <a:tr h="395681"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미신고 금액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40233" marB="402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위 반 시 점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40233" marB="402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40233" marB="402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</a:tr>
              <a:tr h="5391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06.3.3.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이전 위반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40233" marB="402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‘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06.3.3.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이후 위반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40233" marB="402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`09.2.4.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이후 위반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40233" marB="402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`11.8.1.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이후 위반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40233" marB="402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`16.6.3. </a:t>
                      </a:r>
                      <a:r>
                        <a:rPr kumimoji="0" lang="ko-KR" altLang="en-US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이후 위반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40233" marB="4023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0000"/>
                      </a:schemeClr>
                    </a:solidFill>
                  </a:tcPr>
                </a:tc>
              </a:tr>
              <a:tr h="1099119">
                <a:tc>
                  <a:txBody>
                    <a:bodyPr/>
                    <a:lstStyle/>
                    <a:p>
                      <a:pPr marL="10160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억 원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초과</a:t>
                      </a: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거래정지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(1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 이내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※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형사벌칙 </a:t>
                      </a:r>
                      <a:endParaRPr lang="en-US" altLang="ko-KR" sz="14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병과가능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거래정지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(1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 이내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※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형사벌칙 </a:t>
                      </a:r>
                      <a:endParaRPr lang="en-US" altLang="ko-KR" sz="14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병과가능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형사벌칙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 이하 </a:t>
                      </a:r>
                      <a:endParaRPr lang="en-US" altLang="ko-KR" sz="14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징역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또는 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억원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이하 벌금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형사벌칙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(1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 이하 </a:t>
                      </a:r>
                      <a:endParaRPr lang="en-US" altLang="ko-KR" sz="14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징역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또는 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lang="ko-KR" altLang="en-US" sz="1400" b="1" dirty="0" err="1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억원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이하 벌금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형사벌칙</a:t>
                      </a:r>
                    </a:p>
                    <a:p>
                      <a:pPr marL="0" marR="0" algn="ctr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(1</a:t>
                      </a:r>
                      <a:r>
                        <a:rPr kumimoji="0" lang="ko-KR" altLang="en-US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년 이하 징역 또는 </a:t>
                      </a:r>
                    </a:p>
                    <a:p>
                      <a:pPr marL="0" marR="0" algn="ctr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r>
                        <a:rPr kumimoji="0" lang="ko-KR" altLang="en-US" sz="1400" b="1" kern="1200" dirty="0" err="1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억원</a:t>
                      </a:r>
                      <a:r>
                        <a:rPr kumimoji="0" lang="ko-KR" altLang="en-US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이하 벌금</a:t>
                      </a:r>
                      <a:r>
                        <a:rPr kumimoji="0" lang="en-US" altLang="ko-KR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kumimoji="0" lang="en-US" altLang="ko-KR" sz="1400" b="1" kern="12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907303">
                <a:tc>
                  <a:txBody>
                    <a:bodyPr/>
                    <a:lstStyle/>
                    <a:p>
                      <a:pPr marL="10160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억 원 초과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0160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∼</a:t>
                      </a: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억 원 </a:t>
                      </a:r>
                      <a:endParaRPr lang="en-US" altLang="ko-KR" sz="1400" b="1" dirty="0" smtClean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0160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이하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과태료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*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Max(50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만원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1</a:t>
                      </a: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%), 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또는 </a:t>
                      </a:r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Max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만원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2%)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ko-KR" altLang="en-US" sz="1200" b="1" kern="12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1360954">
                <a:tc>
                  <a:txBody>
                    <a:bodyPr/>
                    <a:lstStyle/>
                    <a:p>
                      <a:pPr marL="10160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만 달러 초과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10160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∼</a:t>
                      </a: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억 원 이하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과태료*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Max(50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만원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1</a:t>
                      </a: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%),</a:t>
                      </a:r>
                      <a:b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또는 </a:t>
                      </a: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/>
                      </a:r>
                      <a:b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</a:b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Max(100</a:t>
                      </a: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만원</a:t>
                      </a: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2%)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466" marR="80466" marT="40233" marB="4023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과태료*</a:t>
                      </a:r>
                    </a:p>
                    <a:p>
                      <a:pPr marL="0" marR="0" algn="ctr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ko-KR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Max(50</a:t>
                      </a:r>
                      <a:r>
                        <a:rPr kumimoji="0" lang="ko-KR" altLang="en-US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만원</a:t>
                      </a:r>
                      <a:r>
                        <a:rPr kumimoji="0" lang="en-US" altLang="ko-KR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1%),</a:t>
                      </a:r>
                    </a:p>
                    <a:p>
                      <a:pPr marL="0" marR="0" algn="ctr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ko-KR" altLang="en-US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또는 </a:t>
                      </a:r>
                      <a:r>
                        <a:rPr kumimoji="0" lang="en-US" altLang="ko-KR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Max(100</a:t>
                      </a:r>
                      <a:r>
                        <a:rPr kumimoji="0" lang="ko-KR" altLang="en-US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만원</a:t>
                      </a:r>
                      <a:r>
                        <a:rPr kumimoji="0" lang="en-US" altLang="ko-KR" sz="1400" b="1" kern="1200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2%)</a:t>
                      </a:r>
                      <a:endParaRPr kumimoji="0" lang="ko-KR" altLang="en-US" sz="1400" b="1" kern="12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9559">
                <a:tc>
                  <a:txBody>
                    <a:bodyPr/>
                    <a:lstStyle/>
                    <a:p>
                      <a:pPr marL="10160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만 달러 이하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경 고</a:t>
                      </a:r>
                    </a:p>
                  </a:txBody>
                  <a:tcPr marL="36000" marR="504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ctr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0" lang="ko-KR" altLang="en-US" sz="1200" b="1" kern="120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구름"/>
          <p:cNvPicPr>
            <a:picLocks noChangeAspect="1" noChangeArrowheads="1"/>
          </p:cNvPicPr>
          <p:nvPr/>
        </p:nvPicPr>
        <p:blipFill>
          <a:blip r:embed="rId3" cstate="print"/>
          <a:srcRect r="17708" b="34259"/>
          <a:stretch>
            <a:fillRect/>
          </a:stretch>
        </p:blipFill>
        <p:spPr bwMode="auto">
          <a:xfrm>
            <a:off x="1000100" y="0"/>
            <a:ext cx="7524750" cy="4508500"/>
          </a:xfrm>
          <a:prstGeom prst="rect">
            <a:avLst/>
          </a:prstGeom>
          <a:noFill/>
        </p:spPr>
      </p:pic>
      <p:grpSp>
        <p:nvGrpSpPr>
          <p:cNvPr id="3" name="그룹 35"/>
          <p:cNvGrpSpPr/>
          <p:nvPr/>
        </p:nvGrpSpPr>
        <p:grpSpPr>
          <a:xfrm>
            <a:off x="833932" y="3140968"/>
            <a:ext cx="7410476" cy="757236"/>
            <a:chOff x="947738" y="3032123"/>
            <a:chExt cx="7753648" cy="757236"/>
          </a:xfrm>
        </p:grpSpPr>
        <p:pic>
          <p:nvPicPr>
            <p:cNvPr id="49" name="Picture 27" descr="목차바"/>
            <p:cNvPicPr preferRelativeResize="0">
              <a:picLocks noChangeArrowheads="1"/>
            </p:cNvPicPr>
            <p:nvPr/>
          </p:nvPicPr>
          <p:blipFill>
            <a:blip r:embed="rId4" cstate="print"/>
            <a:srcRect l="10118" t="20419" r="10709" b="64514"/>
            <a:stretch>
              <a:fillRect/>
            </a:stretch>
          </p:blipFill>
          <p:spPr bwMode="auto">
            <a:xfrm>
              <a:off x="947738" y="3032123"/>
              <a:ext cx="7753648" cy="757236"/>
            </a:xfrm>
            <a:prstGeom prst="rect">
              <a:avLst/>
            </a:prstGeom>
            <a:noFill/>
          </p:spPr>
        </p:pic>
        <p:sp>
          <p:nvSpPr>
            <p:cNvPr id="50" name="Text Box 30"/>
            <p:cNvSpPr txBox="1">
              <a:spLocks noChangeArrowheads="1"/>
            </p:cNvSpPr>
            <p:nvPr/>
          </p:nvSpPr>
          <p:spPr bwMode="auto">
            <a:xfrm>
              <a:off x="1717724" y="3155020"/>
              <a:ext cx="66404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l"/>
              <a:r>
                <a:rPr lang="en-US" altLang="ko-KR" sz="2400" dirty="0" smtClean="0">
                  <a:solidFill>
                    <a:srgbClr val="0E3C88"/>
                  </a:solidFill>
                </a:rPr>
                <a:t> </a:t>
              </a:r>
              <a:r>
                <a:rPr lang="ko-KR" altLang="en-US" sz="2400" dirty="0" err="1" smtClean="0">
                  <a:solidFill>
                    <a:srgbClr val="0E3C88"/>
                  </a:solidFill>
                </a:rPr>
                <a:t>지급등</a:t>
              </a:r>
              <a:r>
                <a:rPr lang="ko-KR" altLang="en-US" sz="2400" dirty="0" smtClean="0">
                  <a:solidFill>
                    <a:srgbClr val="0E3C88"/>
                  </a:solidFill>
                </a:rPr>
                <a:t> 절차 및 방법</a:t>
              </a:r>
              <a:endParaRPr lang="ko-KR" altLang="en-US" sz="2400" dirty="0">
                <a:solidFill>
                  <a:srgbClr val="0E3C88"/>
                </a:solidFill>
              </a:endParaRPr>
            </a:p>
          </p:txBody>
        </p:sp>
        <p:pic>
          <p:nvPicPr>
            <p:cNvPr id="51" name="Picture 23" descr="볼"/>
            <p:cNvPicPr preferRelativeResize="0">
              <a:picLocks noChangeAspect="1" noChangeArrowheads="1"/>
            </p:cNvPicPr>
            <p:nvPr/>
          </p:nvPicPr>
          <p:blipFill>
            <a:blip r:embed="rId5" cstate="print"/>
            <a:srcRect l="11215" t="22037" r="79791" b="66251"/>
            <a:stretch>
              <a:fillRect/>
            </a:stretch>
          </p:blipFill>
          <p:spPr bwMode="auto">
            <a:xfrm>
              <a:off x="1017588" y="3124206"/>
              <a:ext cx="719137" cy="590298"/>
            </a:xfrm>
            <a:prstGeom prst="rect">
              <a:avLst/>
            </a:prstGeom>
            <a:noFill/>
          </p:spPr>
        </p:pic>
        <p:sp>
          <p:nvSpPr>
            <p:cNvPr id="52" name="Text Box 19"/>
            <p:cNvSpPr txBox="1">
              <a:spLocks noChangeArrowheads="1"/>
            </p:cNvSpPr>
            <p:nvPr/>
          </p:nvSpPr>
          <p:spPr bwMode="auto">
            <a:xfrm>
              <a:off x="1089144" y="3121684"/>
              <a:ext cx="682625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altLang="ko-KR" sz="2800" dirty="0" smtClean="0">
                  <a:solidFill>
                    <a:srgbClr val="FCE06A"/>
                  </a:solidFill>
                  <a:latin typeface="HY견명조" pitchFamily="18" charset="-127"/>
                  <a:ea typeface="HY견명조" pitchFamily="18" charset="-127"/>
                </a:rPr>
                <a:t>2</a:t>
              </a:r>
            </a:p>
          </p:txBody>
        </p:sp>
      </p:grpSp>
      <p:pic>
        <p:nvPicPr>
          <p:cNvPr id="71" name="Picture 11" descr="목차바"/>
          <p:cNvPicPr>
            <a:picLocks noChangeArrowheads="1"/>
          </p:cNvPicPr>
          <p:nvPr/>
        </p:nvPicPr>
        <p:blipFill>
          <a:blip r:embed="rId4" cstate="print"/>
          <a:srcRect l="10118" t="20419" r="10709" b="64514"/>
          <a:stretch>
            <a:fillRect/>
          </a:stretch>
        </p:blipFill>
        <p:spPr bwMode="auto">
          <a:xfrm>
            <a:off x="1071538" y="582961"/>
            <a:ext cx="2714644" cy="685799"/>
          </a:xfrm>
          <a:prstGeom prst="rect">
            <a:avLst/>
          </a:prstGeom>
          <a:noFill/>
        </p:spPr>
      </p:pic>
      <p:sp>
        <p:nvSpPr>
          <p:cNvPr id="72" name="Rectangle 1567"/>
          <p:cNvSpPr txBox="1">
            <a:spLocks noChangeArrowheads="1"/>
          </p:cNvSpPr>
          <p:nvPr/>
        </p:nvSpPr>
        <p:spPr>
          <a:xfrm flipH="1">
            <a:off x="1142976" y="605628"/>
            <a:ext cx="2643206" cy="519116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000" b="1" kern="0" dirty="0" smtClean="0">
                <a:ln w="1905"/>
                <a:solidFill>
                  <a:srgbClr val="F5960B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D아트체" pitchFamily="18" charset="-127"/>
                <a:ea typeface="MD아트체" pitchFamily="18" charset="-127"/>
                <a:cs typeface="+mj-cs"/>
              </a:rPr>
              <a:t>목   차</a:t>
            </a:r>
            <a:endParaRPr kumimoji="1" lang="en-US" altLang="ko-KR" sz="3000" b="1" u="none" strike="noStrike" kern="0" normalizeH="0" noProof="0" dirty="0" smtClean="0">
              <a:ln w="1905"/>
              <a:solidFill>
                <a:srgbClr val="F5960B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MD아트체" pitchFamily="18" charset="-127"/>
              <a:ea typeface="MD아트체" pitchFamily="18" charset="-127"/>
              <a:cs typeface="+mj-cs"/>
            </a:endParaRPr>
          </a:p>
        </p:txBody>
      </p:sp>
    </p:spTree>
  </p:cSld>
  <p:clrMapOvr>
    <a:masterClrMapping/>
  </p:clrMapOvr>
  <p:transition advTm="43531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`2. </a:t>
            </a:r>
            <a:r>
              <a:rPr lang="ko-KR" altLang="en-US" sz="2400" dirty="0" err="1" smtClean="0">
                <a:solidFill>
                  <a:srgbClr val="FFFF00"/>
                </a:solidFill>
              </a:rPr>
              <a:t>지급등</a:t>
            </a:r>
            <a:r>
              <a:rPr lang="ko-KR" altLang="en-US" sz="2400" dirty="0" smtClean="0">
                <a:solidFill>
                  <a:srgbClr val="FFFF00"/>
                </a:solidFill>
              </a:rPr>
              <a:t> 절차 및 방법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467544" y="1698395"/>
          <a:ext cx="8352928" cy="4898957"/>
        </p:xfrm>
        <a:graphic>
          <a:graphicData uri="http://schemas.openxmlformats.org/drawingml/2006/table">
            <a:tbl>
              <a:tblPr/>
              <a:tblGrid>
                <a:gridCol w="1005611"/>
                <a:gridCol w="7347317"/>
              </a:tblGrid>
              <a:tr h="1289327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</a:p>
                  </a:txBody>
                  <a:tcPr marL="10027" marR="10027" marT="10027" marB="1002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㈜○○○는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은행을 지정거래외국환은행으로 지정하여 대부투자 방식의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해외직접투자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신고를 하고 몽골소재 현지법인에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송금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14.2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동 대여금액을 지정거래외국환은행이 아닌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B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은행을 통해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회수함으로써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외국환거래법상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지급등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절차 위반</a:t>
                      </a:r>
                    </a:p>
                  </a:txBody>
                  <a:tcPr marL="10027" marR="10027" marT="10027" marB="1002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899728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027" marR="10027" marT="10027" marB="1002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거래당사자는 해외직접투자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금전대차 등 거래외국환은행을 지정한 경우 관련된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   자금의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입출금도 반드시 지정거래외국환은행을 통하여 거래하여야 함 </a:t>
                      </a:r>
                    </a:p>
                  </a:txBody>
                  <a:tcPr marL="10027" marR="10027" marT="10027" marB="1002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752695">
                <a:tc>
                  <a:txBody>
                    <a:bodyPr/>
                    <a:lstStyle/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은행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사항</a:t>
                      </a:r>
                    </a:p>
                  </a:txBody>
                  <a:tcPr marL="10027" marR="10027" marT="10027" marB="1002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외국환은행은 해외직접투자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금전대차 등 거래외국환은행을 지정해야 하는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거래와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관련된 자금이 입금된 경우 자행이 외국환은행으로 지정되었는지 반드시 확인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자행이 지정거래외국환은행이 아닐 경우에는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타행앞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관련신고가 이루어진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거래라고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하더라도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지급처리할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수 없음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외화자금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입금시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동 자금의 입금 사유를 반드시 확인</a:t>
                      </a:r>
                    </a:p>
                  </a:txBody>
                  <a:tcPr marL="10027" marR="10027" marT="10027" marB="1002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452209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027" marR="10027" marT="10027" marB="1002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 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4-2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027" marR="10027" marT="10027" marB="1002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pSp>
        <p:nvGrpSpPr>
          <p:cNvPr id="26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29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42" name="포인트가 5개인 별 41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43" name="포인트가 5개인 별 42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30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1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지정거래외국환은행을 통하지 않은 지급위반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32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35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37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39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40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34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`2. </a:t>
            </a:r>
            <a:r>
              <a:rPr lang="ko-KR" altLang="en-US" sz="2400" dirty="0" err="1" smtClean="0">
                <a:solidFill>
                  <a:srgbClr val="FFFF00"/>
                </a:solidFill>
              </a:rPr>
              <a:t>지급등</a:t>
            </a:r>
            <a:r>
              <a:rPr lang="ko-KR" altLang="en-US" sz="2400" dirty="0" smtClean="0">
                <a:solidFill>
                  <a:srgbClr val="FFFF00"/>
                </a:solidFill>
              </a:rPr>
              <a:t> 절차 및 방법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2288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83568" y="1988840"/>
          <a:ext cx="7920880" cy="4248472"/>
        </p:xfrm>
        <a:graphic>
          <a:graphicData uri="http://schemas.openxmlformats.org/drawingml/2006/table">
            <a:tbl>
              <a:tblPr/>
              <a:tblGrid>
                <a:gridCol w="1018049"/>
                <a:gridCol w="6902831"/>
              </a:tblGrid>
              <a:tr h="1818646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ko-KR" altLang="en-US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거주자 ○○○은 ’</a:t>
                      </a:r>
                      <a:r>
                        <a:rPr lang="en-US" altLang="ko-KR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년 변경 전 </a:t>
                      </a:r>
                      <a:r>
                        <a:rPr lang="ko-KR" altLang="en-US" sz="1500" b="1" dirty="0" err="1" smtClean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주주사</a:t>
                      </a:r>
                      <a:r>
                        <a:rPr lang="en-US" altLang="ko-KR" sz="1500" b="1" dirty="0" smtClean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(A)</a:t>
                      </a:r>
                      <a:r>
                        <a:rPr lang="ko-KR" altLang="en-US" sz="1500" b="1" dirty="0" smtClean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가 </a:t>
                      </a:r>
                      <a:r>
                        <a:rPr lang="ko-KR" altLang="en-US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변경 후 </a:t>
                      </a:r>
                      <a:r>
                        <a:rPr lang="ko-KR" altLang="en-US" sz="1500" b="1" dirty="0" smtClean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주주사</a:t>
                      </a:r>
                      <a:r>
                        <a:rPr lang="en-US" altLang="ko-KR" sz="1500" b="1" dirty="0" smtClean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(B)</a:t>
                      </a:r>
                      <a:r>
                        <a:rPr lang="ko-KR" altLang="en-US" sz="1500" b="1" dirty="0" smtClean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의 모회사이므로 별도의 </a:t>
                      </a:r>
                      <a:r>
                        <a:rPr lang="ko-KR" altLang="en-US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조치는 불필요하다는 업무착오를 하여 변경 전 주주사에 대해 배당금을 해외 송금하면서 제</a:t>
                      </a:r>
                      <a:r>
                        <a:rPr lang="en-US" altLang="ko-KR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자 지급에 대한 한국은행총재앞 신고를 하지 않음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276202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모회사인 경우라도 제</a:t>
                      </a: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자 지급에 해당하므로 거주자가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자 지급등을 하고자 하는 경우에는 한국은행총재에게 신고하여야 함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153624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 제</a:t>
                      </a: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5-10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14" name="직사각형 13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5" name="직사각형 14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6" name="포인트가 5개인 별 2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7" name="포인트가 5개인 별 2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7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8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제</a:t>
              </a: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3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자 지급시 한국은행총재 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21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2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3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20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`2. </a:t>
            </a:r>
            <a:r>
              <a:rPr lang="ko-KR" altLang="en-US" sz="2400" dirty="0" err="1" smtClean="0">
                <a:solidFill>
                  <a:srgbClr val="FFFF00"/>
                </a:solidFill>
              </a:rPr>
              <a:t>지급등</a:t>
            </a:r>
            <a:r>
              <a:rPr lang="ko-KR" altLang="en-US" sz="2400" dirty="0" smtClean="0">
                <a:solidFill>
                  <a:srgbClr val="FFFF00"/>
                </a:solidFill>
              </a:rPr>
              <a:t> 절차 및 방법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539552" y="1747753"/>
          <a:ext cx="8064896" cy="4777591"/>
        </p:xfrm>
        <a:graphic>
          <a:graphicData uri="http://schemas.openxmlformats.org/drawingml/2006/table">
            <a:tbl>
              <a:tblPr/>
              <a:tblGrid>
                <a:gridCol w="1182482"/>
                <a:gridCol w="6882414"/>
              </a:tblGrid>
              <a:tr h="1687951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㈜○○○</a:t>
                      </a:r>
                      <a:r>
                        <a:rPr lang="ko-KR" altLang="en-US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은 ’</a:t>
                      </a:r>
                      <a:r>
                        <a:rPr lang="en-US" altLang="ko-KR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14.3.23. </a:t>
                      </a:r>
                      <a:r>
                        <a:rPr lang="ko-KR" altLang="en-US" sz="1500" b="1" dirty="0" err="1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한국은행총재앞</a:t>
                      </a:r>
                      <a:r>
                        <a:rPr lang="ko-KR" altLang="en-US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 금전대차 신고 후 베트남소재 현지법인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△△△</a:t>
                      </a:r>
                      <a:r>
                        <a:rPr lang="ko-KR" altLang="en-US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에 대하여 총 </a:t>
                      </a:r>
                      <a:r>
                        <a:rPr lang="en-US" altLang="ko-KR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80</a:t>
                      </a:r>
                      <a:r>
                        <a:rPr lang="ko-KR" altLang="en-US" sz="1500" b="1" dirty="0" err="1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 대여하였으나</a:t>
                      </a:r>
                      <a:r>
                        <a:rPr lang="en-US" altLang="ko-KR" sz="1500" b="1" dirty="0">
                          <a:solidFill>
                            <a:srgbClr val="282828"/>
                          </a:solidFill>
                          <a:latin typeface="+mn-ea"/>
                          <a:ea typeface="+mn-ea"/>
                        </a:rPr>
                        <a:t>,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차주에 상환하여야 할 채무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외주가공비 미지급금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31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억원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상당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중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80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만달러에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해당하는 금액을 동 대여금과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상계처리하면서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비거주자와의 상계에 관한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외국환은행장앞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신고를 하지 않음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2104891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거주자가 비거주자와 채권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채무를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건별로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결제하지 않고 채권과 채무를 상쇄하고 차액만 결재하는 경우 외국환은행 또는 한국은행에 신고하여야 함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거주자와 비거주자 양 당사자간에 상계를 하는 경우 </a:t>
                      </a: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외국환은행장앞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신고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다국적기업의 상계센터를 통하여 상계하거나 다수의 당사자의 채권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또는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채무를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상계하는 경우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한국은행총재앞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신고사항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601813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 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5-4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2288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pSp>
        <p:nvGrpSpPr>
          <p:cNvPr id="8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9" name="직사각형 8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0" name="직사각형 9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11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0" name="포인트가 5개인 별 19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1" name="포인트가 5개인 별 20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2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3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비거주자와의 상계 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1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6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7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8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9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5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구름"/>
          <p:cNvPicPr>
            <a:picLocks noChangeAspect="1" noChangeArrowheads="1"/>
          </p:cNvPicPr>
          <p:nvPr/>
        </p:nvPicPr>
        <p:blipFill>
          <a:blip r:embed="rId3" cstate="print"/>
          <a:srcRect r="17708" b="34259"/>
          <a:stretch>
            <a:fillRect/>
          </a:stretch>
        </p:blipFill>
        <p:spPr bwMode="auto">
          <a:xfrm>
            <a:off x="1000100" y="0"/>
            <a:ext cx="7524750" cy="4508500"/>
          </a:xfrm>
          <a:prstGeom prst="rect">
            <a:avLst/>
          </a:prstGeom>
          <a:noFill/>
        </p:spPr>
      </p:pic>
      <p:grpSp>
        <p:nvGrpSpPr>
          <p:cNvPr id="4" name="그룹 35"/>
          <p:cNvGrpSpPr/>
          <p:nvPr/>
        </p:nvGrpSpPr>
        <p:grpSpPr>
          <a:xfrm>
            <a:off x="833932" y="3031804"/>
            <a:ext cx="7410476" cy="757236"/>
            <a:chOff x="947738" y="3032123"/>
            <a:chExt cx="7753648" cy="757236"/>
          </a:xfrm>
        </p:grpSpPr>
        <p:pic>
          <p:nvPicPr>
            <p:cNvPr id="54" name="Picture 27" descr="목차바"/>
            <p:cNvPicPr preferRelativeResize="0">
              <a:picLocks noChangeArrowheads="1"/>
            </p:cNvPicPr>
            <p:nvPr/>
          </p:nvPicPr>
          <p:blipFill>
            <a:blip r:embed="rId4" cstate="print"/>
            <a:srcRect l="10118" t="20419" r="10709" b="64514"/>
            <a:stretch>
              <a:fillRect/>
            </a:stretch>
          </p:blipFill>
          <p:spPr bwMode="auto">
            <a:xfrm>
              <a:off x="947738" y="3032123"/>
              <a:ext cx="7753648" cy="757236"/>
            </a:xfrm>
            <a:prstGeom prst="rect">
              <a:avLst/>
            </a:prstGeom>
            <a:noFill/>
          </p:spPr>
        </p:pic>
        <p:sp>
          <p:nvSpPr>
            <p:cNvPr id="55" name="Text Box 30"/>
            <p:cNvSpPr txBox="1">
              <a:spLocks noChangeArrowheads="1"/>
            </p:cNvSpPr>
            <p:nvPr/>
          </p:nvSpPr>
          <p:spPr bwMode="auto">
            <a:xfrm>
              <a:off x="1717724" y="3155020"/>
              <a:ext cx="66404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l"/>
              <a:r>
                <a:rPr lang="en-US" altLang="ko-KR" sz="2400" dirty="0" smtClean="0">
                  <a:solidFill>
                    <a:srgbClr val="0E3C88"/>
                  </a:solidFill>
                </a:rPr>
                <a:t> </a:t>
              </a:r>
              <a:r>
                <a:rPr lang="ko-KR" altLang="en-US" sz="2400" dirty="0" smtClean="0">
                  <a:solidFill>
                    <a:srgbClr val="0E3C88"/>
                  </a:solidFill>
                </a:rPr>
                <a:t>자본거래</a:t>
              </a:r>
              <a:endParaRPr lang="ko-KR" altLang="en-US" sz="2400" dirty="0">
                <a:solidFill>
                  <a:srgbClr val="0E3C88"/>
                </a:solidFill>
              </a:endParaRPr>
            </a:p>
          </p:txBody>
        </p:sp>
        <p:pic>
          <p:nvPicPr>
            <p:cNvPr id="56" name="Picture 23" descr="볼"/>
            <p:cNvPicPr preferRelativeResize="0">
              <a:picLocks noChangeAspect="1" noChangeArrowheads="1"/>
            </p:cNvPicPr>
            <p:nvPr/>
          </p:nvPicPr>
          <p:blipFill>
            <a:blip r:embed="rId5" cstate="print"/>
            <a:srcRect l="11215" t="22037" r="79791" b="66251"/>
            <a:stretch>
              <a:fillRect/>
            </a:stretch>
          </p:blipFill>
          <p:spPr bwMode="auto">
            <a:xfrm>
              <a:off x="1017588" y="3124206"/>
              <a:ext cx="719137" cy="590298"/>
            </a:xfrm>
            <a:prstGeom prst="rect">
              <a:avLst/>
            </a:prstGeom>
            <a:noFill/>
          </p:spPr>
        </p:pic>
        <p:sp>
          <p:nvSpPr>
            <p:cNvPr id="57" name="Text Box 19"/>
            <p:cNvSpPr txBox="1">
              <a:spLocks noChangeArrowheads="1"/>
            </p:cNvSpPr>
            <p:nvPr/>
          </p:nvSpPr>
          <p:spPr bwMode="auto">
            <a:xfrm>
              <a:off x="1089144" y="3121684"/>
              <a:ext cx="682625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altLang="ko-KR" sz="2800" dirty="0" smtClean="0">
                  <a:solidFill>
                    <a:srgbClr val="FCE06A"/>
                  </a:solidFill>
                  <a:latin typeface="HY견명조" pitchFamily="18" charset="-127"/>
                  <a:ea typeface="HY견명조" pitchFamily="18" charset="-127"/>
                </a:rPr>
                <a:t>3</a:t>
              </a:r>
            </a:p>
          </p:txBody>
        </p:sp>
      </p:grpSp>
      <p:pic>
        <p:nvPicPr>
          <p:cNvPr id="71" name="Picture 11" descr="목차바"/>
          <p:cNvPicPr>
            <a:picLocks noChangeArrowheads="1"/>
          </p:cNvPicPr>
          <p:nvPr/>
        </p:nvPicPr>
        <p:blipFill>
          <a:blip r:embed="rId4" cstate="print"/>
          <a:srcRect l="10118" t="20419" r="10709" b="64514"/>
          <a:stretch>
            <a:fillRect/>
          </a:stretch>
        </p:blipFill>
        <p:spPr bwMode="auto">
          <a:xfrm>
            <a:off x="1071538" y="582961"/>
            <a:ext cx="2714644" cy="685799"/>
          </a:xfrm>
          <a:prstGeom prst="rect">
            <a:avLst/>
          </a:prstGeom>
          <a:noFill/>
        </p:spPr>
      </p:pic>
      <p:sp>
        <p:nvSpPr>
          <p:cNvPr id="72" name="Rectangle 1567"/>
          <p:cNvSpPr txBox="1">
            <a:spLocks noChangeArrowheads="1"/>
          </p:cNvSpPr>
          <p:nvPr/>
        </p:nvSpPr>
        <p:spPr>
          <a:xfrm flipH="1">
            <a:off x="1142976" y="605628"/>
            <a:ext cx="2643206" cy="519116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000" b="1" kern="0" dirty="0" smtClean="0">
                <a:ln w="1905"/>
                <a:solidFill>
                  <a:srgbClr val="F5960B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D아트체" pitchFamily="18" charset="-127"/>
                <a:ea typeface="MD아트체" pitchFamily="18" charset="-127"/>
                <a:cs typeface="+mj-cs"/>
              </a:rPr>
              <a:t>목   차</a:t>
            </a:r>
            <a:endParaRPr kumimoji="1" lang="en-US" altLang="ko-KR" sz="3000" b="1" u="none" strike="noStrike" kern="0" normalizeH="0" noProof="0" dirty="0" smtClean="0">
              <a:ln w="1905"/>
              <a:solidFill>
                <a:srgbClr val="F5960B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MD아트체" pitchFamily="18" charset="-127"/>
              <a:ea typeface="MD아트체" pitchFamily="18" charset="-127"/>
              <a:cs typeface="+mj-cs"/>
            </a:endParaRPr>
          </a:p>
        </p:txBody>
      </p:sp>
    </p:spTree>
  </p:cSld>
  <p:clrMapOvr>
    <a:masterClrMapping/>
  </p:clrMapOvr>
  <p:transition advTm="43531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`3.  </a:t>
            </a:r>
            <a:r>
              <a:rPr lang="ko-KR" altLang="en-US" sz="2400" dirty="0" smtClean="0">
                <a:solidFill>
                  <a:srgbClr val="FFFF00"/>
                </a:solidFill>
              </a:rPr>
              <a:t>자본거래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323528" y="1772811"/>
          <a:ext cx="8640959" cy="4896555"/>
        </p:xfrm>
        <a:graphic>
          <a:graphicData uri="http://schemas.openxmlformats.org/drawingml/2006/table">
            <a:tbl>
              <a:tblPr/>
              <a:tblGrid>
                <a:gridCol w="1311575"/>
                <a:gridCol w="1465876"/>
                <a:gridCol w="3950262"/>
                <a:gridCol w="1913246"/>
              </a:tblGrid>
              <a:tr h="3264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25152" marR="25152" marT="6954" marB="695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유형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관련규정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D6D6D6"/>
                    </a:solidFill>
                  </a:tcPr>
                </a:tc>
              </a:tr>
              <a:tr h="326437">
                <a:tc rowSpan="14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광의의 자본거래</a:t>
                      </a:r>
                    </a:p>
                  </a:txBody>
                  <a:tcPr marL="25152" marR="25152" marT="6954" marB="695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D6D6D6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협의의 자본거래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자본거래 총칙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예금 및 신탁거래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금전대차 및 채무보증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대외지급수단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채권의 매매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용역거래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증권의 발행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증권의 취득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파생상품거래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기타 자본거래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AFABF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현지금융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AEDCA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현지금융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AEDCA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AEDCAD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직접투자등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7CC7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해외직접투자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7CC7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7CC77B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해외지사설치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7CC7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7CC77B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외국기업등의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국내지사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7CC7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7CC77B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해외부동산취득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7CC7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7CC77B"/>
                    </a:solidFill>
                  </a:tcPr>
                </a:tc>
              </a:tr>
              <a:tr h="32643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비거주자의 국내부동산 취득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7CC7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 제</a:t>
                      </a:r>
                      <a:r>
                        <a:rPr lang="en-US" altLang="ko-KR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절</a:t>
                      </a:r>
                    </a:p>
                  </a:txBody>
                  <a:tcPr marL="25152" marR="25152" marT="6954" marB="695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7CC77B"/>
                    </a:solidFill>
                  </a:tcPr>
                </a:tc>
              </a:tr>
            </a:tbl>
          </a:graphicData>
        </a:graphic>
      </p:graphicFrame>
      <p:sp>
        <p:nvSpPr>
          <p:cNvPr id="12492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285777" y="805906"/>
            <a:ext cx="8215313" cy="750886"/>
            <a:chOff x="428596" y="3571877"/>
            <a:chExt cx="8215370" cy="750234"/>
          </a:xfrm>
        </p:grpSpPr>
        <p:sp>
          <p:nvSpPr>
            <p:cNvPr id="10" name="직사각형 9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1" name="포인트가 5개인 별 20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2" name="포인트가 5개인 별 21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3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자본거래  유형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7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8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9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0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6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`3.  </a:t>
            </a:r>
            <a:r>
              <a:rPr lang="ko-KR" altLang="en-US" sz="2400" dirty="0" smtClean="0">
                <a:solidFill>
                  <a:srgbClr val="FFFF00"/>
                </a:solidFill>
              </a:rPr>
              <a:t>자본거래</a:t>
            </a:r>
            <a:r>
              <a:rPr lang="en-US" altLang="ko-KR" sz="2400" dirty="0" smtClean="0">
                <a:solidFill>
                  <a:srgbClr val="FFFF00"/>
                </a:solidFill>
              </a:rPr>
              <a:t>(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해외예금</a:t>
            </a:r>
            <a:r>
              <a:rPr lang="en-US" altLang="ko-KR" sz="2400" dirty="0" smtClean="0">
                <a:solidFill>
                  <a:srgbClr val="FFFF00"/>
                </a:solidFill>
              </a:rPr>
              <a:t>)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2492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285777" y="805906"/>
            <a:ext cx="8215313" cy="750886"/>
            <a:chOff x="428596" y="3571877"/>
            <a:chExt cx="8215370" cy="750234"/>
          </a:xfrm>
        </p:grpSpPr>
        <p:sp>
          <p:nvSpPr>
            <p:cNvPr id="10" name="직사각형 9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1" name="포인트가 5개인 별 20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2" name="포인트가 5개인 별 21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3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해외예금 신고 및 보고의무 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7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8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9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0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6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/>
        </p:nvGraphicFramePr>
        <p:xfrm>
          <a:off x="395537" y="1922156"/>
          <a:ext cx="8424934" cy="4243148"/>
        </p:xfrm>
        <a:graphic>
          <a:graphicData uri="http://schemas.openxmlformats.org/drawingml/2006/table">
            <a:tbl>
              <a:tblPr/>
              <a:tblGrid>
                <a:gridCol w="1912760"/>
                <a:gridCol w="110286"/>
                <a:gridCol w="929281"/>
                <a:gridCol w="1027813"/>
                <a:gridCol w="2068531"/>
                <a:gridCol w="2376263"/>
              </a:tblGrid>
              <a:tr h="20522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거주자</a:t>
                      </a: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EFE9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예금</a:t>
                      </a: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비거주자</a:t>
                      </a: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FDDFC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52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↓</a:t>
                      </a:r>
                    </a:p>
                  </a:txBody>
                  <a:tcPr marL="59919" marR="59919" marT="29959" marB="2995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3293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2443" marR="42443" marT="11734" marB="1173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2443" marR="42443" marT="11734" marB="11734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9322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2443" marR="42443" marT="11734" marB="1173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신고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의무</a:t>
                      </a: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B3C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예금거래 </a:t>
                      </a: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지정거래외국환은행</a:t>
                      </a:r>
                    </a:p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단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건당 미화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5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만불을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 초과하여 </a:t>
                      </a:r>
                      <a:r>
                        <a:rPr lang="ko-KR" altLang="en-US" sz="1400" dirty="0" err="1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해외송금시에는</a:t>
                      </a:r>
                      <a:endParaRPr lang="en-US" altLang="ko-KR" sz="1400" dirty="0" smtClean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한국은행 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신고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)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139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보고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의무</a:t>
                      </a: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B3C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해외</a:t>
                      </a:r>
                      <a:endParaRPr lang="en-US" altLang="ko-KR" sz="1400" dirty="0" smtClean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입금보고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미화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1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만불 초과 또는 대외채권 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미회수시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 입금일로부터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30</a:t>
                      </a:r>
                      <a:r>
                        <a:rPr lang="ko-KR" altLang="en-US" sz="1400" dirty="0" err="1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일이내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 지정거래외국환은행장에게 보고</a:t>
                      </a: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139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잔액</a:t>
                      </a:r>
                      <a:endParaRPr lang="en-US" altLang="ko-KR" sz="1400" dirty="0" smtClean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현황보고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익년도 </a:t>
                      </a:r>
                      <a:r>
                        <a:rPr lang="en-US" altLang="ko-KR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1</a:t>
                      </a:r>
                      <a:r>
                        <a:rPr lang="ko-KR" altLang="en-US" sz="14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월말까지 한국은행총재에게 보고</a:t>
                      </a:r>
                    </a:p>
                  </a:txBody>
                  <a:tcPr marL="42443" marR="42443" marT="11734" marB="11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1075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`3.  </a:t>
            </a:r>
            <a:r>
              <a:rPr lang="ko-KR" altLang="en-US" sz="2400" dirty="0" smtClean="0">
                <a:solidFill>
                  <a:srgbClr val="FFFF00"/>
                </a:solidFill>
              </a:rPr>
              <a:t>자본거래</a:t>
            </a:r>
            <a:r>
              <a:rPr lang="en-US" altLang="ko-KR" sz="2400" dirty="0" smtClean="0">
                <a:solidFill>
                  <a:srgbClr val="FFFF00"/>
                </a:solidFill>
              </a:rPr>
              <a:t>(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해외예금</a:t>
            </a:r>
            <a:r>
              <a:rPr lang="en-US" altLang="ko-KR" sz="2400" dirty="0" smtClean="0">
                <a:solidFill>
                  <a:srgbClr val="FFFF00"/>
                </a:solidFill>
              </a:rPr>
              <a:t>)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2492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285777" y="805906"/>
            <a:ext cx="8215313" cy="750886"/>
            <a:chOff x="428596" y="3571877"/>
            <a:chExt cx="8215370" cy="750234"/>
          </a:xfrm>
        </p:grpSpPr>
        <p:sp>
          <p:nvSpPr>
            <p:cNvPr id="10" name="직사각형 9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1" name="포인트가 5개인 별 20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2" name="포인트가 5개인 별 21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3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거주자의 해외예금 </a:t>
              </a:r>
              <a:r>
                <a:rPr lang="ko-KR" altLang="en-US" sz="2200" kern="0" dirty="0" err="1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거래시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7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8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9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0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6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/>
        </p:nvGraphicFramePr>
        <p:xfrm>
          <a:off x="755576" y="2064772"/>
          <a:ext cx="7776864" cy="3956516"/>
        </p:xfrm>
        <a:graphic>
          <a:graphicData uri="http://schemas.openxmlformats.org/drawingml/2006/table">
            <a:tbl>
              <a:tblPr/>
              <a:tblGrid>
                <a:gridCol w="1140250"/>
                <a:gridCol w="6636614"/>
              </a:tblGrid>
              <a:tr h="1587854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㈜○○○는 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13.8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지정거래외국환은행장 앞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신고없이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쿠웨이트 소재 은행에 예금계좌를 개설하고 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13.8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~9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월중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차례에 걸쳐 현지 </a:t>
                      </a: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건설사로부터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수령한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공사대금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입금하면서 신고를 하지 않음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587854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거주자가 해외에서 비거주자와 외화예금거래를 하고자 하는 경우에는 지정거래외국환은행의 장에게 신고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국내에서 송금한 자금으로 예치하고자 하는 경우에는 지정거래외국환은행을 통해 송금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780808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 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7-11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7-12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3516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`3.  </a:t>
            </a:r>
            <a:r>
              <a:rPr lang="ko-KR" altLang="en-US" sz="2400" dirty="0" smtClean="0">
                <a:solidFill>
                  <a:srgbClr val="FFFF00"/>
                </a:solidFill>
              </a:rPr>
              <a:t>자본거래</a:t>
            </a:r>
            <a:r>
              <a:rPr lang="en-US" altLang="ko-KR" sz="2400" dirty="0" smtClean="0">
                <a:solidFill>
                  <a:srgbClr val="FFFF00"/>
                </a:solidFill>
              </a:rPr>
              <a:t>(</a:t>
            </a:r>
            <a:r>
              <a:rPr lang="ko-KR" altLang="en-US" sz="2400" dirty="0" smtClean="0">
                <a:solidFill>
                  <a:srgbClr val="FFFF00"/>
                </a:solidFill>
              </a:rPr>
              <a:t>금전대차</a:t>
            </a:r>
            <a:r>
              <a:rPr lang="en-US" altLang="ko-KR" sz="2400" dirty="0" smtClean="0">
                <a:solidFill>
                  <a:srgbClr val="FFFF00"/>
                </a:solidFill>
              </a:rPr>
              <a:t>)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2492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285777" y="805906"/>
            <a:ext cx="8246663" cy="750886"/>
            <a:chOff x="428596" y="3571877"/>
            <a:chExt cx="8246720" cy="750234"/>
          </a:xfrm>
        </p:grpSpPr>
        <p:sp>
          <p:nvSpPr>
            <p:cNvPr id="10" name="직사각형 9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88857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1" name="포인트가 5개인 별 20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2" name="포인트가 5개인 별 21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3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금전대차 신고의무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7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8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9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0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6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3516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611560" y="1938979"/>
          <a:ext cx="7920880" cy="4298333"/>
        </p:xfrm>
        <a:graphic>
          <a:graphicData uri="http://schemas.openxmlformats.org/drawingml/2006/table">
            <a:tbl>
              <a:tblPr/>
              <a:tblGrid>
                <a:gridCol w="1816520"/>
                <a:gridCol w="150158"/>
                <a:gridCol w="1546713"/>
                <a:gridCol w="951105"/>
                <a:gridCol w="1224136"/>
                <a:gridCol w="2232248"/>
              </a:tblGrid>
              <a:tr h="41499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거주자</a:t>
                      </a:r>
                    </a:p>
                  </a:txBody>
                  <a:tcPr marL="62379" marR="62379" marT="17246" marB="17246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FEFE9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금전대차</a:t>
                      </a:r>
                    </a:p>
                  </a:txBody>
                  <a:tcPr marL="62379" marR="62379" marT="17246" marB="17246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비거주자</a:t>
                      </a:r>
                    </a:p>
                  </a:txBody>
                  <a:tcPr marL="62379" marR="62379" marT="17246" marB="17246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FDDFC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62379" marR="62379" marT="17246" marB="17246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29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40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↓</a:t>
                      </a:r>
                    </a:p>
                  </a:txBody>
                  <a:tcPr marL="88064" marR="88064" marT="44032" marB="44032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79681">
                <a:tc rowSpan="4"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62379" marR="62379" marT="17246" marB="17246" anchor="ctr">
                    <a:lnL>
                      <a:noFill/>
                    </a:lnL>
                    <a:lnR>
                      <a:noFill/>
                    </a:lnR>
                    <a:lnT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700" dirty="0"/>
                    </a:p>
                  </a:txBody>
                  <a:tcPr marL="62379" marR="62379" marT="17246" marB="17246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8956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70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62379" marR="62379" marT="17246" marB="17246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차입</a:t>
                      </a:r>
                    </a:p>
                  </a:txBody>
                  <a:tcPr marL="62379" marR="62379" marT="17246" marB="1724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B3C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외화</a:t>
                      </a:r>
                    </a:p>
                  </a:txBody>
                  <a:tcPr marL="62379" marR="62379" marT="17246" marB="1724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영리법인</a:t>
                      </a:r>
                      <a:r>
                        <a:rPr lang="en-US" altLang="ko-KR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(</a:t>
                      </a:r>
                      <a:r>
                        <a:rPr lang="ko-KR" altLang="en-US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회사</a:t>
                      </a:r>
                      <a:r>
                        <a:rPr lang="en-US" altLang="ko-KR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) : </a:t>
                      </a:r>
                      <a:r>
                        <a:rPr lang="ko-KR" altLang="en-US" sz="1700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외국환은행</a:t>
                      </a:r>
                      <a:endParaRPr lang="en-US" altLang="ko-KR" sz="1700" dirty="0" smtClean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비영리법인 </a:t>
                      </a:r>
                      <a:r>
                        <a:rPr lang="ko-KR" altLang="en-US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및 개인 </a:t>
                      </a:r>
                      <a:r>
                        <a:rPr lang="en-US" altLang="ko-KR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: </a:t>
                      </a:r>
                      <a:r>
                        <a:rPr lang="ko-KR" altLang="en-US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한국은행</a:t>
                      </a:r>
                    </a:p>
                  </a:txBody>
                  <a:tcPr marL="62379" marR="62379" marT="17246" marB="17246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825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원화</a:t>
                      </a:r>
                    </a:p>
                  </a:txBody>
                  <a:tcPr marL="62379" marR="62379" marT="17246" marB="1724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외국환은행</a:t>
                      </a:r>
                    </a:p>
                  </a:txBody>
                  <a:tcPr marL="62379" marR="62379" marT="17246" marB="17246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7825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대출</a:t>
                      </a:r>
                    </a:p>
                  </a:txBody>
                  <a:tcPr marL="62379" marR="62379" marT="17246" marB="1724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B3C5F3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한국은행</a:t>
                      </a:r>
                    </a:p>
                  </a:txBody>
                  <a:tcPr marL="62379" marR="62379" marT="17246" marB="1724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540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`3.  </a:t>
            </a:r>
            <a:r>
              <a:rPr lang="ko-KR" altLang="en-US" sz="2400" dirty="0" smtClean="0">
                <a:solidFill>
                  <a:srgbClr val="FFFF00"/>
                </a:solidFill>
              </a:rPr>
              <a:t>자본거래</a:t>
            </a:r>
            <a:r>
              <a:rPr lang="en-US" altLang="ko-KR" sz="2400" dirty="0" smtClean="0">
                <a:solidFill>
                  <a:srgbClr val="FFFF00"/>
                </a:solidFill>
              </a:rPr>
              <a:t>(</a:t>
            </a:r>
            <a:r>
              <a:rPr lang="ko-KR" altLang="en-US" sz="2400" dirty="0" smtClean="0">
                <a:solidFill>
                  <a:srgbClr val="FFFF00"/>
                </a:solidFill>
              </a:rPr>
              <a:t>금전대차</a:t>
            </a:r>
            <a:r>
              <a:rPr lang="en-US" altLang="ko-KR" sz="2400" dirty="0" smtClean="0">
                <a:solidFill>
                  <a:srgbClr val="FFFF00"/>
                </a:solidFill>
              </a:rPr>
              <a:t>)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2492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285777" y="805906"/>
            <a:ext cx="8215313" cy="750886"/>
            <a:chOff x="428596" y="3571877"/>
            <a:chExt cx="8215370" cy="750234"/>
          </a:xfrm>
        </p:grpSpPr>
        <p:sp>
          <p:nvSpPr>
            <p:cNvPr id="10" name="직사각형 9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1" name="포인트가 5개인 별 20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2" name="포인트가 5개인 별 21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3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거주자가 비거주자로부터 외화자금차입 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7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8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9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0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6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3" name="표 22"/>
          <p:cNvGraphicFramePr>
            <a:graphicFrameLocks noGrp="1"/>
          </p:cNvGraphicFramePr>
          <p:nvPr/>
        </p:nvGraphicFramePr>
        <p:xfrm>
          <a:off x="899592" y="1916832"/>
          <a:ext cx="7488832" cy="4104457"/>
        </p:xfrm>
        <a:graphic>
          <a:graphicData uri="http://schemas.openxmlformats.org/drawingml/2006/table">
            <a:tbl>
              <a:tblPr/>
              <a:tblGrid>
                <a:gridCol w="1098018"/>
                <a:gridCol w="6390814"/>
              </a:tblGrid>
              <a:tr h="1392162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일본인과 결혼을 앞둔 ○○○는 전세자금에 충당코자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예비장인어른인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일본인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△△△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비거주자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로부터 </a:t>
                      </a: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빌려 전세자금에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충당하면서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한국은행총재앞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신고를 하지 않음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811910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개인인 거주자가 비거주자로부터 외화자금을 차입하고자 하는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경우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한국은행총재앞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신고사항임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외화를 차입한 거주자는 외화자금을 지정거래외국환은행의 거주자계정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외화통장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에 예치한 후 신고용도에 따라 사용하여야 함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900385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 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7-14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7907" marR="17907" marT="17907" marB="1790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3516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`3.  </a:t>
            </a:r>
            <a:r>
              <a:rPr lang="ko-KR" altLang="en-US" sz="2400" dirty="0" smtClean="0">
                <a:solidFill>
                  <a:srgbClr val="FFFF00"/>
                </a:solidFill>
              </a:rPr>
              <a:t>자본거래</a:t>
            </a:r>
            <a:r>
              <a:rPr lang="en-US" altLang="ko-KR" sz="2400" dirty="0" smtClean="0">
                <a:solidFill>
                  <a:srgbClr val="FFFF00"/>
                </a:solidFill>
              </a:rPr>
              <a:t>(</a:t>
            </a:r>
            <a:r>
              <a:rPr lang="ko-KR" altLang="en-US" sz="2400" dirty="0" smtClean="0">
                <a:solidFill>
                  <a:srgbClr val="FFFF00"/>
                </a:solidFill>
              </a:rPr>
              <a:t>금전대차</a:t>
            </a:r>
            <a:r>
              <a:rPr lang="en-US" altLang="ko-KR" sz="2400" dirty="0" smtClean="0">
                <a:solidFill>
                  <a:srgbClr val="FFFF00"/>
                </a:solidFill>
              </a:rPr>
              <a:t>)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2492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285777" y="805906"/>
            <a:ext cx="8215313" cy="750886"/>
            <a:chOff x="428596" y="3571877"/>
            <a:chExt cx="8215370" cy="750234"/>
          </a:xfrm>
        </p:grpSpPr>
        <p:sp>
          <p:nvSpPr>
            <p:cNvPr id="10" name="직사각형 9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1" name="포인트가 5개인 별 20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2" name="포인트가 5개인 별 21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3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거주자의 비거주자로부터 금전대차 만기연장 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7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8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9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0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6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3516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755576" y="1988840"/>
          <a:ext cx="7704856" cy="3754131"/>
        </p:xfrm>
        <a:graphic>
          <a:graphicData uri="http://schemas.openxmlformats.org/drawingml/2006/table">
            <a:tbl>
              <a:tblPr/>
              <a:tblGrid>
                <a:gridCol w="1224136"/>
                <a:gridCol w="6480720"/>
              </a:tblGrid>
              <a:tr h="1594813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ko-KR" altLang="en-US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㈜○○○는 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09.2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베트남소재 비거주자 △△△와 만기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년인 금전대차계약을 체결하고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차입하였으나 회사 자금사정이 어려워져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외국환은행장앞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신고없이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계약 만기를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년 연장하였음 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079659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거래당사자는 비거주자와 최초 금전대차계약 신고를 하였더라도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신고기관에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만기연장으로 인한 변경신고를 사전에 하여야 함 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079659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7-4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5564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`3.  </a:t>
            </a:r>
            <a:r>
              <a:rPr lang="ko-KR" altLang="en-US" sz="2400" dirty="0" smtClean="0">
                <a:solidFill>
                  <a:srgbClr val="FFFF00"/>
                </a:solidFill>
              </a:rPr>
              <a:t>자본거래</a:t>
            </a:r>
            <a:r>
              <a:rPr lang="en-US" altLang="ko-KR" sz="2400" dirty="0" smtClean="0">
                <a:solidFill>
                  <a:srgbClr val="FFFF00"/>
                </a:solidFill>
              </a:rPr>
              <a:t>(</a:t>
            </a:r>
            <a:r>
              <a:rPr lang="ko-KR" altLang="en-US" sz="2400" dirty="0" smtClean="0">
                <a:solidFill>
                  <a:srgbClr val="FFFF00"/>
                </a:solidFill>
              </a:rPr>
              <a:t>증권취득</a:t>
            </a:r>
            <a:r>
              <a:rPr lang="en-US" altLang="ko-KR" sz="2400" dirty="0" smtClean="0">
                <a:solidFill>
                  <a:srgbClr val="FFFF00"/>
                </a:solidFill>
              </a:rPr>
              <a:t>)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2492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285777" y="805906"/>
            <a:ext cx="8215313" cy="750886"/>
            <a:chOff x="428596" y="3571877"/>
            <a:chExt cx="8215370" cy="750234"/>
          </a:xfrm>
        </p:grpSpPr>
        <p:sp>
          <p:nvSpPr>
            <p:cNvPr id="10" name="직사각형 9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1" name="포인트가 5개인 별 20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2" name="포인트가 5개인 별 21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3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증권취득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7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8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9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0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6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3516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467544" y="1700808"/>
          <a:ext cx="8328247" cy="5050479"/>
        </p:xfrm>
        <a:graphic>
          <a:graphicData uri="http://schemas.openxmlformats.org/drawingml/2006/table">
            <a:tbl>
              <a:tblPr/>
              <a:tblGrid>
                <a:gridCol w="2863703"/>
                <a:gridCol w="781992"/>
                <a:gridCol w="1186560"/>
                <a:gridCol w="704297"/>
                <a:gridCol w="2791695"/>
              </a:tblGrid>
              <a:tr h="8640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거주자</a:t>
                      </a:r>
                      <a:r>
                        <a:rPr lang="en-US" altLang="ko-KR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(</a:t>
                      </a:r>
                      <a:r>
                        <a:rPr lang="ko-KR" alt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신고의무자</a:t>
                      </a:r>
                      <a:r>
                        <a:rPr lang="en-US" altLang="ko-KR" sz="1700" b="1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)</a:t>
                      </a:r>
                      <a:endParaRPr lang="ko-KR" altLang="en-US" sz="17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32762" marR="32762" marT="9058" marB="905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FEFE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←</a:t>
                      </a:r>
                      <a:endParaRPr lang="ko-KR" altLang="en-US" sz="20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6252" marR="46252" marT="23126" marB="23126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비거주자</a:t>
                      </a:r>
                      <a:endParaRPr lang="ko-KR" altLang="en-US" sz="17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32762" marR="32762" marT="9058" marB="9058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FDDF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:</a:t>
                      </a:r>
                      <a:endParaRPr lang="en-US" sz="170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6252" marR="46252" marT="23126" marB="2312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dirty="0" err="1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한국은행총재앞</a:t>
                      </a:r>
                      <a:r>
                        <a:rPr lang="ko-KR" alt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 신고</a:t>
                      </a:r>
                      <a:endParaRPr lang="ko-KR" altLang="en-US" sz="17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32762" marR="32762" marT="9058" marB="9058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72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7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32762" marR="32762" marT="9058" marB="905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7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6252" marR="46252" marT="23126" marB="231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7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32762" marR="32762" marT="9058" marB="9058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70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6252" marR="46252" marT="23126" marB="2312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70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32762" marR="32762" marT="9058" marB="9058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833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비거주자</a:t>
                      </a:r>
                      <a:r>
                        <a:rPr lang="en-US" altLang="ko-KR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(</a:t>
                      </a:r>
                      <a:r>
                        <a:rPr lang="ko-KR" alt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신고의무자</a:t>
                      </a:r>
                      <a:r>
                        <a:rPr lang="en-US" altLang="ko-KR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)</a:t>
                      </a:r>
                      <a:endParaRPr lang="ko-KR" altLang="en-US" sz="17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32762" marR="32762" marT="9058" marB="905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FDDFC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←</a:t>
                      </a:r>
                      <a:endParaRPr lang="ko-KR" altLang="en-US" sz="20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6252" marR="46252" marT="23126" marB="23126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거주자</a:t>
                      </a:r>
                      <a:endParaRPr lang="ko-KR" altLang="en-US" sz="17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32762" marR="32762" marT="9058" marB="9058" anchor="ctr">
                    <a:lnL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/>
                      <a:lightRig rig="flood" dir="t"/>
                    </a:cell3D>
                    <a:solidFill>
                      <a:srgbClr val="FEFE9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:</a:t>
                      </a:r>
                      <a:endParaRPr lang="en-US" sz="17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46252" marR="46252" marT="23126" marB="2312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외국인투자촉진법에서 정한 출자목적물에 의해 취득하는 경우 </a:t>
                      </a:r>
                      <a:r>
                        <a:rPr lang="en-US" altLang="ko-KR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: </a:t>
                      </a:r>
                      <a:r>
                        <a:rPr lang="ko-KR" alt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외국환은행장 앞 신고</a:t>
                      </a:r>
                      <a:endParaRPr lang="ko-KR" altLang="en-US" sz="17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32762" marR="32762" marT="9058" marB="9058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13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700" b="1" dirty="0" smtClean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marL="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그 </a:t>
                      </a:r>
                      <a:r>
                        <a:rPr lang="ko-KR" alt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외의 경우 </a:t>
                      </a:r>
                      <a:r>
                        <a:rPr lang="en-US" altLang="ko-KR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: </a:t>
                      </a:r>
                      <a:r>
                        <a:rPr lang="ko-KR" altLang="en-US" sz="1700" b="1" dirty="0" err="1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한국은행총재앞</a:t>
                      </a:r>
                      <a:r>
                        <a:rPr lang="ko-KR" altLang="en-US" sz="1700" b="1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 </a:t>
                      </a:r>
                      <a:r>
                        <a:rPr lang="ko-KR" altLang="en-US" sz="17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신고</a:t>
                      </a:r>
                      <a:endParaRPr lang="ko-KR" altLang="en-US" sz="17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</a:txBody>
                  <a:tcPr marL="32762" marR="32762" marT="9058" marB="9058" anchor="ctr">
                    <a:lnL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6875">
                <a:tc gridSpan="5">
                  <a:txBody>
                    <a:bodyPr/>
                    <a:lstStyle/>
                    <a:p>
                      <a:pPr marL="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※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주의사항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HY헤드라인M" pitchFamily="18" charset="-127"/>
                        <a:ea typeface="HY헤드라인M" pitchFamily="18" charset="-127"/>
                      </a:endParaRPr>
                    </a:p>
                    <a:p>
                      <a:pPr marL="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∙거주자와 비거주자간의 </a:t>
                      </a:r>
                      <a:r>
                        <a:rPr lang="ko-KR" altLang="en-US" sz="1500" dirty="0" err="1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증권양수도는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 원칙적으로 신고사항에 해당하나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외국환거래규정이 정하고 있는 절차에 따라 취득할 경우 신고의무 면제</a:t>
                      </a:r>
                    </a:p>
                    <a:p>
                      <a:pPr marL="0" marR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∙거주자간의 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(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외화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)</a:t>
                      </a:r>
                      <a:r>
                        <a:rPr lang="ko-KR" altLang="en-US" sz="1500" dirty="0" err="1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증권양수도는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 규정 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§7-43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에 따라 신고의무가 면제되나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, 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해외직접투자에 해당하는 경우 양도인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·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HY헤드라인M" pitchFamily="18" charset="-127"/>
                          <a:ea typeface="HY헤드라인M" pitchFamily="18" charset="-127"/>
                        </a:rPr>
                        <a:t>양수인 모두 해외직접투자 신고를 이행하여야 함</a:t>
                      </a:r>
                    </a:p>
                  </a:txBody>
                  <a:tcPr marL="36424" marR="36424" marT="36424" marB="3642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92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`3.  </a:t>
            </a:r>
            <a:r>
              <a:rPr lang="ko-KR" altLang="en-US" sz="2400" dirty="0" smtClean="0">
                <a:solidFill>
                  <a:srgbClr val="FFFF00"/>
                </a:solidFill>
              </a:rPr>
              <a:t>자본거래</a:t>
            </a:r>
            <a:r>
              <a:rPr lang="en-US" altLang="ko-KR" sz="2400" dirty="0" smtClean="0">
                <a:solidFill>
                  <a:srgbClr val="FFFF00"/>
                </a:solidFill>
              </a:rPr>
              <a:t>(</a:t>
            </a:r>
            <a:r>
              <a:rPr lang="ko-KR" altLang="en-US" sz="2400" dirty="0" smtClean="0">
                <a:solidFill>
                  <a:srgbClr val="FFFF00"/>
                </a:solidFill>
              </a:rPr>
              <a:t>증권취득</a:t>
            </a:r>
            <a:r>
              <a:rPr lang="en-US" altLang="ko-KR" sz="2400" dirty="0" smtClean="0">
                <a:solidFill>
                  <a:srgbClr val="FFFF00"/>
                </a:solidFill>
              </a:rPr>
              <a:t>)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2492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285777" y="805906"/>
            <a:ext cx="8215313" cy="750886"/>
            <a:chOff x="428596" y="3571877"/>
            <a:chExt cx="8215370" cy="750234"/>
          </a:xfrm>
        </p:grpSpPr>
        <p:sp>
          <p:nvSpPr>
            <p:cNvPr id="10" name="직사각형 9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직사각형 10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21" name="포인트가 5개인 별 20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22" name="포인트가 5개인 별 21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13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14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비거주자가 거주자로부터 증권취득 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7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8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9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20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6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3516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392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/>
        </p:nvGraphicFramePr>
        <p:xfrm>
          <a:off x="611560" y="1988840"/>
          <a:ext cx="7992888" cy="3960440"/>
        </p:xfrm>
        <a:graphic>
          <a:graphicData uri="http://schemas.openxmlformats.org/drawingml/2006/table">
            <a:tbl>
              <a:tblPr/>
              <a:tblGrid>
                <a:gridCol w="1056655"/>
                <a:gridCol w="6936233"/>
              </a:tblGrid>
              <a:tr h="1481305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비거주자인 ○○○은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한국은행총재앞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신고없이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13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년중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국내법인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㈜△△△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의 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자배정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유상증자시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동사의 주식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여만주를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상당에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취득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(○○○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은 주식취득 대금을 외화로 송금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481305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비거주자가 거주자로부터 비상장 국내원화증권을 외국인투자자촉진법에서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정한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출자목적물에 의해 취득하는 경우에는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외국환은행장앞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사전신고 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그 외의 경우에는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한국은행총재앞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사전신고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997830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 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7-32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5769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구름"/>
          <p:cNvPicPr>
            <a:picLocks noChangeAspect="1" noChangeArrowheads="1"/>
          </p:cNvPicPr>
          <p:nvPr/>
        </p:nvPicPr>
        <p:blipFill>
          <a:blip r:embed="rId3" cstate="print"/>
          <a:srcRect r="17708" b="34259"/>
          <a:stretch>
            <a:fillRect/>
          </a:stretch>
        </p:blipFill>
        <p:spPr bwMode="auto">
          <a:xfrm>
            <a:off x="1000100" y="0"/>
            <a:ext cx="7524750" cy="4508500"/>
          </a:xfrm>
          <a:prstGeom prst="rect">
            <a:avLst/>
          </a:prstGeom>
          <a:noFill/>
        </p:spPr>
      </p:pic>
      <p:grpSp>
        <p:nvGrpSpPr>
          <p:cNvPr id="5" name="그룹 35"/>
          <p:cNvGrpSpPr/>
          <p:nvPr/>
        </p:nvGrpSpPr>
        <p:grpSpPr>
          <a:xfrm>
            <a:off x="827584" y="3031804"/>
            <a:ext cx="7410476" cy="757236"/>
            <a:chOff x="947738" y="3032123"/>
            <a:chExt cx="7753648" cy="757236"/>
          </a:xfrm>
        </p:grpSpPr>
        <p:pic>
          <p:nvPicPr>
            <p:cNvPr id="59" name="Picture 27" descr="목차바"/>
            <p:cNvPicPr preferRelativeResize="0">
              <a:picLocks noChangeArrowheads="1"/>
            </p:cNvPicPr>
            <p:nvPr/>
          </p:nvPicPr>
          <p:blipFill>
            <a:blip r:embed="rId4" cstate="print"/>
            <a:srcRect l="10118" t="20419" r="10709" b="64514"/>
            <a:stretch>
              <a:fillRect/>
            </a:stretch>
          </p:blipFill>
          <p:spPr bwMode="auto">
            <a:xfrm>
              <a:off x="947738" y="3032123"/>
              <a:ext cx="7753648" cy="757236"/>
            </a:xfrm>
            <a:prstGeom prst="rect">
              <a:avLst/>
            </a:prstGeom>
            <a:noFill/>
          </p:spPr>
        </p:pic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1717724" y="3155020"/>
              <a:ext cx="66404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l"/>
              <a:r>
                <a:rPr lang="en-US" altLang="ko-KR" sz="2400" dirty="0" smtClean="0">
                  <a:solidFill>
                    <a:srgbClr val="0E3C88"/>
                  </a:solidFill>
                </a:rPr>
                <a:t> </a:t>
              </a:r>
              <a:r>
                <a:rPr lang="ko-KR" altLang="en-US" sz="2400" dirty="0" smtClean="0">
                  <a:solidFill>
                    <a:srgbClr val="0E3C88"/>
                  </a:solidFill>
                </a:rPr>
                <a:t>해외직접투자</a:t>
              </a:r>
              <a:endParaRPr lang="ko-KR" altLang="en-US" sz="2400" dirty="0">
                <a:solidFill>
                  <a:srgbClr val="0E3C88"/>
                </a:solidFill>
              </a:endParaRPr>
            </a:p>
          </p:txBody>
        </p:sp>
        <p:pic>
          <p:nvPicPr>
            <p:cNvPr id="61" name="Picture 23" descr="볼"/>
            <p:cNvPicPr preferRelativeResize="0">
              <a:picLocks noChangeAspect="1" noChangeArrowheads="1"/>
            </p:cNvPicPr>
            <p:nvPr/>
          </p:nvPicPr>
          <p:blipFill>
            <a:blip r:embed="rId5" cstate="print"/>
            <a:srcRect l="11215" t="22037" r="79791" b="66251"/>
            <a:stretch>
              <a:fillRect/>
            </a:stretch>
          </p:blipFill>
          <p:spPr bwMode="auto">
            <a:xfrm>
              <a:off x="1017588" y="3124206"/>
              <a:ext cx="719137" cy="590298"/>
            </a:xfrm>
            <a:prstGeom prst="rect">
              <a:avLst/>
            </a:prstGeom>
            <a:noFill/>
          </p:spPr>
        </p:pic>
        <p:sp>
          <p:nvSpPr>
            <p:cNvPr id="62" name="Text Box 19"/>
            <p:cNvSpPr txBox="1">
              <a:spLocks noChangeArrowheads="1"/>
            </p:cNvSpPr>
            <p:nvPr/>
          </p:nvSpPr>
          <p:spPr bwMode="auto">
            <a:xfrm>
              <a:off x="1089144" y="3121684"/>
              <a:ext cx="682625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altLang="ko-KR" sz="2800" dirty="0" smtClean="0">
                  <a:solidFill>
                    <a:srgbClr val="FCE06A"/>
                  </a:solidFill>
                  <a:latin typeface="HY견명조" pitchFamily="18" charset="-127"/>
                  <a:ea typeface="HY견명조" pitchFamily="18" charset="-127"/>
                </a:rPr>
                <a:t>4</a:t>
              </a:r>
            </a:p>
          </p:txBody>
        </p:sp>
      </p:grpSp>
      <p:pic>
        <p:nvPicPr>
          <p:cNvPr id="71" name="Picture 11" descr="목차바"/>
          <p:cNvPicPr>
            <a:picLocks noChangeArrowheads="1"/>
          </p:cNvPicPr>
          <p:nvPr/>
        </p:nvPicPr>
        <p:blipFill>
          <a:blip r:embed="rId4" cstate="print"/>
          <a:srcRect l="10118" t="20419" r="10709" b="64514"/>
          <a:stretch>
            <a:fillRect/>
          </a:stretch>
        </p:blipFill>
        <p:spPr bwMode="auto">
          <a:xfrm>
            <a:off x="1071538" y="582961"/>
            <a:ext cx="2714644" cy="685799"/>
          </a:xfrm>
          <a:prstGeom prst="rect">
            <a:avLst/>
          </a:prstGeom>
          <a:noFill/>
        </p:spPr>
      </p:pic>
      <p:sp>
        <p:nvSpPr>
          <p:cNvPr id="72" name="Rectangle 1567"/>
          <p:cNvSpPr txBox="1">
            <a:spLocks noChangeArrowheads="1"/>
          </p:cNvSpPr>
          <p:nvPr/>
        </p:nvSpPr>
        <p:spPr>
          <a:xfrm flipH="1">
            <a:off x="1142976" y="605628"/>
            <a:ext cx="2643206" cy="519116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000" b="1" kern="0" dirty="0" smtClean="0">
                <a:ln w="1905"/>
                <a:solidFill>
                  <a:srgbClr val="F5960B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D아트체" pitchFamily="18" charset="-127"/>
                <a:ea typeface="MD아트체" pitchFamily="18" charset="-127"/>
                <a:cs typeface="+mj-cs"/>
              </a:rPr>
              <a:t>목   차</a:t>
            </a:r>
            <a:endParaRPr kumimoji="1" lang="en-US" altLang="ko-KR" sz="3000" b="1" u="none" strike="noStrike" kern="0" normalizeH="0" noProof="0" dirty="0" smtClean="0">
              <a:ln w="1905"/>
              <a:solidFill>
                <a:srgbClr val="F5960B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MD아트체" pitchFamily="18" charset="-127"/>
              <a:ea typeface="MD아트체" pitchFamily="18" charset="-127"/>
              <a:cs typeface="+mj-cs"/>
            </a:endParaRPr>
          </a:p>
        </p:txBody>
      </p:sp>
    </p:spTree>
  </p:cSld>
  <p:clrMapOvr>
    <a:masterClrMapping/>
  </p:clrMapOvr>
  <p:transition advTm="43531"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해외직접투자 개념 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323528" y="1700808"/>
          <a:ext cx="8640960" cy="4759586"/>
        </p:xfrm>
        <a:graphic>
          <a:graphicData uri="http://schemas.openxmlformats.org/drawingml/2006/table">
            <a:tbl>
              <a:tblPr/>
              <a:tblGrid>
                <a:gridCol w="2753547"/>
                <a:gridCol w="5887413"/>
              </a:tblGrid>
              <a:tr h="42471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외국환거래법</a:t>
                      </a:r>
                    </a:p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항제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18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호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9091" marR="49091" marT="13572" marB="1357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외국환거래법 시행령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9091" marR="49091" marT="13572" marB="1357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D6D6D6"/>
                    </a:solidFill>
                  </a:tcPr>
                </a:tc>
              </a:tr>
              <a:tr h="418380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외국법령에 따라 설립된 법인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설립 중인 법인을 포함</a:t>
                      </a:r>
                      <a:r>
                        <a:rPr lang="en-US" altLang="ko-KR" sz="15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 발행한 증권을 취득하거나 그 법인에 대한 금전의 대여 등을 통하여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그 법인과 지속적인 경제관계를 맺기 위하여 하는 거래 또는 행위</a:t>
                      </a:r>
                      <a:r>
                        <a:rPr lang="ko-KR" altLang="en-US" sz="15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로서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대통령령으로 정하는 것</a:t>
                      </a:r>
                      <a:endParaRPr lang="ko-KR" altLang="en-US" sz="15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9091" marR="49091" marT="13572" marB="1357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 법령에 따라 설립된 법인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설립 중인 법인을 포함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경영에 참가하기 위하여 취득한 주식 또는 출자지분이 해당 외국법인의 발행주식총수 또는 출자총액에서 차지하는 비율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주식 또는 출자지분을 공동으로 취득하는 경우에는 그 주식 또는 출자지분 전체의 비율을 말한다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이하 이 항에서 “투자비율”이라 한다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분의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10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이상인 투자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투자비율이 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분의 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미만인 경우로서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해당 외국법인과 다음 각 목의 어느 하나에 해당하는 관계를 수립하는 것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임원의 파견</a:t>
                      </a:r>
                      <a:endParaRPr lang="ko-KR" altLang="en-US" sz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나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계약기간이 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년 이상인 원자재 또는 제품의 매매계약의 체결</a:t>
                      </a:r>
                      <a:endParaRPr lang="ko-KR" altLang="en-US" sz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다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기술의 </a:t>
                      </a:r>
                      <a:r>
                        <a:rPr lang="ko-KR" altLang="en-US" sz="12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제공ㆍ도입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또는 공동연구개발계약의 체결</a:t>
                      </a:r>
                      <a:endParaRPr lang="ko-KR" altLang="en-US" sz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라</a:t>
                      </a:r>
                      <a:r>
                        <a:rPr lang="en-US" altLang="ko-KR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해외건설 및 산업설비공사를 수주하는 계약의 체결</a:t>
                      </a:r>
                      <a:endParaRPr lang="ko-KR" altLang="en-US" sz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호 또는 제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호에 따라 </a:t>
                      </a: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이미 투자한 외국법인의 주식 또는 출자지분을 추가로 취득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하는 것</a:t>
                      </a:r>
                    </a:p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호부터 제</a:t>
                      </a:r>
                      <a:r>
                        <a:rPr lang="en-US" altLang="ko-KR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호까지의 규정에 따라 외국법인에 투자한 거주자가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해당 외국법인에 대하여 상환기간을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년 이상으로 하여 금전을 대여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하는 </a:t>
                      </a:r>
                      <a:r>
                        <a:rPr lang="ko-KR" altLang="en-US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것 </a:t>
                      </a:r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대부투자</a:t>
                      </a:r>
                      <a:r>
                        <a:rPr lang="en-US" altLang="ko-KR" sz="12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49091" marR="49091" marT="13572" marB="13572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해외직접투자 신고의무 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22" name="Rectangle 7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866" y="2276872"/>
            <a:ext cx="8424614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Text Box 27"/>
          <p:cNvSpPr txBox="1">
            <a:spLocks noChangeArrowheads="1"/>
          </p:cNvSpPr>
          <p:nvPr/>
        </p:nvSpPr>
        <p:spPr bwMode="auto">
          <a:xfrm>
            <a:off x="363538" y="2104950"/>
            <a:ext cx="8169275" cy="1396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58775" lvl="2" algn="just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defRPr/>
            </a:pPr>
            <a:endParaRPr lang="ko-KR" altLang="en-US" sz="9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39552" y="2311712"/>
            <a:ext cx="8280920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거주자가 해외직접투자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증액투자를 포함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를 하고자 하는 경우 지정거래외국환은행장에게 신고하여야 함</a:t>
            </a:r>
            <a:endParaRPr lang="en-US" altLang="ko-KR" sz="15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ko-KR" altLang="en-US" sz="5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단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이미 투자한 외국법인이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  <a:ea typeface="+mn-ea"/>
              </a:rPr>
              <a:t>자체이익유보금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 또는 자본잉여금으로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  <a:ea typeface="+mn-ea"/>
              </a:rPr>
              <a:t>증액투자하는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 경우로서 거주자가 최대주주가 아닌 경우에는 사후에 보고할 수 있으며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누적 투자금액이 미화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50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만불 이내에서의 투자의 경우에는 투자금의 지급이 있은 날로부터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개월 이내에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  <a:ea typeface="+mn-ea"/>
              </a:rPr>
              <a:t>사후보고할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 수 있음</a:t>
            </a:r>
          </a:p>
          <a:p>
            <a:endParaRPr lang="ko-KR" altLang="en-US" sz="15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31" name="Group 6"/>
          <p:cNvGrpSpPr>
            <a:grpSpLocks/>
          </p:cNvGrpSpPr>
          <p:nvPr/>
        </p:nvGrpSpPr>
        <p:grpSpPr bwMode="auto">
          <a:xfrm>
            <a:off x="395536" y="3950419"/>
            <a:ext cx="3960440" cy="486693"/>
            <a:chOff x="-273" y="368"/>
            <a:chExt cx="4238" cy="512"/>
          </a:xfrm>
        </p:grpSpPr>
        <p:grpSp>
          <p:nvGrpSpPr>
            <p:cNvPr id="32" name="Group 7"/>
            <p:cNvGrpSpPr>
              <a:grpSpLocks/>
            </p:cNvGrpSpPr>
            <p:nvPr/>
          </p:nvGrpSpPr>
          <p:grpSpPr bwMode="auto">
            <a:xfrm>
              <a:off x="-273" y="368"/>
              <a:ext cx="4089" cy="512"/>
              <a:chOff x="476" y="1026"/>
              <a:chExt cx="3765" cy="544"/>
            </a:xfrm>
          </p:grpSpPr>
          <p:sp>
            <p:nvSpPr>
              <p:cNvPr id="34" name="AutoShape 8"/>
              <p:cNvSpPr>
                <a:spLocks noChangeArrowheads="1"/>
              </p:cNvSpPr>
              <p:nvPr/>
            </p:nvSpPr>
            <p:spPr bwMode="auto">
              <a:xfrm rot="5400000">
                <a:off x="2087" y="-583"/>
                <a:ext cx="544" cy="376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AEAEA"/>
                  </a:gs>
                  <a:gs pos="100000">
                    <a:srgbClr val="B2B2B2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5" name="AutoShape 9"/>
              <p:cNvSpPr>
                <a:spLocks noChangeArrowheads="1"/>
              </p:cNvSpPr>
              <p:nvPr/>
            </p:nvSpPr>
            <p:spPr bwMode="auto">
              <a:xfrm rot="5400000">
                <a:off x="2156" y="-461"/>
                <a:ext cx="403" cy="351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666666"/>
                  </a:gs>
                  <a:gs pos="100000">
                    <a:srgbClr val="FFFFFF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  <a:effectLst>
                <a:prstShdw prst="shdw17" dist="17961" dir="13500000">
                  <a:srgbClr val="999999"/>
                </a:prstShdw>
              </a:effectLst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37" name="AutoShape 10"/>
              <p:cNvSpPr>
                <a:spLocks noChangeArrowheads="1"/>
              </p:cNvSpPr>
              <p:nvPr/>
            </p:nvSpPr>
            <p:spPr bwMode="auto">
              <a:xfrm rot="5400000">
                <a:off x="2178" y="-425"/>
                <a:ext cx="360" cy="344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9933"/>
                  </a:gs>
                  <a:gs pos="50000">
                    <a:srgbClr val="FFD6AD"/>
                  </a:gs>
                  <a:gs pos="100000">
                    <a:srgbClr val="FF9933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  <a:effectLst>
                <a:prstShdw prst="shdw17" dist="17961" dir="13500000">
                  <a:srgbClr val="995C1F"/>
                </a:prstShdw>
              </a:effectLst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33" name="Rectangle 11"/>
            <p:cNvSpPr>
              <a:spLocks noChangeArrowheads="1"/>
            </p:cNvSpPr>
            <p:nvPr/>
          </p:nvSpPr>
          <p:spPr bwMode="auto">
            <a:xfrm flipH="1">
              <a:off x="-50" y="452"/>
              <a:ext cx="4015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99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dirty="0" smtClean="0">
                  <a:solidFill>
                    <a:schemeClr val="tx1"/>
                  </a:solidFill>
                </a:rPr>
                <a:t>변경신고의무  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dirty="0" err="1" smtClean="0">
                  <a:solidFill>
                    <a:schemeClr val="tx1"/>
                  </a:solidFill>
                </a:rPr>
                <a:t>규정제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9-5</a:t>
              </a:r>
              <a:r>
                <a:rPr lang="ko-KR" altLang="en-US" dirty="0" smtClean="0">
                  <a:solidFill>
                    <a:schemeClr val="tx1"/>
                  </a:solidFill>
                </a:rPr>
                <a:t>조 ②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39" name="Rectangle 7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581128"/>
            <a:ext cx="8424614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" name="직사각형 39"/>
          <p:cNvSpPr/>
          <p:nvPr/>
        </p:nvSpPr>
        <p:spPr>
          <a:xfrm>
            <a:off x="539552" y="4658360"/>
            <a:ext cx="8352928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해외직접투자와 관련하여 이미 신고한 내용을 변경하고자 하는 경우 지정거래외국환은행장에게 변경신고를 하여야 함</a:t>
            </a:r>
            <a:endParaRPr lang="en-US" altLang="ko-KR" sz="15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endParaRPr lang="ko-KR" altLang="en-US" sz="5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다만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, ①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투자자의 상호･대표자･소재지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  <a:ea typeface="+mn-ea"/>
              </a:rPr>
              <a:t>현지법인명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현지법인의 소재지를 변경한 경우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, ②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투자자의 합병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·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분할에 의한 투자주체 변경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, ③ 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현지의 예상치 못한 사정이나 경영상 급박한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  <a:ea typeface="+mn-ea"/>
              </a:rPr>
              <a:t>사정등으로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 사전에 제출한 사업계획을 사전신고 후 변경하는 것이 적절치 않은 경우로서 추가 투자금액을 필요로 하지 않는 경우에는 변경사유가 발생한 후 </a:t>
            </a:r>
            <a:r>
              <a:rPr lang="en-US" altLang="ko-KR" sz="1500" dirty="0" smtClean="0">
                <a:solidFill>
                  <a:schemeClr val="tx1"/>
                </a:solidFill>
                <a:latin typeface="+mn-ea"/>
                <a:ea typeface="+mn-ea"/>
              </a:rPr>
              <a:t>3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개월 이내에 </a:t>
            </a:r>
            <a:r>
              <a:rPr lang="ko-KR" altLang="en-US" sz="1500" dirty="0" err="1" smtClean="0">
                <a:solidFill>
                  <a:schemeClr val="tx1"/>
                </a:solidFill>
                <a:latin typeface="+mn-ea"/>
                <a:ea typeface="+mn-ea"/>
              </a:rPr>
              <a:t>사후보고할</a:t>
            </a:r>
            <a:r>
              <a:rPr lang="ko-KR" altLang="en-US" sz="1500" dirty="0" smtClean="0">
                <a:solidFill>
                  <a:schemeClr val="tx1"/>
                </a:solidFill>
                <a:latin typeface="+mn-ea"/>
                <a:ea typeface="+mn-ea"/>
              </a:rPr>
              <a:t> 수 있음</a:t>
            </a:r>
          </a:p>
          <a:p>
            <a:endParaRPr lang="ko-KR" altLang="en-US" sz="15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42" name="Group 6"/>
          <p:cNvGrpSpPr>
            <a:grpSpLocks/>
          </p:cNvGrpSpPr>
          <p:nvPr/>
        </p:nvGrpSpPr>
        <p:grpSpPr bwMode="auto">
          <a:xfrm>
            <a:off x="323528" y="1628800"/>
            <a:ext cx="4032448" cy="486693"/>
            <a:chOff x="-273" y="368"/>
            <a:chExt cx="4238" cy="512"/>
          </a:xfrm>
        </p:grpSpPr>
        <p:grpSp>
          <p:nvGrpSpPr>
            <p:cNvPr id="43" name="Group 7"/>
            <p:cNvGrpSpPr>
              <a:grpSpLocks/>
            </p:cNvGrpSpPr>
            <p:nvPr/>
          </p:nvGrpSpPr>
          <p:grpSpPr bwMode="auto">
            <a:xfrm>
              <a:off x="-273" y="368"/>
              <a:ext cx="4089" cy="512"/>
              <a:chOff x="476" y="1026"/>
              <a:chExt cx="3765" cy="544"/>
            </a:xfrm>
          </p:grpSpPr>
          <p:sp>
            <p:nvSpPr>
              <p:cNvPr id="45" name="AutoShape 8"/>
              <p:cNvSpPr>
                <a:spLocks noChangeArrowheads="1"/>
              </p:cNvSpPr>
              <p:nvPr/>
            </p:nvSpPr>
            <p:spPr bwMode="auto">
              <a:xfrm rot="5400000">
                <a:off x="2087" y="-583"/>
                <a:ext cx="544" cy="376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EAEAEA"/>
                  </a:gs>
                  <a:gs pos="100000">
                    <a:srgbClr val="B2B2B2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6" name="AutoShape 9"/>
              <p:cNvSpPr>
                <a:spLocks noChangeArrowheads="1"/>
              </p:cNvSpPr>
              <p:nvPr/>
            </p:nvSpPr>
            <p:spPr bwMode="auto">
              <a:xfrm rot="5400000">
                <a:off x="2156" y="-461"/>
                <a:ext cx="403" cy="351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666666"/>
                  </a:gs>
                  <a:gs pos="100000">
                    <a:srgbClr val="FFFFFF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  <a:effectLst>
                <a:prstShdw prst="shdw17" dist="17961" dir="13500000">
                  <a:srgbClr val="999999"/>
                </a:prstShdw>
              </a:effectLst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47" name="AutoShape 10"/>
              <p:cNvSpPr>
                <a:spLocks noChangeArrowheads="1"/>
              </p:cNvSpPr>
              <p:nvPr/>
            </p:nvSpPr>
            <p:spPr bwMode="auto">
              <a:xfrm rot="5400000">
                <a:off x="2178" y="-425"/>
                <a:ext cx="360" cy="344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FF9933"/>
                  </a:gs>
                  <a:gs pos="50000">
                    <a:srgbClr val="FFD6AD"/>
                  </a:gs>
                  <a:gs pos="100000">
                    <a:srgbClr val="FF9933"/>
                  </a:gs>
                </a:gsLst>
                <a:lin ang="0" scaled="1"/>
              </a:gradFill>
              <a:ln w="28575">
                <a:noFill/>
                <a:round/>
                <a:headEnd/>
                <a:tailEnd/>
              </a:ln>
              <a:effectLst>
                <a:prstShdw prst="shdw17" dist="17961" dir="13500000">
                  <a:srgbClr val="995C1F"/>
                </a:prstShdw>
              </a:effectLst>
            </p:spPr>
            <p:txBody>
              <a:bodyPr rot="10800000" vert="eaVert" wrap="none" anchor="ctr"/>
              <a:lstStyle/>
              <a:p>
                <a:pPr>
                  <a:defRPr/>
                </a:pPr>
                <a:endParaRPr lang="ko-KR" altLang="ko-KR" sz="3000" b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44" name="Rectangle 11"/>
            <p:cNvSpPr>
              <a:spLocks noChangeArrowheads="1"/>
            </p:cNvSpPr>
            <p:nvPr/>
          </p:nvSpPr>
          <p:spPr bwMode="auto">
            <a:xfrm flipH="1">
              <a:off x="-50" y="452"/>
              <a:ext cx="4015" cy="3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17961" dir="2700000" algn="ctr" rotWithShape="0">
                <a:srgbClr val="FF99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dirty="0" smtClean="0">
                  <a:solidFill>
                    <a:schemeClr val="tx1"/>
                  </a:solidFill>
                </a:rPr>
                <a:t>신규신고의무  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dirty="0" err="1" smtClean="0">
                  <a:solidFill>
                    <a:schemeClr val="tx1"/>
                  </a:solidFill>
                </a:rPr>
                <a:t>규정제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9-5</a:t>
              </a:r>
              <a:r>
                <a:rPr lang="ko-KR" altLang="en-US" dirty="0" smtClean="0">
                  <a:solidFill>
                    <a:schemeClr val="tx1"/>
                  </a:solidFill>
                </a:rPr>
                <a:t>조 ①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해외직접투자 변경신고 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 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6588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pic>
        <p:nvPicPr>
          <p:cNvPr id="22" name="Rectangle 7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484784"/>
            <a:ext cx="8784976" cy="52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직사각형 22"/>
          <p:cNvSpPr/>
          <p:nvPr/>
        </p:nvSpPr>
        <p:spPr>
          <a:xfrm>
            <a:off x="395536" y="1556792"/>
            <a:ext cx="8352928" cy="334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•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투자내용의 변경</a:t>
            </a:r>
          </a:p>
          <a:p>
            <a:pPr marL="0" marR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현지법인의 자회사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·</a:t>
            </a:r>
            <a:r>
              <a:rPr lang="ko-KR" altLang="en-US" sz="1400" dirty="0" err="1" smtClean="0">
                <a:solidFill>
                  <a:schemeClr val="tx1"/>
                </a:solidFill>
                <a:latin typeface="+mn-ea"/>
                <a:ea typeface="+mn-ea"/>
              </a:rPr>
              <a:t>손회사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 설립</a:t>
            </a:r>
          </a:p>
          <a:p>
            <a:pPr marL="0" marR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-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현지법인에 대한 해외직접투자자의 </a:t>
            </a:r>
            <a:r>
              <a:rPr lang="ko-KR" altLang="en-US" sz="1400" dirty="0" err="1" smtClean="0">
                <a:solidFill>
                  <a:schemeClr val="tx1"/>
                </a:solidFill>
                <a:latin typeface="+mn-ea"/>
                <a:ea typeface="+mn-ea"/>
              </a:rPr>
              <a:t>지분율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 변동</a:t>
            </a:r>
          </a:p>
          <a:p>
            <a:pPr marL="0" marR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 smtClean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대부투자신고 후 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년 이내 자금회수</a:t>
            </a:r>
            <a:r>
              <a:rPr lang="ko-KR" altLang="en-US" sz="1400" baseline="30000" dirty="0" smtClean="0">
                <a:solidFill>
                  <a:schemeClr val="tx1"/>
                </a:solidFill>
                <a:latin typeface="+mn-ea"/>
                <a:ea typeface="+mn-ea"/>
              </a:rPr>
              <a:t>*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해외직접투자자의 회생절차 등 신고기관의 장이 불가피하다고 인정하는 경우에 한하여 가능하며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내용변경신고로 처리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ko-KR" altLang="en-US" sz="14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marR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0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marL="0" marR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•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투자주체의 변경</a:t>
            </a:r>
          </a:p>
          <a:p>
            <a:pPr marL="0" marR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거주자간 해외투자법인에 대한 지분 </a:t>
            </a:r>
            <a:r>
              <a:rPr lang="ko-KR" altLang="en-US" sz="1400" dirty="0" err="1" smtClean="0">
                <a:solidFill>
                  <a:schemeClr val="tx1"/>
                </a:solidFill>
                <a:latin typeface="+mn-ea"/>
                <a:ea typeface="+mn-ea"/>
              </a:rPr>
              <a:t>양수도를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 하는 경우 양수인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신규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)‧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양도인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변경</a:t>
            </a:r>
            <a:r>
              <a:rPr lang="en-US" altLang="ko-KR" sz="1400" dirty="0" smtClean="0">
                <a:solidFill>
                  <a:schemeClr val="tx1"/>
                </a:solidFill>
                <a:latin typeface="+mn-ea"/>
                <a:ea typeface="+mn-ea"/>
              </a:rPr>
              <a:t>)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모두 신고해야 함</a:t>
            </a:r>
            <a:endParaRPr lang="en-US" altLang="ko-KR" sz="14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8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dirty="0" smtClean="0">
                <a:solidFill>
                  <a:schemeClr val="tx1"/>
                </a:solidFill>
                <a:latin typeface="+mn-ea"/>
                <a:ea typeface="+mn-ea"/>
              </a:rPr>
              <a:t>• </a:t>
            </a:r>
            <a:r>
              <a:rPr lang="ko-KR" altLang="en-US" sz="1400" dirty="0" smtClean="0">
                <a:solidFill>
                  <a:schemeClr val="tx1"/>
                </a:solidFill>
                <a:latin typeface="+mn-ea"/>
                <a:ea typeface="+mn-ea"/>
              </a:rPr>
              <a:t>현지법인의 자본증감에 따른 신고의무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611558" y="4797155"/>
          <a:ext cx="8064897" cy="1778496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148597"/>
                <a:gridCol w="3458150"/>
                <a:gridCol w="3458150"/>
              </a:tblGrid>
              <a:tr h="27649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유상증자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주주배정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latin typeface="+mn-ea"/>
                          <a:ea typeface="+mn-ea"/>
                        </a:rPr>
                        <a:t>규정 </a:t>
                      </a:r>
                      <a:r>
                        <a:rPr lang="en-US" altLang="ko-KR" sz="1100" b="1">
                          <a:latin typeface="+mn-ea"/>
                          <a:ea typeface="+mn-ea"/>
                        </a:rPr>
                        <a:t>§9-5①</a:t>
                      </a:r>
                      <a:r>
                        <a:rPr lang="ko-KR" altLang="en-US" sz="1100" b="1">
                          <a:latin typeface="+mn-ea"/>
                          <a:ea typeface="+mn-ea"/>
                        </a:rPr>
                        <a:t>에 따른 신규 해외직접투자 신고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</a:tr>
              <a:tr h="6290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100" b="1" dirty="0" err="1">
                          <a:latin typeface="+mn-ea"/>
                          <a:ea typeface="+mn-ea"/>
                        </a:rPr>
                        <a:t>자배정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규정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§9-5②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에 따른 해외직접투자 변경신고</a:t>
                      </a:r>
                    </a:p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(∵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투자자금의 </a:t>
                      </a:r>
                      <a:r>
                        <a:rPr lang="ko-KR" altLang="en-US" sz="1100" b="1" dirty="0" err="1">
                          <a:latin typeface="+mn-ea"/>
                          <a:ea typeface="+mn-ea"/>
                        </a:rPr>
                        <a:t>변동없이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현지법인에 대한 </a:t>
                      </a:r>
                      <a:r>
                        <a:rPr lang="ko-KR" altLang="en-US" sz="1100" b="1" dirty="0" err="1">
                          <a:latin typeface="+mn-ea"/>
                          <a:ea typeface="+mn-ea"/>
                        </a:rPr>
                        <a:t>지분율만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 변동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</a:tr>
              <a:tr h="26412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latin typeface="+mn-ea"/>
                          <a:ea typeface="+mn-ea"/>
                        </a:rPr>
                        <a:t>무상증자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자본전입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잉여금→자본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규정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§9-5①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에 따른 신규 해외직접투자 신고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</a:tr>
              <a:tr h="2641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>
                          <a:latin typeface="+mn-ea"/>
                          <a:ea typeface="+mn-ea"/>
                        </a:rPr>
                        <a:t>출자전환</a:t>
                      </a:r>
                      <a:r>
                        <a:rPr lang="en-US" altLang="ko-KR" sz="11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>
                          <a:latin typeface="+mn-ea"/>
                          <a:ea typeface="+mn-ea"/>
                        </a:rPr>
                        <a:t>부채→자본</a:t>
                      </a:r>
                      <a:r>
                        <a:rPr lang="en-US" altLang="ko-KR" sz="1100" b="1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규정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§9-5②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에 따른 해외직접투자 변경신고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</a:tr>
              <a:tr h="2943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기타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주식병합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주식분할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감자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자산재평가 등 </a:t>
                      </a:r>
                      <a:r>
                        <a:rPr lang="en-US" altLang="ko-KR" sz="1100" b="1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100" b="1" dirty="0">
                          <a:latin typeface="+mn-ea"/>
                          <a:ea typeface="+mn-ea"/>
                        </a:rPr>
                        <a:t>변경신고사항</a:t>
                      </a:r>
                      <a:endParaRPr lang="ko-KR" altLang="en-US" sz="11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6262" marR="46262" marT="12790" marB="127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505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현지법인의 자회사 및 손자회사의 </a:t>
              </a:r>
              <a:r>
                <a:rPr lang="ko-KR" altLang="en-US" sz="2200" kern="0" dirty="0" err="1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설립등에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관한 변경신고  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/>
        </p:nvGraphicFramePr>
        <p:xfrm>
          <a:off x="755576" y="1841172"/>
          <a:ext cx="7560840" cy="4612164"/>
        </p:xfrm>
        <a:graphic>
          <a:graphicData uri="http://schemas.openxmlformats.org/drawingml/2006/table">
            <a:tbl>
              <a:tblPr/>
              <a:tblGrid>
                <a:gridCol w="1271865"/>
                <a:gridCol w="426365"/>
                <a:gridCol w="944575"/>
                <a:gridCol w="1299140"/>
                <a:gridCol w="971849"/>
                <a:gridCol w="1299140"/>
                <a:gridCol w="840490"/>
                <a:gridCol w="507416"/>
              </a:tblGrid>
              <a:tr h="370221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14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설립시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: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거주자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설립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현지법인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설립</a:t>
                      </a: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자회사</a:t>
                      </a:r>
                    </a:p>
                  </a:txBody>
                  <a:tcPr marL="55947" marR="55947" marT="27973" marB="27973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5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02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미화 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만불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미화 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만불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290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algn="just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➡ 신규신고 및 자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4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손회사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관련 변경신고 의무 발생</a:t>
                      </a: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022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algn="just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0221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② 투자증액 </a:t>
                      </a:r>
                      <a:r>
                        <a:rPr lang="en-US" altLang="ko-KR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:</a:t>
                      </a: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거주자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설립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현지법인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증액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자회사</a:t>
                      </a:r>
                    </a:p>
                  </a:txBody>
                  <a:tcPr marL="55947" marR="55947" marT="27973" marB="27973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5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02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미화 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만불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미화 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만불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0484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➡ ’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13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년 규정개정을 통해 현지법인의 자회사에 대한 투자금액 변경에 대한 신고의무 신설</a:t>
                      </a: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0221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0221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③ 청산 </a:t>
                      </a:r>
                      <a:r>
                        <a:rPr lang="en-US" altLang="ko-KR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:</a:t>
                      </a: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거주자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설립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현지법인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청산</a:t>
                      </a: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자회사</a:t>
                      </a:r>
                    </a:p>
                  </a:txBody>
                  <a:tcPr marL="55947" marR="55947" marT="27973" marB="27973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5F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3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02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미화 </a:t>
                      </a:r>
                      <a:r>
                        <a:rPr lang="en-US" altLang="ko-KR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만불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미화 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102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만불</a:t>
                      </a:r>
                    </a:p>
                  </a:txBody>
                  <a:tcPr marL="55947" marR="55947" marT="27973" marB="2797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0484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➡ ’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13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년 규정개정을 통해 현지법인의 자회사의 청산에 대한 신고의무 신설</a:t>
                      </a:r>
                    </a:p>
                  </a:txBody>
                  <a:tcPr marL="55947" marR="55947" marT="27973" marB="27973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793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현지법인의 지분 무상취득 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6998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27" name="표 26"/>
          <p:cNvGraphicFramePr>
            <a:graphicFrameLocks noGrp="1"/>
          </p:cNvGraphicFramePr>
          <p:nvPr/>
        </p:nvGraphicFramePr>
        <p:xfrm>
          <a:off x="467544" y="1772816"/>
          <a:ext cx="8352928" cy="4411367"/>
        </p:xfrm>
        <a:graphic>
          <a:graphicData uri="http://schemas.openxmlformats.org/drawingml/2006/table">
            <a:tbl>
              <a:tblPr/>
              <a:tblGrid>
                <a:gridCol w="1512439"/>
                <a:gridCol w="6840489"/>
              </a:tblGrid>
              <a:tr h="1604759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</a:p>
                  </a:txBody>
                  <a:tcPr marL="10568" marR="10568" marT="10568" marB="10568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㈜○○○는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´12.10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외국환은행장에게 해외직접투자 신고 후 러시아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현지법인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지분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(51%)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을 취득하였으나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14.6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외국환은행장 앞 해외직접투자 신고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없이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동 현지법인의 지분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20%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를 공동투자자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비거주자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로부터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무상취득하였음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568" marR="10568" marT="10568" marB="10568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596903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568" marR="10568" marT="10568" marB="10568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거래당사자는 국내에서의 송금이 없더라도 현지법인의 지분 취득 이전에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해외직접투자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사전신고 필요</a:t>
                      </a:r>
                    </a:p>
                  </a:txBody>
                  <a:tcPr marL="10568" marR="10568" marT="10568" marB="10568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876018">
                <a:tc>
                  <a:txBody>
                    <a:bodyPr/>
                    <a:lstStyle/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은행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사항</a:t>
                      </a:r>
                    </a:p>
                  </a:txBody>
                  <a:tcPr marL="10568" marR="10568" marT="10568" marB="10568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해외직접투자와 관련한 모든 신고절차는 사전신고가 원칙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사전신고의무를 누락한 경우에는 제재기관의 제재를 받은 후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신고기관에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사후신고를 할 수 있음을 안내</a:t>
                      </a:r>
                    </a:p>
                  </a:txBody>
                  <a:tcPr marL="10568" marR="10568" marT="10568" marB="10568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398885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568" marR="10568" marT="10568" marB="10568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9-5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568" marR="10568" marT="10568" marB="10568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802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2</a:t>
              </a:r>
              <a:r>
                <a:rPr lang="ko-KR" altLang="en-US" sz="2200" kern="0" dirty="0" err="1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인이상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공동 해외직접투자 지분 합계 </a:t>
              </a: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10%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이상 연명신고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6998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02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251520" y="1677077"/>
          <a:ext cx="8712968" cy="4920275"/>
        </p:xfrm>
        <a:graphic>
          <a:graphicData uri="http://schemas.openxmlformats.org/drawingml/2006/table">
            <a:tbl>
              <a:tblPr/>
              <a:tblGrid>
                <a:gridCol w="792088"/>
                <a:gridCol w="7920880"/>
              </a:tblGrid>
              <a:tr h="1392471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en-US" altLang="ko-KR" sz="13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  <a:endParaRPr lang="ko-KR" altLang="en-US" sz="13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825" marR="8825" marT="8825" marB="882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동일 계열소속 ㈜○○○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㈜△△△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㈜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□□□ 등 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개사는 공동으로 취득하는 현지법인 투자지분 합계가 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10%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이상에 해당하여 외국환은행장 앞 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개사의 연명 신고사항임에도 </a:t>
                      </a: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불구하고</a:t>
                      </a:r>
                      <a:endParaRPr lang="en-US" altLang="ko-KR" sz="13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10.4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~’11</a:t>
                      </a:r>
                      <a:r>
                        <a:rPr lang="ko-KR" altLang="en-US" sz="13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월중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각각 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200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~400</a:t>
                      </a:r>
                      <a:r>
                        <a:rPr lang="ko-KR" altLang="en-US" sz="13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중국소재 현지법인에 투자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투자지분은 모두 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10%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미만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하는 내용의 해외직접투자 신고를 개별적으로 각각 외국환은행에 신고함</a:t>
                      </a:r>
                    </a:p>
                  </a:txBody>
                  <a:tcPr marL="8825" marR="8825" marT="8825" marB="882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115064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거래</a:t>
                      </a:r>
                      <a:endParaRPr lang="ko-KR" altLang="en-US" sz="13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3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3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825" marR="8825" marT="8825" marB="882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거래당사자는 개별 투자지분이 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10%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미만이더라도 </a:t>
                      </a:r>
                      <a:r>
                        <a:rPr lang="ko-KR" altLang="en-US" sz="13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공동투자한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투자지분 합계가 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10%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이상인 경우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endParaRPr lang="en-US" altLang="ko-KR" sz="13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최다출자자가 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외국환은행장 앞 연명하여 해외직접투자 </a:t>
                      </a:r>
                      <a:r>
                        <a:rPr lang="ko-KR" altLang="en-US" sz="13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사전신고해야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함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연명신고 대상이 아닐 경우에는 한국은행총재 앞 외화증권취득 신고 필요</a:t>
                      </a:r>
                    </a:p>
                  </a:txBody>
                  <a:tcPr marL="8825" marR="8825" marT="8825" marB="882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681840">
                <a:tc>
                  <a:txBody>
                    <a:bodyPr/>
                    <a:lstStyle/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은행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사항</a:t>
                      </a:r>
                    </a:p>
                  </a:txBody>
                  <a:tcPr marL="8825" marR="8825" marT="8825" marB="882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해외직접투자 연명 신고수리 심사과정에서 당해 건이 </a:t>
                      </a: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해외직접투자에 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해당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전체 투자비율 합계 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10%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이상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되는지 여부를 확인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합산 투자비율이 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10%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미만인 경우에는 외화증권취득거래에 해당되어 한국은행총재 앞 </a:t>
                      </a: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신고사항 안내</a:t>
                      </a:r>
                      <a:endParaRPr lang="ko-KR" altLang="en-US" sz="13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•2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인 이상의 공동 투자로서 총 투자비율 합계가 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10%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이상인 경우 투자비율이 </a:t>
                      </a: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가장 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높은 거주자가 </a:t>
                      </a:r>
                      <a:endParaRPr lang="en-US" altLang="ko-KR" sz="13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연명으로 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신고를 해야 함을 안내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해외직접투자 요건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투자비율 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10%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이상 등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숙지</a:t>
                      </a:r>
                    </a:p>
                  </a:txBody>
                  <a:tcPr marL="8825" marR="8825" marT="8825" marB="882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419138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3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3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825" marR="8825" marT="8825" marB="882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「외국환거래규정」제</a:t>
                      </a:r>
                      <a:r>
                        <a:rPr lang="en-US" altLang="ko-KR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9-5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8825" marR="8825" marT="8825" marB="882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007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해외직접투자금액 </a:t>
              </a:r>
              <a:r>
                <a:rPr lang="ko-KR" altLang="en-US" sz="2200" kern="0" dirty="0" err="1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납입후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지분취득 </a:t>
              </a:r>
              <a:r>
                <a:rPr lang="ko-KR" altLang="en-US" sz="2200" kern="0" dirty="0" err="1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미이행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6998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02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323528" y="1772816"/>
          <a:ext cx="8496944" cy="4808137"/>
        </p:xfrm>
        <a:graphic>
          <a:graphicData uri="http://schemas.openxmlformats.org/drawingml/2006/table">
            <a:tbl>
              <a:tblPr/>
              <a:tblGrid>
                <a:gridCol w="970938"/>
                <a:gridCol w="7526006"/>
              </a:tblGrid>
              <a:tr h="1103045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내역</a:t>
                      </a:r>
                    </a:p>
                  </a:txBody>
                  <a:tcPr marL="8941" marR="8941" marT="8941" marB="894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㈜○○○는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'10.4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현지기업과 합작사 설립 목적으로 외국환은행장에게 해외직접투자 신고 후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송금하였으나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합작사 설립이 무산되어 지분취득을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미이행하였음에도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변경신고를 하지 않음</a:t>
                      </a:r>
                    </a:p>
                  </a:txBody>
                  <a:tcPr marL="8941" marR="8941" marT="8941" marB="894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368544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941" marR="8941" marT="8941" marB="894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거래당사자는 해외직접투자 신고 후 투자금액을 송금한 경우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투자금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납입 후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개월 이내에 외국환은행장에게 외화증권취득사실을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보고해야 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해외직접투자자 명의로 지분취득이 이행되지 않은 경우 해외직접투자 변경신고 한 후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투자금을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회수</a:t>
                      </a:r>
                    </a:p>
                  </a:txBody>
                  <a:tcPr marL="8941" marR="8941" marT="8941" marB="894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611928">
                <a:tc>
                  <a:txBody>
                    <a:bodyPr/>
                    <a:lstStyle/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은행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사항</a:t>
                      </a:r>
                    </a:p>
                  </a:txBody>
                  <a:tcPr marL="8941" marR="8941" marT="8941" marB="894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해외직접투자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사전신고시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일정기간경과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(6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후에도 외화증권취득을 이행하지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못한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경우 관련법규 위반임을 안내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해외직접투자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사후관리시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최초 신고한 내용대로 지분이 취득되었는지를 확인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기한 내 외화증권취득을 보고받지 못한 경우 이행을 독촉</a:t>
                      </a:r>
                    </a:p>
                  </a:txBody>
                  <a:tcPr marL="8941" marR="8941" marT="8941" marB="894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594381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941" marR="8941" marT="8941" marB="894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9-5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9-9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8941" marR="8941" marT="8941" marB="894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9456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해외현지법인에 대한 현물출자 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6998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02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539552" y="1940436"/>
          <a:ext cx="8064896" cy="4008844"/>
        </p:xfrm>
        <a:graphic>
          <a:graphicData uri="http://schemas.openxmlformats.org/drawingml/2006/table">
            <a:tbl>
              <a:tblPr/>
              <a:tblGrid>
                <a:gridCol w="872202"/>
                <a:gridCol w="7192694"/>
              </a:tblGrid>
              <a:tr h="961780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내역</a:t>
                      </a:r>
                    </a:p>
                  </a:txBody>
                  <a:tcPr marL="10375" marR="10375" marT="10375" marB="1037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㈜○○○는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'13.2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월∼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'13.4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월중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차례에 걸쳐 중국에서 기계장치를 구매한 후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외국환은행장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앞 해외직접투자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신고없이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베트남 소재 현지법인에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현물출자하였음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375" marR="10375" marT="10375" marB="1037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088495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375" marR="10375" marT="10375" marB="1037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현금투자액 뿐만 아니라 현물출자도 사전신고 대상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부득이 무역거래를 통해 현지 수출한 현물을 출자할 경우에도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자본전입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이전에 외국환은행장 앞 신고</a:t>
                      </a:r>
                    </a:p>
                  </a:txBody>
                  <a:tcPr marL="10375" marR="10375" marT="10375" marB="1037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252019">
                <a:tc>
                  <a:txBody>
                    <a:bodyPr/>
                    <a:lstStyle/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은행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사항</a:t>
                      </a:r>
                    </a:p>
                  </a:txBody>
                  <a:tcPr marL="10375" marR="10375" marT="10375" marB="1037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송금금액과 지분취득금액이 불일치할 경우 불일치사유를 확인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외국환은행장 앞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신고없이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현물투자 등이 이루어진 경우에는 관련 법규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위반안내 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375" marR="10375" marT="10375" marB="1037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647526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375" marR="10375" marT="10375" marB="1037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9-5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375" marR="10375" marT="10375" marB="10375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9251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신고내용과 다른 해외직접투자 실시 변경신고누락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6998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02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467544" y="1858680"/>
          <a:ext cx="8352928" cy="4378632"/>
        </p:xfrm>
        <a:graphic>
          <a:graphicData uri="http://schemas.openxmlformats.org/drawingml/2006/table">
            <a:tbl>
              <a:tblPr/>
              <a:tblGrid>
                <a:gridCol w="1008112"/>
                <a:gridCol w="7344816"/>
              </a:tblGrid>
              <a:tr h="1152128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위규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내역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marL="10212" marR="10212" marT="10212" marB="1021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㈜○○○는 ‘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13.10.1.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외국환은행장에게 해외현지법인에 지분투자를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한다고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사전신고를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하였으나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신고내용과 달리 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13.10.4. 27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대여금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대부투자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으로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송금하였음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marL="10212" marR="10212" marT="10212" marB="1021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053670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marL="10212" marR="10212" marT="10212" marB="1021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2032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거래당사자는 해외직접투자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사전신고시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투자방법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지분투자 혹은 대부투자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을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2032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명확히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구분하여 신고</a:t>
                      </a:r>
                    </a:p>
                    <a:p>
                      <a:pPr marL="2032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최초에 신고한 내용과 달라진 경우 외국환은행장 앞 사전변경신고 필요</a:t>
                      </a:r>
                    </a:p>
                  </a:txBody>
                  <a:tcPr marL="10212" marR="10212" marT="10212" marB="1021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466610">
                <a:tc>
                  <a:txBody>
                    <a:bodyPr/>
                    <a:lstStyle/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은행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확인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사항</a:t>
                      </a:r>
                    </a:p>
                  </a:txBody>
                  <a:tcPr marL="10212" marR="10212" marT="10212" marB="1021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사후보고서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심사시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송금금액과 지분취득금액이 불일치할 경우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불일치사유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확인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임의로 투자방법을 변경하는 것은 관련 법규 위반임을 안내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금전대여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상환기간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년 이상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를 통한 대부투자는 사전에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지분투자한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해외현지법인에 대해서만 가능함을 안내</a:t>
                      </a:r>
                    </a:p>
                  </a:txBody>
                  <a:tcPr marL="10212" marR="10212" marT="10212" marB="1021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48805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marL="10212" marR="10212" marT="10212" marB="1021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9-5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조</a:t>
                      </a:r>
                    </a:p>
                  </a:txBody>
                  <a:tcPr marL="10212" marR="10212" marT="10212" marB="1021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9046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대부투자의 출자전환 변경신고누락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6998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02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467544" y="1628800"/>
          <a:ext cx="8280920" cy="5068159"/>
        </p:xfrm>
        <a:graphic>
          <a:graphicData uri="http://schemas.openxmlformats.org/drawingml/2006/table">
            <a:tbl>
              <a:tblPr/>
              <a:tblGrid>
                <a:gridCol w="887497"/>
                <a:gridCol w="7393423"/>
              </a:tblGrid>
              <a:tr h="1373890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내역</a:t>
                      </a:r>
                    </a:p>
                  </a:txBody>
                  <a:tcPr marL="8811" marR="8811" marT="8811" marB="88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㈜○○○는 외국환은행장에게 해외직접투자 신고 후 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11.9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베트남 소재 현지법인에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대부투자하였으나</a:t>
                      </a: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12.1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외국환은행장 앞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사전신고하지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않고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대부투자금을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출자전환하였음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811" marR="8811" marT="8811" marB="88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568748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811" marR="8811" marT="8811" marB="88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이미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지분투자한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외국법인에 대하여 상환기간을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년 이상으로 하여 금전을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대여하는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것은 해외직접투자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대부투자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신고사항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현지법인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대부투자금에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대해 자본금으로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출자전환하는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경우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외국환은행장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앞 변경신고를 하여야 함 </a:t>
                      </a:r>
                    </a:p>
                  </a:txBody>
                  <a:tcPr marL="8811" marR="8811" marT="8811" marB="88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411961">
                <a:tc>
                  <a:txBody>
                    <a:bodyPr/>
                    <a:lstStyle/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은행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사항</a:t>
                      </a:r>
                    </a:p>
                  </a:txBody>
                  <a:tcPr marL="8811" marR="8811" marT="8811" marB="88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송금신청서상의 수취인이 해외현지법인인 경우에는 해외직접투자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지분 또는 대부투자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목적의 송금 여부를 확인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송금금액과 지분취득금액이 불일치할 경우 불일치사유를 확인하고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외국환은행장 앞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신고없이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출자전환하는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것은 관련 법규 위반임을 안내</a:t>
                      </a:r>
                    </a:p>
                  </a:txBody>
                  <a:tcPr marL="8811" marR="8811" marT="8811" marB="88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713560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811" marR="8811" marT="8811" marB="88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9-5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8811" marR="8811" marT="8811" marB="881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8841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대부투자에 대한 만기연장 변경신고누락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6998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02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395536" y="1772816"/>
          <a:ext cx="8352928" cy="4621156"/>
        </p:xfrm>
        <a:graphic>
          <a:graphicData uri="http://schemas.openxmlformats.org/drawingml/2006/table">
            <a:tbl>
              <a:tblPr/>
              <a:tblGrid>
                <a:gridCol w="903350"/>
                <a:gridCol w="7449578"/>
              </a:tblGrid>
              <a:tr h="1224136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내역</a:t>
                      </a:r>
                    </a:p>
                  </a:txBody>
                  <a:tcPr marL="10940" marR="10940" marT="10940" marB="1094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○○○는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´10.8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외국환은행장에게 해외직접투자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대부투자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 후 현지법인에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대여하였으나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´12.8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해외직접투자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변경신고없이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대부투자의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만기를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연장</a:t>
                      </a:r>
                    </a:p>
                  </a:txBody>
                  <a:tcPr marL="10940" marR="10940" marT="10940" marB="1094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720080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40" marR="10940" marT="10940" marB="1094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당초 해외직접투자 신고한 내용이 변경될 경우에는 사전에 해외직접투자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변경신고할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필요</a:t>
                      </a:r>
                    </a:p>
                  </a:txBody>
                  <a:tcPr marL="10940" marR="10940" marT="10940" marB="1094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508751">
                <a:tc>
                  <a:txBody>
                    <a:bodyPr/>
                    <a:lstStyle/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은행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사항</a:t>
                      </a:r>
                    </a:p>
                  </a:txBody>
                  <a:tcPr marL="10940" marR="10940" marT="10940" marB="1094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대부투자방식의 해외직접투자 신고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검토시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금전대차계약서상 대부기간과 상환조건을 확인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대부투자의 내용변경은 사전신고사항임을 충분히 안내</a:t>
                      </a:r>
                    </a:p>
                  </a:txBody>
                  <a:tcPr marL="10940" marR="10940" marT="10940" marB="1094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837689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40" marR="10940" marT="10940" marB="1094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9-5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940" marR="10940" marT="10940" marB="1094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8227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err="1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대부투자금에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대한 조기회수 변경신고누락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6998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02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467544" y="1700808"/>
          <a:ext cx="8352928" cy="4940389"/>
        </p:xfrm>
        <a:graphic>
          <a:graphicData uri="http://schemas.openxmlformats.org/drawingml/2006/table">
            <a:tbl>
              <a:tblPr/>
              <a:tblGrid>
                <a:gridCol w="903351"/>
                <a:gridCol w="7449577"/>
              </a:tblGrid>
              <a:tr h="1115707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위규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내역</a:t>
                      </a:r>
                    </a:p>
                  </a:txBody>
                  <a:tcPr marL="8797" marR="8797" marT="8797" marB="879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㈜○○○는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`14.2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월 외국환은행장에게 일본 소재 현지법인에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20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14.3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월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~’16.3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월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(2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년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)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기간 중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대부투자한다고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신고하였으나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,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해외직접투자 변경신고 없이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15.1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월 대부투자금액 중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10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회수하였음</a:t>
                      </a:r>
                    </a:p>
                  </a:txBody>
                  <a:tcPr marL="8797" marR="8797" marT="8797" marB="879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016110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marL="8797" marR="8797" marT="8797" marB="879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대부투자는 외국법인에 대하여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년 이상 금전을 대여하는 경우에만 가능하므로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특별한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사유</a:t>
                      </a:r>
                      <a:r>
                        <a:rPr lang="ko-KR" altLang="en-US" sz="1500" b="1" baseline="30000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*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제외하고는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년 이내 대부투자금의 조기 회수가 불가</a:t>
                      </a:r>
                    </a:p>
                    <a:p>
                      <a:pPr marL="0" marR="12700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* 해외직접투자자의 회생절차 등 </a:t>
                      </a: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신고기관장이 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불가피하다고 인정하는 경우 </a:t>
                      </a:r>
                      <a:r>
                        <a:rPr lang="ko-KR" altLang="en-US" sz="13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사전변경신고 </a:t>
                      </a:r>
                      <a:r>
                        <a:rPr lang="ko-KR" altLang="en-US" sz="13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가능 </a:t>
                      </a:r>
                    </a:p>
                  </a:txBody>
                  <a:tcPr marL="8797" marR="8797" marT="8797" marB="879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2033158">
                <a:tc>
                  <a:txBody>
                    <a:bodyPr/>
                    <a:lstStyle/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은행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확인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사항</a:t>
                      </a:r>
                    </a:p>
                  </a:txBody>
                  <a:tcPr marL="8797" marR="8797" marT="8797" marB="879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대부투자방식은 대여기간이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년 이상이어야 하므로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년 이내 조기회수가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원칙적으로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불가능함을 안내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불가피하게 조기회수를 하고자 하는 경우에는 반드시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회수전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외국환은행에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변경신고를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하여야 함을 안내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현지법인에 대한 단기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(1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년 미만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금전대여는 해외직접투자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대부투자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가 아닌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금전대차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거주자의 비거주자에 대한 대출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로 한국은행에 신고하도록 안내 </a:t>
                      </a:r>
                    </a:p>
                  </a:txBody>
                  <a:tcPr marL="8797" marR="8797" marT="8797" marB="879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683102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marL="8797" marR="8797" marT="8797" marB="879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9-5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조</a:t>
                      </a:r>
                    </a:p>
                  </a:txBody>
                  <a:tcPr marL="8797" marR="8797" marT="8797" marB="8797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027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해외지사</a:t>
              </a: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신규설립 신고누락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4.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해외직접투자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6998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02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0275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/>
        </p:nvGraphicFramePr>
        <p:xfrm>
          <a:off x="323528" y="1844824"/>
          <a:ext cx="8568952" cy="4320481"/>
        </p:xfrm>
        <a:graphic>
          <a:graphicData uri="http://schemas.openxmlformats.org/drawingml/2006/table">
            <a:tbl>
              <a:tblPr/>
              <a:tblGrid>
                <a:gridCol w="1256386"/>
                <a:gridCol w="7312566"/>
              </a:tblGrid>
              <a:tr h="1077413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㈜○○○는 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12.12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외국환은행의 장에게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사전신고하지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않고 라오스 현지에 해외연락 사무소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해외사무소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를 설립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2200616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해외사무소나 해외지점을 신규 설립할 경우에는 반드시 지정거래외국환은행에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사전신고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수취인명과 송금인명이 유사한 경우 해외현지법인 혹은 해외지사 여부를 확인</a:t>
                      </a: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특히 해외사무소 경우 대부분의 자금수입원이 국내 본사 송금에 의존하므로 동일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수취인에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대한 주기적인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송금시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해외사무소 신고여부 확인 필요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042452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 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9-18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950" marR="10950" marT="10950" marB="10950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1708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구름"/>
          <p:cNvPicPr>
            <a:picLocks noChangeAspect="1" noChangeArrowheads="1"/>
          </p:cNvPicPr>
          <p:nvPr/>
        </p:nvPicPr>
        <p:blipFill>
          <a:blip r:embed="rId3" cstate="print"/>
          <a:srcRect r="17708" b="34259"/>
          <a:stretch>
            <a:fillRect/>
          </a:stretch>
        </p:blipFill>
        <p:spPr bwMode="auto">
          <a:xfrm>
            <a:off x="1000100" y="0"/>
            <a:ext cx="7524750" cy="4508500"/>
          </a:xfrm>
          <a:prstGeom prst="rect">
            <a:avLst/>
          </a:prstGeom>
          <a:noFill/>
        </p:spPr>
      </p:pic>
      <p:pic>
        <p:nvPicPr>
          <p:cNvPr id="71" name="Picture 11" descr="목차바"/>
          <p:cNvPicPr>
            <a:picLocks noChangeArrowheads="1"/>
          </p:cNvPicPr>
          <p:nvPr/>
        </p:nvPicPr>
        <p:blipFill>
          <a:blip r:embed="rId4" cstate="print"/>
          <a:srcRect l="10118" t="20419" r="10709" b="64514"/>
          <a:stretch>
            <a:fillRect/>
          </a:stretch>
        </p:blipFill>
        <p:spPr bwMode="auto">
          <a:xfrm>
            <a:off x="1071538" y="582961"/>
            <a:ext cx="2714644" cy="685799"/>
          </a:xfrm>
          <a:prstGeom prst="rect">
            <a:avLst/>
          </a:prstGeom>
          <a:noFill/>
        </p:spPr>
      </p:pic>
      <p:sp>
        <p:nvSpPr>
          <p:cNvPr id="72" name="Rectangle 1567"/>
          <p:cNvSpPr txBox="1">
            <a:spLocks noChangeArrowheads="1"/>
          </p:cNvSpPr>
          <p:nvPr/>
        </p:nvSpPr>
        <p:spPr>
          <a:xfrm flipH="1">
            <a:off x="1142976" y="605628"/>
            <a:ext cx="2643206" cy="519116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000" b="1" kern="0" dirty="0" smtClean="0">
                <a:ln w="1905"/>
                <a:solidFill>
                  <a:srgbClr val="F5960B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MD아트체" pitchFamily="18" charset="-127"/>
                <a:ea typeface="MD아트체" pitchFamily="18" charset="-127"/>
                <a:cs typeface="+mj-cs"/>
              </a:rPr>
              <a:t>목   차</a:t>
            </a:r>
            <a:endParaRPr kumimoji="1" lang="en-US" altLang="ko-KR" sz="3000" b="1" u="none" strike="noStrike" kern="0" normalizeH="0" noProof="0" dirty="0" smtClean="0">
              <a:ln w="1905"/>
              <a:solidFill>
                <a:srgbClr val="F5960B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MD아트체" pitchFamily="18" charset="-127"/>
              <a:ea typeface="MD아트체" pitchFamily="18" charset="-127"/>
              <a:cs typeface="+mj-cs"/>
            </a:endParaRPr>
          </a:p>
        </p:txBody>
      </p:sp>
      <p:grpSp>
        <p:nvGrpSpPr>
          <p:cNvPr id="6" name="그룹 35"/>
          <p:cNvGrpSpPr/>
          <p:nvPr/>
        </p:nvGrpSpPr>
        <p:grpSpPr>
          <a:xfrm>
            <a:off x="827584" y="3284984"/>
            <a:ext cx="7410476" cy="757236"/>
            <a:chOff x="947738" y="3032123"/>
            <a:chExt cx="7753648" cy="757236"/>
          </a:xfrm>
        </p:grpSpPr>
        <p:pic>
          <p:nvPicPr>
            <p:cNvPr id="74" name="Picture 27" descr="목차바"/>
            <p:cNvPicPr preferRelativeResize="0">
              <a:picLocks noChangeArrowheads="1"/>
            </p:cNvPicPr>
            <p:nvPr/>
          </p:nvPicPr>
          <p:blipFill>
            <a:blip r:embed="rId4" cstate="print"/>
            <a:srcRect l="10118" t="20419" r="10709" b="64514"/>
            <a:stretch>
              <a:fillRect/>
            </a:stretch>
          </p:blipFill>
          <p:spPr bwMode="auto">
            <a:xfrm>
              <a:off x="947738" y="3032123"/>
              <a:ext cx="7753648" cy="757236"/>
            </a:xfrm>
            <a:prstGeom prst="rect">
              <a:avLst/>
            </a:prstGeom>
            <a:noFill/>
          </p:spPr>
        </p:pic>
        <p:sp>
          <p:nvSpPr>
            <p:cNvPr id="75" name="Text Box 30"/>
            <p:cNvSpPr txBox="1">
              <a:spLocks noChangeArrowheads="1"/>
            </p:cNvSpPr>
            <p:nvPr/>
          </p:nvSpPr>
          <p:spPr bwMode="auto">
            <a:xfrm>
              <a:off x="1717724" y="3155020"/>
              <a:ext cx="664049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l"/>
              <a:r>
                <a:rPr lang="en-US" altLang="ko-KR" sz="2400" dirty="0" smtClean="0">
                  <a:solidFill>
                    <a:srgbClr val="0E3C88"/>
                  </a:solidFill>
                </a:rPr>
                <a:t> </a:t>
              </a:r>
              <a:r>
                <a:rPr lang="ko-KR" altLang="en-US" sz="2400" dirty="0" smtClean="0">
                  <a:solidFill>
                    <a:srgbClr val="0E3C88"/>
                  </a:solidFill>
                </a:rPr>
                <a:t>해외부동산취득 </a:t>
              </a:r>
              <a:endParaRPr lang="ko-KR" altLang="en-US" sz="2400" dirty="0">
                <a:solidFill>
                  <a:srgbClr val="0E3C88"/>
                </a:solidFill>
              </a:endParaRPr>
            </a:p>
          </p:txBody>
        </p:sp>
        <p:pic>
          <p:nvPicPr>
            <p:cNvPr id="76" name="Picture 23" descr="볼"/>
            <p:cNvPicPr preferRelativeResize="0">
              <a:picLocks noChangeAspect="1" noChangeArrowheads="1"/>
            </p:cNvPicPr>
            <p:nvPr/>
          </p:nvPicPr>
          <p:blipFill>
            <a:blip r:embed="rId5" cstate="print"/>
            <a:srcRect l="11215" t="22037" r="79791" b="66251"/>
            <a:stretch>
              <a:fillRect/>
            </a:stretch>
          </p:blipFill>
          <p:spPr bwMode="auto">
            <a:xfrm>
              <a:off x="1017588" y="3124206"/>
              <a:ext cx="719137" cy="590298"/>
            </a:xfrm>
            <a:prstGeom prst="rect">
              <a:avLst/>
            </a:prstGeom>
            <a:noFill/>
          </p:spPr>
        </p:pic>
        <p:sp>
          <p:nvSpPr>
            <p:cNvPr id="77" name="Text Box 19"/>
            <p:cNvSpPr txBox="1">
              <a:spLocks noChangeArrowheads="1"/>
            </p:cNvSpPr>
            <p:nvPr/>
          </p:nvSpPr>
          <p:spPr bwMode="auto">
            <a:xfrm>
              <a:off x="1089144" y="3121684"/>
              <a:ext cx="682625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rgbClr val="000000"/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altLang="ko-KR" sz="2800" dirty="0" smtClean="0">
                  <a:solidFill>
                    <a:srgbClr val="FCE06A"/>
                  </a:solidFill>
                  <a:latin typeface="HY견명조" pitchFamily="18" charset="-127"/>
                  <a:ea typeface="HY견명조" pitchFamily="18" charset="-127"/>
                </a:rPr>
                <a:t>5</a:t>
              </a:r>
            </a:p>
          </p:txBody>
        </p:sp>
      </p:grpSp>
    </p:spTree>
  </p:cSld>
  <p:clrMapOvr>
    <a:masterClrMapping/>
  </p:clrMapOvr>
  <p:transition advTm="43531">
    <p:wipe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35496" y="620688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해외부동산취득 신고의무</a:t>
              </a: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(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규정 제</a:t>
              </a: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9-39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조</a:t>
              </a: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]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 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5.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해외부동산취득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1913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/>
        </p:nvGraphicFramePr>
        <p:xfrm>
          <a:off x="72007" y="1340768"/>
          <a:ext cx="8964489" cy="5430714"/>
        </p:xfrm>
        <a:graphic>
          <a:graphicData uri="http://schemas.openxmlformats.org/drawingml/2006/table">
            <a:tbl>
              <a:tblPr/>
              <a:tblGrid>
                <a:gridCol w="1075211"/>
                <a:gridCol w="237404"/>
                <a:gridCol w="1740331"/>
                <a:gridCol w="1740331"/>
                <a:gridCol w="237404"/>
                <a:gridCol w="237404"/>
                <a:gridCol w="788468"/>
                <a:gridCol w="237404"/>
                <a:gridCol w="654554"/>
                <a:gridCol w="654554"/>
                <a:gridCol w="237404"/>
                <a:gridCol w="1124020"/>
              </a:tblGrid>
              <a:tr h="4662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취득 </a:t>
                      </a:r>
                      <a:endParaRPr lang="en-US" altLang="ko-KR" sz="14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목적물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취득할 권리의 내용</a:t>
                      </a: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취득 </a:t>
                      </a:r>
                      <a:endParaRPr lang="en-US" altLang="ko-KR" sz="14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목적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취득 </a:t>
                      </a:r>
                      <a:endParaRPr lang="en-US" altLang="ko-KR" sz="14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기간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9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수리기관</a:t>
                      </a: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9D"/>
                    </a:solidFill>
                  </a:tcPr>
                </a:tc>
              </a:tr>
              <a:tr h="1276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764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년 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이상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지정거래</a:t>
                      </a:r>
                      <a:endParaRPr lang="en-US" altLang="ko-KR" sz="14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</a:tr>
              <a:tr h="279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9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주거 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목적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9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부동산 소유권 취득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년 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미만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한국은행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3"/>
                    </a:solidFill>
                  </a:tcPr>
                </a:tc>
              </a:tr>
              <a:tr h="279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9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66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해외부동산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주거 외 </a:t>
                      </a:r>
                      <a:endParaRPr lang="en-US" altLang="ko-KR" sz="14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목적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지정거래</a:t>
                      </a:r>
                      <a:endParaRPr lang="en-US" altLang="ko-KR" sz="14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</a:tr>
              <a:tr h="2796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9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임차권 등 부동산에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관한 권리 취득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기타</a:t>
                      </a: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한국은행</a:t>
                      </a: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3"/>
                    </a:solidFill>
                  </a:tcPr>
                </a:tc>
              </a:tr>
              <a:tr h="279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79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66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임대차</a:t>
                      </a:r>
                      <a:endParaRPr lang="en-US" altLang="ko-KR" sz="14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보증금 有</a:t>
                      </a:r>
                      <a:r>
                        <a:rPr lang="en-US" altLang="ko-KR" sz="14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지정거래</a:t>
                      </a:r>
                      <a:endParaRPr lang="en-US" altLang="ko-KR" sz="14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E1"/>
                    </a:solidFill>
                  </a:tcPr>
                </a:tc>
              </a:tr>
              <a:tr h="3731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8442" marR="68442" marT="34221" marB="34221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유학경비 송금을 통한 해외부동산취득 신고누락 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5.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해외부동산취득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1913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/>
        </p:nvGraphicFramePr>
        <p:xfrm>
          <a:off x="683568" y="1763944"/>
          <a:ext cx="7920880" cy="4689392"/>
        </p:xfrm>
        <a:graphic>
          <a:graphicData uri="http://schemas.openxmlformats.org/drawingml/2006/table">
            <a:tbl>
              <a:tblPr/>
              <a:tblGrid>
                <a:gridCol w="905112"/>
                <a:gridCol w="7015768"/>
              </a:tblGrid>
              <a:tr h="1464809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내역</a:t>
                      </a:r>
                    </a:p>
                  </a:txBody>
                  <a:tcPr marL="14674" marR="14674" marT="14674" marB="1467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○○○는 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10.5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~12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월중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차례에 걸쳐 캐나다에 유학중인 자녀의 유학자금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지급을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위해 외화자금을 송금하고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유학경비에 사용하고 남은 자금과 현지은행으로부터 차입한 자금을 합하여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몬트리올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소재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상당의 주택 소유권을 취득하였으나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외국환은행장에게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부동산취득 신고를 하지 않음</a:t>
                      </a:r>
                    </a:p>
                  </a:txBody>
                  <a:tcPr marL="14674" marR="14674" marT="14674" marB="1467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816130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4674" marR="14674" marT="14674" marB="1467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부동산 취득 명의인이 거주자인 경우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구입자금을 국내에서 송금하지 않더라도 해외부동산 취득 신고 필요</a:t>
                      </a:r>
                    </a:p>
                  </a:txBody>
                  <a:tcPr marL="14674" marR="14674" marT="14674" marB="1467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816130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은행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확인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4674" marR="14674" marT="14674" marB="1467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통상적인 유학경비 수준을 초과하는 송금신청이 있을 경우 실제 자금 사용목적을 확인</a:t>
                      </a:r>
                    </a:p>
                  </a:txBody>
                  <a:tcPr marL="14674" marR="14674" marT="14674" marB="1467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553870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4674" marR="14674" marT="14674" marB="1467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5-11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9-39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4674" marR="14674" marT="14674" marB="1467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6214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신고수리 받은 내용과 다른 명의로 부동산 취득 신고누락  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5.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해외부동산취득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1913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467544" y="1772816"/>
          <a:ext cx="8352928" cy="4680520"/>
        </p:xfrm>
        <a:graphic>
          <a:graphicData uri="http://schemas.openxmlformats.org/drawingml/2006/table">
            <a:tbl>
              <a:tblPr/>
              <a:tblGrid>
                <a:gridCol w="903351"/>
                <a:gridCol w="7449577"/>
              </a:tblGrid>
              <a:tr h="1367193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위규내역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3856" marR="13856" marT="13856" marB="13856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○○○는 ’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11.2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 본인명의로 미국 부동산을 취득하기 위해 해외부동산취득 신고수리를 받고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300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송금하였으나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신고 내용과 달리 아들 명의로 부동산을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취득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하였음에도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외국환은행장에게 변경신고를 하지 않음</a:t>
                      </a:r>
                    </a:p>
                  </a:txBody>
                  <a:tcPr marL="13856" marR="13856" marT="13856" marB="13856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088061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3856" marR="13856" marT="13856" marB="13856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거래당사자는 신고수리를 받은 내용에 변경사항이 발생할 경우 취득 이전에 변경신고 필요</a:t>
                      </a:r>
                    </a:p>
                  </a:txBody>
                  <a:tcPr marL="13856" marR="13856" marT="13856" marB="13856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505799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은행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확인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3856" marR="13856" marT="13856" marB="13856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부동산취득 최초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신고수리시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신고 내용에 변경사항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명의인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목적물 등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 있을 경우 사전에 변경신고가 필요함을 안내</a:t>
                      </a:r>
                    </a:p>
                    <a:p>
                      <a:pPr marL="0" marR="1270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해외부동산취득보고서 </a:t>
                      </a: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검토시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신고수리 받은 내용에 따라 부동산을 취득했는지 확인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3856" marR="13856" marT="13856" marB="13856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719467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3856" marR="13856" marT="13856" marB="13856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9-39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3856" marR="13856" marT="13856" marB="13856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4166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모기지론 관련 자금조달방법 변경신고누락 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5.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해외부동산취득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1913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251520" y="1556793"/>
          <a:ext cx="8676456" cy="5040560"/>
        </p:xfrm>
        <a:graphic>
          <a:graphicData uri="http://schemas.openxmlformats.org/drawingml/2006/table">
            <a:tbl>
              <a:tblPr/>
              <a:tblGrid>
                <a:gridCol w="1259400"/>
                <a:gridCol w="7417056"/>
              </a:tblGrid>
              <a:tr h="2156468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1714" marR="11714" marT="11714" marB="1171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○○○는 필리핀 부동산 구입을 위해 외국환은행장에게 구입자금 전액을 국내에서 조달하는 것으로 신고하고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송금하였으나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신고내용과 달리 국내 송금액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만달러와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현지 은행으로부터 받은 모기지론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합하여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150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매도인에게 지급하고 부동산 소유권을 취득하였음에도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취득가액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및 자금조달방법 변경을 외국환은행장에게 신고하지 않음</a:t>
                      </a:r>
                    </a:p>
                  </a:txBody>
                  <a:tcPr marL="11714" marR="11714" marT="11714" marB="1171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052868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1714" marR="11714" marT="11714" marB="1171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부동산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취득신고시에는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매매가액 및 자금조달 방법을 정확히 구분기재하고 국내 </a:t>
                      </a:r>
                      <a:endParaRPr lang="en-US" altLang="ko-KR" sz="1500" b="1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송금액에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한하여 신고하는 것이 아님에 유의</a:t>
                      </a:r>
                    </a:p>
                  </a:txBody>
                  <a:tcPr marL="11714" marR="11714" marT="11714" marB="1171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121496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은행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확인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1714" marR="11714" marT="11714" marB="1171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부동산 매매계약서 등을 통해 거래당사자가 취득하고자 하는 목적물 가액을 정확히 확인</a:t>
                      </a: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구체적인 자금조달 방법을 확인한 뒤 부동산취득 신고를 수리</a:t>
                      </a:r>
                    </a:p>
                  </a:txBody>
                  <a:tcPr marL="11714" marR="11714" marT="11714" marB="1171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709728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1714" marR="11714" marT="11714" marB="1171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9-39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1714" marR="11714" marT="11714" marB="11714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3961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396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해외부동산취득 취득신고 내용 </a:t>
              </a:r>
              <a:r>
                <a:rPr lang="ko-KR" altLang="en-US" sz="2200" kern="0" dirty="0" err="1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미이행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 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5.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해외부동산취득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1913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323528" y="1700809"/>
          <a:ext cx="8640960" cy="4929999"/>
        </p:xfrm>
        <a:graphic>
          <a:graphicData uri="http://schemas.openxmlformats.org/drawingml/2006/table">
            <a:tbl>
              <a:tblPr/>
              <a:tblGrid>
                <a:gridCol w="1040285"/>
                <a:gridCol w="7600675"/>
              </a:tblGrid>
              <a:tr h="1492914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위규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내역</a:t>
                      </a:r>
                    </a:p>
                  </a:txBody>
                  <a:tcPr marL="10802" marR="10802" marT="10802" marB="1080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○○○는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`12.9.10.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미국 소재 주택을 구입하기 위하여 외국환은행에 신고하고 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만달러를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송금하였으나</a:t>
                      </a:r>
                      <a:r>
                        <a:rPr lang="en-US" altLang="ko-KR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이후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부동산 매매계약이 취소되었음에도 외국환은행에 부동산취득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변경신고없이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자금을 국내로 회수하지 않음</a:t>
                      </a:r>
                    </a:p>
                  </a:txBody>
                  <a:tcPr marL="10802" marR="10802" marT="10802" marB="1080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675437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802" marR="10802" marT="10802" marB="1080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현지 사정변경으로 부동산 소유권을 취득하지 못하게 될 경우에는 최초 신고내용이 변경된 것이므로 변경신고 필요</a:t>
                      </a:r>
                    </a:p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부동산 소유권 취득 및 송금자금 회수가 불가한 경우 자금 사용내역을 소명해야 하며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소명이 불충분할 경우 신고내용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미이행으로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제재조치를 받을 수 있음에 유의</a:t>
                      </a:r>
                    </a:p>
                  </a:txBody>
                  <a:tcPr marL="10802" marR="10802" marT="10802" marB="1080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936104">
                <a:tc>
                  <a:txBody>
                    <a:bodyPr/>
                    <a:lstStyle/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은행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  <a:p>
                      <a:pPr marL="2032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사항</a:t>
                      </a:r>
                    </a:p>
                  </a:txBody>
                  <a:tcPr marL="10802" marR="10802" marT="10802" marB="1080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해외부동산 취득신고 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수리시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신고한 내용에 따라 부동산 소유권을 취득하지 못할 경우 변경신고 후 송금된 자금을 국내로 회수해야 한다는 점을 안내</a:t>
                      </a:r>
                    </a:p>
                  </a:txBody>
                  <a:tcPr marL="10802" marR="10802" marT="10802" marB="1080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711344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10802" marR="10802" marT="10802" marB="1080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｢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외국환거래규정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｣ 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9-39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10802" marR="10802" marT="10802" marB="10802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3756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04"/>
          <p:cNvGrpSpPr>
            <a:grpSpLocks/>
          </p:cNvGrpSpPr>
          <p:nvPr/>
        </p:nvGrpSpPr>
        <p:grpSpPr bwMode="auto">
          <a:xfrm>
            <a:off x="173111" y="785795"/>
            <a:ext cx="8215313" cy="750886"/>
            <a:chOff x="428596" y="3571877"/>
            <a:chExt cx="8215370" cy="750234"/>
          </a:xfrm>
        </p:grpSpPr>
        <p:sp>
          <p:nvSpPr>
            <p:cNvPr id="5" name="직사각형 4"/>
            <p:cNvSpPr/>
            <p:nvPr/>
          </p:nvSpPr>
          <p:spPr bwMode="auto">
            <a:xfrm>
              <a:off x="695298" y="3717799"/>
              <a:ext cx="7786742" cy="49962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20000"/>
                    <a:lumOff val="80000"/>
                    <a:alpha val="0"/>
                  </a:srgbClr>
                </a:gs>
                <a:gs pos="30000">
                  <a:srgbClr val="4EA7EA">
                    <a:lumMod val="40000"/>
                    <a:lumOff val="60000"/>
                    <a:alpha val="20000"/>
                  </a:srgbClr>
                </a:gs>
                <a:gs pos="70000">
                  <a:srgbClr val="4EA7EA">
                    <a:lumMod val="60000"/>
                    <a:lumOff val="40000"/>
                    <a:alpha val="40000"/>
                  </a:srgbClr>
                </a:gs>
                <a:gs pos="100000">
                  <a:srgbClr val="4EA7EA">
                    <a:lumMod val="75000"/>
                    <a:alpha val="6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6" name="직사각형 5"/>
            <p:cNvSpPr/>
            <p:nvPr/>
          </p:nvSpPr>
          <p:spPr bwMode="auto">
            <a:xfrm>
              <a:off x="857222" y="3741097"/>
              <a:ext cx="7786744" cy="447648"/>
            </a:xfrm>
            <a:prstGeom prst="rect">
              <a:avLst/>
            </a:prstGeom>
            <a:gradFill flip="none" rotWithShape="1">
              <a:gsLst>
                <a:gs pos="0">
                  <a:srgbClr val="4EA7EA">
                    <a:lumMod val="40000"/>
                    <a:lumOff val="60000"/>
                    <a:alpha val="0"/>
                  </a:srgbClr>
                </a:gs>
                <a:gs pos="30000">
                  <a:srgbClr val="4EA7EA">
                    <a:lumMod val="60000"/>
                    <a:lumOff val="40000"/>
                    <a:alpha val="20000"/>
                  </a:srgbClr>
                </a:gs>
                <a:gs pos="70000">
                  <a:srgbClr val="4EA7EA">
                    <a:lumMod val="75000"/>
                  </a:srgbClr>
                </a:gs>
                <a:gs pos="100000">
                  <a:srgbClr val="4EA7EA">
                    <a:lumMod val="50000"/>
                  </a:srgbClr>
                </a:gs>
              </a:gsLst>
              <a:lin ang="10800000" scaled="0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latinLnBrk="0" hangingPunct="0">
                <a:defRPr/>
              </a:pPr>
              <a:endParaRPr kumimoji="0" lang="ko-KR" altLang="en-US" sz="22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pSp>
          <p:nvGrpSpPr>
            <p:cNvPr id="3" name="그룹 44"/>
            <p:cNvGrpSpPr>
              <a:grpSpLocks/>
            </p:cNvGrpSpPr>
            <p:nvPr/>
          </p:nvGrpSpPr>
          <p:grpSpPr bwMode="auto">
            <a:xfrm>
              <a:off x="828649" y="3571877"/>
              <a:ext cx="409578" cy="412392"/>
              <a:chOff x="1445159" y="2963918"/>
              <a:chExt cx="1949672" cy="1963066"/>
            </a:xfrm>
          </p:grpSpPr>
          <p:sp>
            <p:nvSpPr>
              <p:cNvPr id="16" name="포인트가 5개인 별 15"/>
              <p:cNvSpPr/>
              <p:nvPr/>
            </p:nvSpPr>
            <p:spPr>
              <a:xfrm>
                <a:off x="1482946" y="2963918"/>
                <a:ext cx="1911885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  <p:sp>
            <p:nvSpPr>
              <p:cNvPr id="17" name="포인트가 5개인 별 16"/>
              <p:cNvSpPr/>
              <p:nvPr/>
            </p:nvSpPr>
            <p:spPr>
              <a:xfrm rot="19506323">
                <a:off x="1445159" y="3009220"/>
                <a:ext cx="1911889" cy="1917764"/>
              </a:xfrm>
              <a:prstGeom prst="star5">
                <a:avLst/>
              </a:prstGeom>
              <a:gradFill>
                <a:gsLst>
                  <a:gs pos="0">
                    <a:sysClr val="window" lastClr="FFFFFF"/>
                  </a:gs>
                  <a:gs pos="100000">
                    <a:sysClr val="window" lastClr="FFFFFF">
                      <a:gamma/>
                      <a:tint val="0"/>
                      <a:invGamma/>
                      <a:alpha val="0"/>
                    </a:sysClr>
                  </a:gs>
                </a:gsLst>
                <a:path path="shape">
                  <a:fillToRect l="50000" t="50000" r="50000" b="50000"/>
                </a:path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0" lang="ko-KR" altLang="en-US">
                  <a:solidFill>
                    <a:prstClr val="white"/>
                  </a:solidFill>
                  <a:latin typeface="맑은 고딕"/>
                  <a:ea typeface="맑은 고딕"/>
                </a:endParaRPr>
              </a:p>
            </p:txBody>
          </p:sp>
        </p:grpSp>
        <p:sp>
          <p:nvSpPr>
            <p:cNvPr id="8" name="타원 108"/>
            <p:cNvSpPr>
              <a:spLocks noChangeArrowheads="1"/>
            </p:cNvSpPr>
            <p:nvPr/>
          </p:nvSpPr>
          <p:spPr bwMode="auto">
            <a:xfrm>
              <a:off x="428596" y="3608356"/>
              <a:ext cx="714380" cy="713755"/>
            </a:xfrm>
            <a:prstGeom prst="ellipse">
              <a:avLst/>
            </a:prstGeom>
            <a:solidFill>
              <a:srgbClr val="11578B">
                <a:alpha val="5098"/>
              </a:srgbClr>
            </a:solidFill>
            <a:ln w="9525" algn="ctr">
              <a:solidFill>
                <a:srgbClr val="00264D">
                  <a:alpha val="30196"/>
                </a:srgbClr>
              </a:solidFill>
              <a:round/>
              <a:headEnd/>
              <a:tailEnd/>
            </a:ln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" name="Rectangle 63"/>
            <p:cNvSpPr>
              <a:spLocks noChangeArrowheads="1"/>
            </p:cNvSpPr>
            <p:nvPr/>
          </p:nvSpPr>
          <p:spPr bwMode="auto">
            <a:xfrm>
              <a:off x="911199" y="3803450"/>
              <a:ext cx="7627991" cy="2855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lIns="2880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 </a:t>
              </a:r>
              <a:r>
                <a:rPr lang="ko-KR" altLang="en-US" sz="2200" kern="0" dirty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Wingdings 2" pitchFamily="18" charset="2"/>
                </a:rPr>
                <a:t>비거주자의 국내부동산 취득 신고 누락  </a:t>
              </a:r>
              <a:endParaRPr lang="ko-KR" altLang="en-US" sz="22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 2" pitchFamily="18" charset="2"/>
              </a:endParaRPr>
            </a:p>
          </p:txBody>
        </p:sp>
        <p:grpSp>
          <p:nvGrpSpPr>
            <p:cNvPr id="4" name="Group 4"/>
            <p:cNvGrpSpPr>
              <a:grpSpLocks/>
            </p:cNvGrpSpPr>
            <p:nvPr/>
          </p:nvGrpSpPr>
          <p:grpSpPr bwMode="auto">
            <a:xfrm>
              <a:off x="519111" y="3690937"/>
              <a:ext cx="569613" cy="571504"/>
              <a:chOff x="2419" y="1697"/>
              <a:chExt cx="904" cy="907"/>
            </a:xfrm>
          </p:grpSpPr>
          <p:sp>
            <p:nvSpPr>
              <p:cNvPr id="12" name="Oval 5"/>
              <p:cNvSpPr>
                <a:spLocks noChangeArrowheads="1"/>
              </p:cNvSpPr>
              <p:nvPr/>
            </p:nvSpPr>
            <p:spPr bwMode="auto">
              <a:xfrm>
                <a:off x="2419" y="1697"/>
                <a:ext cx="904" cy="907"/>
              </a:xfrm>
              <a:prstGeom prst="ellipse">
                <a:avLst/>
              </a:prstGeom>
              <a:gradFill rotWithShape="1">
                <a:gsLst>
                  <a:gs pos="0">
                    <a:srgbClr val="11578B"/>
                  </a:gs>
                  <a:gs pos="100000">
                    <a:srgbClr val="95CAF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3" name="Oval 6"/>
              <p:cNvSpPr>
                <a:spLocks noChangeArrowheads="1"/>
              </p:cNvSpPr>
              <p:nvPr/>
            </p:nvSpPr>
            <p:spPr bwMode="auto">
              <a:xfrm>
                <a:off x="2429" y="1700"/>
                <a:ext cx="883" cy="883"/>
              </a:xfrm>
              <a:prstGeom prst="ellipse">
                <a:avLst/>
              </a:prstGeom>
              <a:gradFill rotWithShape="1">
                <a:gsLst>
                  <a:gs pos="0">
                    <a:srgbClr val="95CAF2">
                      <a:alpha val="0"/>
                    </a:srgbClr>
                  </a:gs>
                  <a:gs pos="100000">
                    <a:srgbClr val="B8DCF7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4" name="Oval 7"/>
              <p:cNvSpPr>
                <a:spLocks noChangeArrowheads="1"/>
              </p:cNvSpPr>
              <p:nvPr/>
            </p:nvSpPr>
            <p:spPr bwMode="auto">
              <a:xfrm>
                <a:off x="2451" y="1701"/>
                <a:ext cx="839" cy="827"/>
              </a:xfrm>
              <a:prstGeom prst="ellipse">
                <a:avLst/>
              </a:prstGeom>
              <a:gradFill rotWithShape="1">
                <a:gsLst>
                  <a:gs pos="0">
                    <a:srgbClr val="1982D1"/>
                  </a:gs>
                  <a:gs pos="100000">
                    <a:srgbClr val="95CAF2">
                      <a:alpha val="48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solidFill>
                    <a:srgbClr val="000000"/>
                  </a:solidFill>
                  <a:latin typeface="굴림" charset="-127"/>
                </a:endParaRPr>
              </a:p>
            </p:txBody>
          </p:sp>
          <p:sp>
            <p:nvSpPr>
              <p:cNvPr id="15" name="Oval 8"/>
              <p:cNvSpPr>
                <a:spLocks noChangeArrowheads="1"/>
              </p:cNvSpPr>
              <p:nvPr/>
            </p:nvSpPr>
            <p:spPr bwMode="auto">
              <a:xfrm>
                <a:off x="2495" y="1707"/>
                <a:ext cx="751" cy="672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95CAF2">
                      <a:alpha val="3700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0000"/>
                  </a:solidFill>
                  <a:latin typeface="굴림" charset="-127"/>
                </a:endParaRPr>
              </a:p>
            </p:txBody>
          </p:sp>
        </p:grpSp>
        <p:sp>
          <p:nvSpPr>
            <p:cNvPr id="11" name="TextBox 111"/>
            <p:cNvSpPr txBox="1">
              <a:spLocks noChangeArrowheads="1"/>
            </p:cNvSpPr>
            <p:nvPr/>
          </p:nvSpPr>
          <p:spPr bwMode="auto">
            <a:xfrm>
              <a:off x="499977" y="3724144"/>
              <a:ext cx="571508" cy="461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latinLnBrk="0"/>
              <a:r>
                <a:rPr kumimoji="0" lang="en-US" altLang="ko-KR" sz="2400" dirty="0" smtClean="0">
                  <a:solidFill>
                    <a:srgbClr val="000000"/>
                  </a:solidFill>
                  <a:latin typeface="Impact" pitchFamily="34" charset="0"/>
                </a:rPr>
                <a:t> </a:t>
              </a:r>
              <a:endParaRPr kumimoji="0" lang="ko-KR" altLang="en-US" sz="2200" dirty="0">
                <a:solidFill>
                  <a:srgbClr val="000000"/>
                </a:solidFill>
                <a:latin typeface="Impact" pitchFamily="34" charset="0"/>
              </a:endParaRPr>
            </a:p>
          </p:txBody>
        </p:sp>
      </p:grpSp>
      <p:sp>
        <p:nvSpPr>
          <p:cNvPr id="38" name="Text Box 4"/>
          <p:cNvSpPr txBox="1">
            <a:spLocks noChangeArrowheads="1"/>
          </p:cNvSpPr>
          <p:nvPr/>
        </p:nvSpPr>
        <p:spPr bwMode="auto">
          <a:xfrm>
            <a:off x="142844" y="63476"/>
            <a:ext cx="77153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</a:rPr>
              <a:t>5. </a:t>
            </a:r>
            <a:r>
              <a:rPr lang="ko-KR" altLang="en-US" sz="2400" dirty="0" smtClean="0">
                <a:solidFill>
                  <a:srgbClr val="FFFF00"/>
                </a:solidFill>
              </a:rPr>
              <a:t>해외부동산취득</a:t>
            </a:r>
            <a:endParaRPr lang="en-US" altLang="ko-KR" sz="2400" dirty="0">
              <a:solidFill>
                <a:srgbClr val="FFFF00"/>
              </a:solidFill>
            </a:endParaRPr>
          </a:p>
        </p:txBody>
      </p:sp>
      <p:sp>
        <p:nvSpPr>
          <p:cNvPr id="153601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19137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/>
        </p:nvGraphicFramePr>
        <p:xfrm>
          <a:off x="467544" y="1727417"/>
          <a:ext cx="8352928" cy="4797926"/>
        </p:xfrm>
        <a:graphic>
          <a:graphicData uri="http://schemas.openxmlformats.org/drawingml/2006/table">
            <a:tbl>
              <a:tblPr/>
              <a:tblGrid>
                <a:gridCol w="903352"/>
                <a:gridCol w="7449576"/>
              </a:tblGrid>
              <a:tr h="1450960">
                <a:tc>
                  <a:txBody>
                    <a:bodyPr/>
                    <a:lstStyle/>
                    <a:p>
                      <a:pPr marL="25400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위규</a:t>
                      </a: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내역</a:t>
                      </a:r>
                    </a:p>
                  </a:txBody>
                  <a:tcPr marL="10221" marR="10221" marT="10221" marB="1022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비거주자인 </a:t>
                      </a:r>
                      <a:r>
                        <a:rPr lang="ko-KR" altLang="en-US" sz="1500" b="1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시민권자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○○○는 가족명의의 토지가 국가에 수용되면서 본인명의로 </a:t>
                      </a:r>
                      <a:endParaRPr lang="en-US" altLang="ko-KR" sz="1500" b="1" dirty="0" smtClean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상속받은 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부동산을 처분하여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, ’01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년 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8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월 주거용 부동산을 </a:t>
                      </a: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구입함</a:t>
                      </a:r>
                      <a:r>
                        <a:rPr lang="en-US" altLang="ko-KR" sz="1500" b="1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. </a:t>
                      </a: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</a:t>
                      </a:r>
                      <a:endParaRPr lang="en-US" altLang="ko-KR" sz="1500" b="1" dirty="0" smtClean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이후 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’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14.9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월 부동산을 매각한 후 재외동포 재산반출로 송금을 진행하던 중 부동산 </a:t>
                      </a:r>
                      <a:endParaRPr lang="en-US" altLang="ko-KR" sz="1500" b="1" dirty="0" smtClean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취득시점에 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신고를 하지 않음 </a:t>
                      </a:r>
                    </a:p>
                  </a:txBody>
                  <a:tcPr marL="10221" marR="10221" marT="10221" marB="1022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085296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 거래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 유의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marL="10221" marR="10221" marT="10221" marB="1022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•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비거주자가 거주자로부터 부동산을 상속받는 경우에는 신고예외사항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외국환거래규정 제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9-42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조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)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으로 되어 있으나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상속받은 부동산을 처분 후 국내부동산을 취득하는 것은 한국은행총재 신고사항임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(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외국환거래규정 제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9-42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조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) 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marL="10221" marR="10221" marT="10221" marB="1022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1490480">
                <a:tc>
                  <a:txBody>
                    <a:bodyPr/>
                    <a:lstStyle/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 은행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 확인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270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사항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marL="10221" marR="10221" marT="10221" marB="1022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외국환거래법상 비거주자인 경우 국내부동산 취득신고가 되어 있는지 확인</a:t>
                      </a: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• 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부동산 </a:t>
                      </a:r>
                      <a:r>
                        <a:rPr lang="ko-KR" altLang="en-US" sz="1500" b="1" dirty="0" err="1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취득시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 취득자금을 해외에서 전액 반입하였는지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국내에서 일부 조달하거나 </a:t>
                      </a:r>
                      <a:endParaRPr lang="en-US" altLang="ko-KR" sz="1500" b="1" dirty="0" smtClean="0">
                        <a:solidFill>
                          <a:schemeClr val="tx1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보증금 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있는 집을 취득하였는가에 따라 외국환은행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, 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한국은행총재 신고사항으로 분류됨 </a:t>
                      </a:r>
                    </a:p>
                  </a:txBody>
                  <a:tcPr marL="10221" marR="10221" marT="10221" marB="1022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  <a:tr h="685753">
                <a:tc>
                  <a:txBody>
                    <a:bodyPr/>
                    <a:lstStyle/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 관련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  <a:p>
                      <a:pPr marL="0" marR="15240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smtClean="0">
                          <a:solidFill>
                            <a:srgbClr val="000000"/>
                          </a:solidFill>
                          <a:latin typeface="맑은 고딕 (본문)"/>
                          <a:ea typeface="+mn-ea"/>
                        </a:rPr>
                        <a:t>   법규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 (본문)"/>
                        <a:ea typeface="+mn-ea"/>
                      </a:endParaRPr>
                    </a:p>
                  </a:txBody>
                  <a:tcPr marL="10221" marR="10221" marT="10221" marB="1022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524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「외국환거래법시행령」제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10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조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,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「외국환거래규정」제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9-42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 (본문)"/>
                          <a:ea typeface="+mn-ea"/>
                        </a:rPr>
                        <a:t>조 </a:t>
                      </a:r>
                    </a:p>
                  </a:txBody>
                  <a:tcPr marL="10221" marR="10221" marT="10221" marB="10221" anchor="ctr">
                    <a:lnL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w="77470" h="12700" prst="softRound"/>
                      <a:lightRig rig="flood" dir="t"/>
                    </a:cell3D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3347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4"/>
          <p:cNvSpPr txBox="1">
            <a:spLocks/>
          </p:cNvSpPr>
          <p:nvPr/>
        </p:nvSpPr>
        <p:spPr>
          <a:xfrm>
            <a:off x="3501405" y="6669360"/>
            <a:ext cx="2133600" cy="182116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- </a:t>
            </a:r>
            <a:fld id="{FB45760D-A692-43CA-9897-E8C3B0795779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r>
              <a:rPr kumimoji="0" lang="ko-KR" alt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en-US" altLang="ko-KR" sz="1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-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4" name="Picture 6" descr="주황라인"/>
          <p:cNvPicPr>
            <a:picLocks noChangeAspect="1" noChangeArrowheads="1"/>
          </p:cNvPicPr>
          <p:nvPr/>
        </p:nvPicPr>
        <p:blipFill>
          <a:blip r:embed="rId3" cstate="print"/>
          <a:srcRect t="36342" r="35034"/>
          <a:stretch>
            <a:fillRect/>
          </a:stretch>
        </p:blipFill>
        <p:spPr bwMode="auto">
          <a:xfrm rot="16200000">
            <a:off x="3990975" y="1704975"/>
            <a:ext cx="5940425" cy="4365625"/>
          </a:xfrm>
          <a:prstGeom prst="rect">
            <a:avLst/>
          </a:prstGeom>
          <a:noFill/>
        </p:spPr>
      </p:pic>
      <p:pic>
        <p:nvPicPr>
          <p:cNvPr id="6" name="Picture 8" descr="파랑라인"/>
          <p:cNvPicPr>
            <a:picLocks noChangeAspect="1" noChangeArrowheads="1"/>
          </p:cNvPicPr>
          <p:nvPr/>
        </p:nvPicPr>
        <p:blipFill>
          <a:blip r:embed="rId4" cstate="print"/>
          <a:srcRect t="58403" r="23228"/>
          <a:stretch>
            <a:fillRect/>
          </a:stretch>
        </p:blipFill>
        <p:spPr bwMode="auto">
          <a:xfrm>
            <a:off x="0" y="4005263"/>
            <a:ext cx="7019925" cy="2852737"/>
          </a:xfrm>
          <a:prstGeom prst="rect">
            <a:avLst/>
          </a:prstGeom>
          <a:noFill/>
        </p:spPr>
      </p:pic>
      <p:pic>
        <p:nvPicPr>
          <p:cNvPr id="8" name="Picture 13" descr="회색하단라인"/>
          <p:cNvPicPr>
            <a:picLocks noChangeAspect="1" noChangeArrowheads="1"/>
          </p:cNvPicPr>
          <p:nvPr/>
        </p:nvPicPr>
        <p:blipFill>
          <a:blip r:embed="rId5" cstate="print"/>
          <a:srcRect t="68195"/>
          <a:stretch>
            <a:fillRect/>
          </a:stretch>
        </p:blipFill>
        <p:spPr bwMode="auto">
          <a:xfrm>
            <a:off x="0" y="4676775"/>
            <a:ext cx="9144000" cy="2181225"/>
          </a:xfrm>
          <a:prstGeom prst="rect">
            <a:avLst/>
          </a:prstGeom>
          <a:noFill/>
        </p:spPr>
      </p:pic>
      <p:pic>
        <p:nvPicPr>
          <p:cNvPr id="9" name="Picture 7" descr="02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85984" y="2214554"/>
            <a:ext cx="4857030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그림 9" descr="208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3879056"/>
          </a:xfrm>
          <a:prstGeom prst="rect">
            <a:avLst/>
          </a:prstGeom>
        </p:spPr>
      </p:pic>
      <p:grpSp>
        <p:nvGrpSpPr>
          <p:cNvPr id="2" name="그룹 196"/>
          <p:cNvGrpSpPr>
            <a:grpSpLocks/>
          </p:cNvGrpSpPr>
          <p:nvPr/>
        </p:nvGrpSpPr>
        <p:grpSpPr bwMode="auto">
          <a:xfrm rot="636205">
            <a:off x="454826" y="852495"/>
            <a:ext cx="8024813" cy="3359150"/>
            <a:chOff x="214282" y="223814"/>
            <a:chExt cx="8510645" cy="3562376"/>
          </a:xfrm>
        </p:grpSpPr>
        <p:grpSp>
          <p:nvGrpSpPr>
            <p:cNvPr id="3" name="그룹 7"/>
            <p:cNvGrpSpPr>
              <a:grpSpLocks/>
            </p:cNvGrpSpPr>
            <p:nvPr/>
          </p:nvGrpSpPr>
          <p:grpSpPr bwMode="auto">
            <a:xfrm>
              <a:off x="785802" y="1928802"/>
              <a:ext cx="1305642" cy="1357323"/>
              <a:chOff x="4319662" y="1285597"/>
              <a:chExt cx="1462839" cy="1432356"/>
            </a:xfrm>
          </p:grpSpPr>
          <p:grpSp>
            <p:nvGrpSpPr>
              <p:cNvPr id="5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72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73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1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70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71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2" name="그룹 7"/>
            <p:cNvGrpSpPr>
              <a:grpSpLocks/>
            </p:cNvGrpSpPr>
            <p:nvPr/>
          </p:nvGrpSpPr>
          <p:grpSpPr bwMode="auto">
            <a:xfrm>
              <a:off x="846344" y="1928802"/>
              <a:ext cx="765060" cy="795343"/>
              <a:chOff x="4319662" y="1285597"/>
              <a:chExt cx="1462839" cy="1432356"/>
            </a:xfrm>
          </p:grpSpPr>
          <p:grpSp>
            <p:nvGrpSpPr>
              <p:cNvPr id="13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66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67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4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64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65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5" name="그룹 7"/>
            <p:cNvGrpSpPr>
              <a:grpSpLocks/>
            </p:cNvGrpSpPr>
            <p:nvPr/>
          </p:nvGrpSpPr>
          <p:grpSpPr bwMode="auto">
            <a:xfrm>
              <a:off x="2409102" y="1285861"/>
              <a:ext cx="1162766" cy="1071570"/>
              <a:chOff x="4319662" y="1285597"/>
              <a:chExt cx="1462839" cy="1432356"/>
            </a:xfrm>
          </p:grpSpPr>
          <p:grpSp>
            <p:nvGrpSpPr>
              <p:cNvPr id="16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60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61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7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58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59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8" name="그룹 7"/>
            <p:cNvGrpSpPr>
              <a:grpSpLocks/>
            </p:cNvGrpSpPr>
            <p:nvPr/>
          </p:nvGrpSpPr>
          <p:grpSpPr bwMode="auto">
            <a:xfrm>
              <a:off x="2462202" y="571480"/>
              <a:ext cx="1305642" cy="1357323"/>
              <a:chOff x="4319662" y="1285597"/>
              <a:chExt cx="1462839" cy="1432356"/>
            </a:xfrm>
          </p:grpSpPr>
          <p:grpSp>
            <p:nvGrpSpPr>
              <p:cNvPr id="19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54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55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20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52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53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21" name="그룹 7"/>
            <p:cNvGrpSpPr>
              <a:grpSpLocks/>
            </p:cNvGrpSpPr>
            <p:nvPr/>
          </p:nvGrpSpPr>
          <p:grpSpPr bwMode="auto">
            <a:xfrm>
              <a:off x="1459010" y="1071545"/>
              <a:ext cx="765070" cy="795343"/>
              <a:chOff x="4319662" y="1285597"/>
              <a:chExt cx="1462858" cy="1432356"/>
            </a:xfrm>
          </p:grpSpPr>
          <p:grpSp>
            <p:nvGrpSpPr>
              <p:cNvPr id="22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48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49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23" name="타원 34"/>
              <p:cNvGrpSpPr>
                <a:grpSpLocks/>
              </p:cNvGrpSpPr>
              <p:nvPr/>
            </p:nvGrpSpPr>
            <p:grpSpPr bwMode="auto">
              <a:xfrm>
                <a:off x="4319687" y="1285597"/>
                <a:ext cx="1462833" cy="1432356"/>
                <a:chOff x="5187694" y="2773680"/>
                <a:chExt cx="292608" cy="286512"/>
              </a:xfrm>
            </p:grpSpPr>
            <p:pic>
              <p:nvPicPr>
                <p:cNvPr id="146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47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0752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24" name="그룹 204"/>
            <p:cNvGrpSpPr>
              <a:grpSpLocks/>
            </p:cNvGrpSpPr>
            <p:nvPr/>
          </p:nvGrpSpPr>
          <p:grpSpPr bwMode="auto">
            <a:xfrm>
              <a:off x="1763810" y="1938326"/>
              <a:ext cx="1090326" cy="1133484"/>
              <a:chOff x="4319662" y="1285597"/>
              <a:chExt cx="1462839" cy="1432356"/>
            </a:xfrm>
          </p:grpSpPr>
          <p:grpSp>
            <p:nvGrpSpPr>
              <p:cNvPr id="25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42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43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26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40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41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27" name="그룹 7"/>
            <p:cNvGrpSpPr>
              <a:grpSpLocks/>
            </p:cNvGrpSpPr>
            <p:nvPr/>
          </p:nvGrpSpPr>
          <p:grpSpPr bwMode="auto">
            <a:xfrm>
              <a:off x="592230" y="1366822"/>
              <a:ext cx="765060" cy="795343"/>
              <a:chOff x="4319662" y="1285597"/>
              <a:chExt cx="1462839" cy="1432356"/>
            </a:xfrm>
          </p:grpSpPr>
          <p:grpSp>
            <p:nvGrpSpPr>
              <p:cNvPr id="28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36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7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29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34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5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30" name="그룹 7"/>
            <p:cNvGrpSpPr>
              <a:grpSpLocks/>
            </p:cNvGrpSpPr>
            <p:nvPr/>
          </p:nvGrpSpPr>
          <p:grpSpPr bwMode="auto">
            <a:xfrm>
              <a:off x="214282" y="1704963"/>
              <a:ext cx="765060" cy="795343"/>
              <a:chOff x="4319662" y="1285597"/>
              <a:chExt cx="1462839" cy="1432356"/>
            </a:xfrm>
          </p:grpSpPr>
          <p:grpSp>
            <p:nvGrpSpPr>
              <p:cNvPr id="31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30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31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32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28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29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33" name="그룹 7"/>
            <p:cNvGrpSpPr>
              <a:grpSpLocks/>
            </p:cNvGrpSpPr>
            <p:nvPr/>
          </p:nvGrpSpPr>
          <p:grpSpPr bwMode="auto">
            <a:xfrm>
              <a:off x="3584467" y="2919410"/>
              <a:ext cx="558905" cy="581028"/>
              <a:chOff x="4319662" y="1285597"/>
              <a:chExt cx="1462839" cy="1432356"/>
            </a:xfrm>
          </p:grpSpPr>
          <p:grpSp>
            <p:nvGrpSpPr>
              <p:cNvPr id="34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24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25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35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22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23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36" name="그룹 7"/>
            <p:cNvGrpSpPr>
              <a:grpSpLocks/>
            </p:cNvGrpSpPr>
            <p:nvPr/>
          </p:nvGrpSpPr>
          <p:grpSpPr bwMode="auto">
            <a:xfrm>
              <a:off x="3714744" y="2428868"/>
              <a:ext cx="558905" cy="581028"/>
              <a:chOff x="4319662" y="1285597"/>
              <a:chExt cx="1462839" cy="1432356"/>
            </a:xfrm>
          </p:grpSpPr>
          <p:grpSp>
            <p:nvGrpSpPr>
              <p:cNvPr id="37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18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19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42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16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17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43" name="그룹 7"/>
            <p:cNvGrpSpPr>
              <a:grpSpLocks/>
            </p:cNvGrpSpPr>
            <p:nvPr/>
          </p:nvGrpSpPr>
          <p:grpSpPr bwMode="auto">
            <a:xfrm>
              <a:off x="3981740" y="2571744"/>
              <a:ext cx="1090326" cy="1133484"/>
              <a:chOff x="4319662" y="1285597"/>
              <a:chExt cx="1462839" cy="1432356"/>
            </a:xfrm>
          </p:grpSpPr>
          <p:grpSp>
            <p:nvGrpSpPr>
              <p:cNvPr id="48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12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13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49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10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11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54" name="그룹 7"/>
            <p:cNvGrpSpPr>
              <a:grpSpLocks/>
            </p:cNvGrpSpPr>
            <p:nvPr/>
          </p:nvGrpSpPr>
          <p:grpSpPr bwMode="auto">
            <a:xfrm>
              <a:off x="6745422" y="1938326"/>
              <a:ext cx="765060" cy="795343"/>
              <a:chOff x="4319662" y="1285597"/>
              <a:chExt cx="1462839" cy="1432356"/>
            </a:xfrm>
          </p:grpSpPr>
          <p:grpSp>
            <p:nvGrpSpPr>
              <p:cNvPr id="55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06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07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60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104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05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61" name="그룹 7"/>
            <p:cNvGrpSpPr>
              <a:grpSpLocks/>
            </p:cNvGrpSpPr>
            <p:nvPr/>
          </p:nvGrpSpPr>
          <p:grpSpPr bwMode="auto">
            <a:xfrm>
              <a:off x="7358081" y="2090726"/>
              <a:ext cx="1081165" cy="1123960"/>
              <a:chOff x="4319662" y="1285597"/>
              <a:chExt cx="1462839" cy="1432356"/>
            </a:xfrm>
          </p:grpSpPr>
          <p:grpSp>
            <p:nvGrpSpPr>
              <p:cNvPr id="66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100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01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67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98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99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72" name="그룹 7"/>
            <p:cNvGrpSpPr>
              <a:grpSpLocks/>
            </p:cNvGrpSpPr>
            <p:nvPr/>
          </p:nvGrpSpPr>
          <p:grpSpPr bwMode="auto">
            <a:xfrm>
              <a:off x="3857620" y="918400"/>
              <a:ext cx="500066" cy="519860"/>
              <a:chOff x="4319662" y="1285597"/>
              <a:chExt cx="1462839" cy="1432356"/>
            </a:xfrm>
          </p:grpSpPr>
          <p:grpSp>
            <p:nvGrpSpPr>
              <p:cNvPr id="73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94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95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78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92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93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79" name="그룹 7"/>
            <p:cNvGrpSpPr>
              <a:grpSpLocks/>
            </p:cNvGrpSpPr>
            <p:nvPr/>
          </p:nvGrpSpPr>
          <p:grpSpPr bwMode="auto">
            <a:xfrm>
              <a:off x="7143768" y="1070800"/>
              <a:ext cx="500066" cy="519860"/>
              <a:chOff x="4319662" y="1285597"/>
              <a:chExt cx="1462839" cy="1432356"/>
            </a:xfrm>
          </p:grpSpPr>
          <p:grpSp>
            <p:nvGrpSpPr>
              <p:cNvPr id="84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88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9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85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86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7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90" name="그룹 7"/>
            <p:cNvGrpSpPr>
              <a:grpSpLocks/>
            </p:cNvGrpSpPr>
            <p:nvPr/>
          </p:nvGrpSpPr>
          <p:grpSpPr bwMode="auto">
            <a:xfrm>
              <a:off x="7143768" y="3266330"/>
              <a:ext cx="500066" cy="519860"/>
              <a:chOff x="4319662" y="1285597"/>
              <a:chExt cx="1462839" cy="1432356"/>
            </a:xfrm>
          </p:grpSpPr>
          <p:grpSp>
            <p:nvGrpSpPr>
              <p:cNvPr id="91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82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3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96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80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1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97" name="그룹 7"/>
            <p:cNvGrpSpPr>
              <a:grpSpLocks/>
            </p:cNvGrpSpPr>
            <p:nvPr/>
          </p:nvGrpSpPr>
          <p:grpSpPr bwMode="auto">
            <a:xfrm>
              <a:off x="7429520" y="2754953"/>
              <a:ext cx="785818" cy="816923"/>
              <a:chOff x="4319662" y="1285597"/>
              <a:chExt cx="1462839" cy="1432356"/>
            </a:xfrm>
          </p:grpSpPr>
          <p:grpSp>
            <p:nvGrpSpPr>
              <p:cNvPr id="102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76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77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03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74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75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08" name="그룹 7"/>
            <p:cNvGrpSpPr>
              <a:grpSpLocks/>
            </p:cNvGrpSpPr>
            <p:nvPr/>
          </p:nvGrpSpPr>
          <p:grpSpPr bwMode="auto">
            <a:xfrm>
              <a:off x="7929586" y="2571744"/>
              <a:ext cx="500066" cy="519860"/>
              <a:chOff x="4319662" y="1285597"/>
              <a:chExt cx="1462839" cy="1432356"/>
            </a:xfrm>
          </p:grpSpPr>
          <p:grpSp>
            <p:nvGrpSpPr>
              <p:cNvPr id="109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70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71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14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68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9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15" name="그룹 7"/>
            <p:cNvGrpSpPr>
              <a:grpSpLocks/>
            </p:cNvGrpSpPr>
            <p:nvPr/>
          </p:nvGrpSpPr>
          <p:grpSpPr bwMode="auto">
            <a:xfrm>
              <a:off x="7684996" y="428604"/>
              <a:ext cx="1039931" cy="1081094"/>
              <a:chOff x="4319662" y="1285597"/>
              <a:chExt cx="1462839" cy="1432356"/>
            </a:xfrm>
          </p:grpSpPr>
          <p:grpSp>
            <p:nvGrpSpPr>
              <p:cNvPr id="120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64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5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21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62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3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26" name="그룹 7"/>
            <p:cNvGrpSpPr>
              <a:grpSpLocks/>
            </p:cNvGrpSpPr>
            <p:nvPr/>
          </p:nvGrpSpPr>
          <p:grpSpPr bwMode="auto">
            <a:xfrm>
              <a:off x="6072198" y="581004"/>
              <a:ext cx="1039931" cy="1081094"/>
              <a:chOff x="4319662" y="1285597"/>
              <a:chExt cx="1462839" cy="1432356"/>
            </a:xfrm>
          </p:grpSpPr>
          <p:grpSp>
            <p:nvGrpSpPr>
              <p:cNvPr id="127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58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9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32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56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7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33" name="그룹 7"/>
            <p:cNvGrpSpPr>
              <a:grpSpLocks/>
            </p:cNvGrpSpPr>
            <p:nvPr/>
          </p:nvGrpSpPr>
          <p:grpSpPr bwMode="auto">
            <a:xfrm>
              <a:off x="5500694" y="857232"/>
              <a:ext cx="852100" cy="885828"/>
              <a:chOff x="4319662" y="1285597"/>
              <a:chExt cx="1462839" cy="1432356"/>
            </a:xfrm>
          </p:grpSpPr>
          <p:grpSp>
            <p:nvGrpSpPr>
              <p:cNvPr id="138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52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3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39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50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1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44" name="그룹 7"/>
            <p:cNvGrpSpPr>
              <a:grpSpLocks/>
            </p:cNvGrpSpPr>
            <p:nvPr/>
          </p:nvGrpSpPr>
          <p:grpSpPr bwMode="auto">
            <a:xfrm>
              <a:off x="5200340" y="1142984"/>
              <a:ext cx="723825" cy="752476"/>
              <a:chOff x="4319662" y="1285597"/>
              <a:chExt cx="1462839" cy="1432356"/>
            </a:xfrm>
          </p:grpSpPr>
          <p:grpSp>
            <p:nvGrpSpPr>
              <p:cNvPr id="145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46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7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50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44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5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  <p:grpSp>
          <p:nvGrpSpPr>
            <p:cNvPr id="151" name="그룹 7"/>
            <p:cNvGrpSpPr>
              <a:grpSpLocks/>
            </p:cNvGrpSpPr>
            <p:nvPr/>
          </p:nvGrpSpPr>
          <p:grpSpPr bwMode="auto">
            <a:xfrm>
              <a:off x="6929533" y="223814"/>
              <a:ext cx="723825" cy="752476"/>
              <a:chOff x="4319662" y="1285597"/>
              <a:chExt cx="1462839" cy="1432356"/>
            </a:xfrm>
          </p:grpSpPr>
          <p:grpSp>
            <p:nvGrpSpPr>
              <p:cNvPr id="156" name="포인트가 4개인 별 4"/>
              <p:cNvGrpSpPr>
                <a:grpSpLocks/>
              </p:cNvGrpSpPr>
              <p:nvPr/>
            </p:nvGrpSpPr>
            <p:grpSpPr bwMode="auto">
              <a:xfrm>
                <a:off x="4319662" y="1285597"/>
                <a:ext cx="1462831" cy="1432356"/>
                <a:chOff x="5187696" y="2773680"/>
                <a:chExt cx="292608" cy="286512"/>
              </a:xfrm>
            </p:grpSpPr>
            <p:pic>
              <p:nvPicPr>
                <p:cNvPr id="40" name="포인트가 4개인 별 4"/>
                <p:cNvPicPr>
                  <a:picLocks noChangeArrowheads="1"/>
                </p:cNvPicPr>
                <p:nvPr/>
              </p:nvPicPr>
              <p:blipFill>
                <a:blip r:embed="rId8" cstate="print"/>
                <a:srcRect/>
                <a:stretch>
                  <a:fillRect/>
                </a:stretch>
              </p:blipFill>
              <p:spPr bwMode="auto">
                <a:xfrm>
                  <a:off x="5187696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41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5332135" y="2913788"/>
                  <a:ext cx="6554" cy="6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  <p:grpSp>
            <p:nvGrpSpPr>
              <p:cNvPr id="157" name="타원 34"/>
              <p:cNvGrpSpPr>
                <a:grpSpLocks/>
              </p:cNvGrpSpPr>
              <p:nvPr/>
            </p:nvGrpSpPr>
            <p:grpSpPr bwMode="auto">
              <a:xfrm>
                <a:off x="4319669" y="1285597"/>
                <a:ext cx="1462832" cy="1432356"/>
                <a:chOff x="5187694" y="2773680"/>
                <a:chExt cx="292608" cy="286512"/>
              </a:xfrm>
            </p:grpSpPr>
            <p:pic>
              <p:nvPicPr>
                <p:cNvPr id="38" name="타원 34"/>
                <p:cNvPicPr>
                  <a:picLocks noChangeArrowheads="1"/>
                </p:cNvPicPr>
                <p:nvPr/>
              </p:nvPicPr>
              <p:blipFill>
                <a:blip r:embed="rId9" cstate="print"/>
                <a:srcRect/>
                <a:stretch>
                  <a:fillRect/>
                </a:stretch>
              </p:blipFill>
              <p:spPr bwMode="auto">
                <a:xfrm>
                  <a:off x="5187694" y="2773680"/>
                  <a:ext cx="292608" cy="2865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39" name="Text Box 85"/>
                <p:cNvSpPr txBox="1">
                  <a:spLocks noChangeArrowheads="1"/>
                </p:cNvSpPr>
                <p:nvPr/>
              </p:nvSpPr>
              <p:spPr bwMode="auto">
                <a:xfrm>
                  <a:off x="5237181" y="2818837"/>
                  <a:ext cx="196456" cy="1964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 algn="ctr"/>
                  <a:endParaRPr lang="ko-KR" altLang="ko-KR">
                    <a:latin typeface="맑은 고딕" pitchFamily="50" charset="-127"/>
                  </a:endParaRPr>
                </a:p>
              </p:txBody>
            </p:sp>
          </p:grp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디자인 사용자 지정">
  <a:themeElements>
    <a:clrScheme name="2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dash"/>
          <a:round/>
          <a:headEnd type="none" w="med" len="med"/>
          <a:tailEnd type="none" w="med" len="med"/>
        </a:ln>
        <a:effectLst>
          <a:outerShdw dist="53882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새굴림" pitchFamily="18" charset="-127"/>
            <a:ea typeface="새굴림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dash"/>
          <a:round/>
          <a:headEnd type="none" w="med" len="med"/>
          <a:tailEnd type="none" w="med" len="med"/>
        </a:ln>
        <a:effectLst>
          <a:outerShdw dist="53882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새굴림" pitchFamily="18" charset="-127"/>
            <a:ea typeface="새굴림" pitchFamily="18" charset="-127"/>
          </a:defRPr>
        </a:defPPr>
      </a:lstStyle>
    </a:lnDef>
  </a:objectDefaults>
  <a:extraClrSchemeLst>
    <a:extraClrScheme>
      <a:clrScheme name="2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디자인 사용자 지정">
  <a:themeElements>
    <a:clrScheme name="3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dash"/>
          <a:round/>
          <a:headEnd type="none" w="med" len="med"/>
          <a:tailEnd type="none" w="med" len="med"/>
        </a:ln>
        <a:effectLst>
          <a:outerShdw dist="53882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새굴림" pitchFamily="18" charset="-127"/>
            <a:ea typeface="새굴림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175" cap="flat" cmpd="sng" algn="ctr">
          <a:solidFill>
            <a:schemeClr val="tx1"/>
          </a:solidFill>
          <a:prstDash val="dash"/>
          <a:round/>
          <a:headEnd type="none" w="med" len="med"/>
          <a:tailEnd type="none" w="med" len="med"/>
        </a:ln>
        <a:effectLst>
          <a:outerShdw dist="53882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새굴림" pitchFamily="18" charset="-127"/>
            <a:ea typeface="새굴림" pitchFamily="18" charset="-127"/>
          </a:defRPr>
        </a:defPPr>
      </a:lstStyle>
    </a:lnDef>
  </a:objectDefaults>
  <a:extraClrSchemeLst>
    <a:extraClrScheme>
      <a:clrScheme name="3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Digital Dots</Template>
  <TotalTime>32901</TotalTime>
  <Words>4965</Words>
  <Application>Microsoft Office PowerPoint</Application>
  <PresentationFormat>화면 슬라이드 쇼(4:3)</PresentationFormat>
  <Paragraphs>890</Paragraphs>
  <Slides>45</Slides>
  <Notes>45</Notes>
  <HiddenSlides>0</HiddenSlides>
  <MMClips>0</MMClips>
  <ScaleCrop>false</ScaleCrop>
  <HeadingPairs>
    <vt:vector size="4" baseType="variant">
      <vt:variant>
        <vt:lpstr>테마</vt:lpstr>
      </vt:variant>
      <vt:variant>
        <vt:i4>3</vt:i4>
      </vt:variant>
      <vt:variant>
        <vt:lpstr>슬라이드 제목</vt:lpstr>
      </vt:variant>
      <vt:variant>
        <vt:i4>45</vt:i4>
      </vt:variant>
    </vt:vector>
  </HeadingPairs>
  <TitlesOfParts>
    <vt:vector size="48" baseType="lpstr">
      <vt:lpstr>Office 테마</vt:lpstr>
      <vt:lpstr>2_디자인 사용자 지정</vt:lpstr>
      <vt:lpstr>3_디자인 사용자 지정</vt:lpstr>
      <vt:lpstr>슬라이드 0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금융감독원</dc:creator>
  <cp:lastModifiedBy>금융감독원</cp:lastModifiedBy>
  <cp:revision>3185</cp:revision>
  <dcterms:created xsi:type="dcterms:W3CDTF">2010-01-11T04:53:26Z</dcterms:created>
  <dcterms:modified xsi:type="dcterms:W3CDTF">2016-09-02T05:43:55Z</dcterms:modified>
</cp:coreProperties>
</file>