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995" r:id="rId2"/>
  </p:sldMasterIdLst>
  <p:notesMasterIdLst>
    <p:notesMasterId r:id="rId39"/>
  </p:notesMasterIdLst>
  <p:handoutMasterIdLst>
    <p:handoutMasterId r:id="rId40"/>
  </p:handoutMasterIdLst>
  <p:sldIdLst>
    <p:sldId id="256" r:id="rId3"/>
    <p:sldId id="257" r:id="rId4"/>
    <p:sldId id="286" r:id="rId5"/>
    <p:sldId id="336" r:id="rId6"/>
    <p:sldId id="362" r:id="rId7"/>
    <p:sldId id="364" r:id="rId8"/>
    <p:sldId id="367" r:id="rId9"/>
    <p:sldId id="368" r:id="rId10"/>
    <p:sldId id="369" r:id="rId11"/>
    <p:sldId id="370" r:id="rId12"/>
    <p:sldId id="371" r:id="rId13"/>
    <p:sldId id="372" r:id="rId14"/>
    <p:sldId id="373" r:id="rId15"/>
    <p:sldId id="374" r:id="rId16"/>
    <p:sldId id="375" r:id="rId17"/>
    <p:sldId id="376" r:id="rId18"/>
    <p:sldId id="377" r:id="rId19"/>
    <p:sldId id="378" r:id="rId20"/>
    <p:sldId id="393" r:id="rId21"/>
    <p:sldId id="383" r:id="rId22"/>
    <p:sldId id="394" r:id="rId23"/>
    <p:sldId id="384" r:id="rId24"/>
    <p:sldId id="385" r:id="rId25"/>
    <p:sldId id="386" r:id="rId26"/>
    <p:sldId id="395" r:id="rId27"/>
    <p:sldId id="387" r:id="rId28"/>
    <p:sldId id="396" r:id="rId29"/>
    <p:sldId id="388" r:id="rId30"/>
    <p:sldId id="389" r:id="rId31"/>
    <p:sldId id="397" r:id="rId32"/>
    <p:sldId id="390" r:id="rId33"/>
    <p:sldId id="391" r:id="rId34"/>
    <p:sldId id="398" r:id="rId35"/>
    <p:sldId id="392" r:id="rId36"/>
    <p:sldId id="379" r:id="rId37"/>
    <p:sldId id="380" r:id="rId38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8"/>
    <a:srgbClr val="000099"/>
    <a:srgbClr val="0D64C3"/>
    <a:srgbClr val="005E5C"/>
    <a:srgbClr val="003399"/>
    <a:srgbClr val="0066CC"/>
    <a:srgbClr val="ED9997"/>
    <a:srgbClr val="E6C8C8"/>
    <a:srgbClr val="1076E6"/>
    <a:srgbClr val="8039CF"/>
  </p:clrMru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9504" autoAdjust="0"/>
    <p:restoredTop sz="94660"/>
  </p:normalViewPr>
  <p:slideViewPr>
    <p:cSldViewPr>
      <p:cViewPr varScale="1">
        <p:scale>
          <a:sx n="68" d="100"/>
          <a:sy n="68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1536" y="-102"/>
      </p:cViewPr>
      <p:guideLst>
        <p:guide orient="horz" pos="3127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B7BEAC-21A0-4675-ADF7-365188210F17}" type="doc">
      <dgm:prSet loTypeId="urn:microsoft.com/office/officeart/2005/8/layout/vList2" loCatId="list" qsTypeId="urn:microsoft.com/office/officeart/2005/8/quickstyle/3d4" qsCatId="3D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2D42F09D-F1F9-421D-B792-F287207525EB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외화자산</a:t>
          </a:r>
          <a:r>
            <a:rPr lang="en-US" altLang="ko-KR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·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부채의 만기 분류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290A45FA-21CF-4D50-9FE2-17AF2388C34B}" type="parTrans" cxnId="{5D36032A-579D-4AB9-8E26-14713B5E503F}">
      <dgm:prSet/>
      <dgm:spPr/>
      <dgm:t>
        <a:bodyPr/>
        <a:lstStyle/>
        <a:p>
          <a:pPr latinLnBrk="1"/>
          <a:endParaRPr lang="ko-KR" altLang="en-US"/>
        </a:p>
      </dgm:t>
    </dgm:pt>
    <dgm:pt modelId="{D9B07243-48DD-4D6F-ACA4-52D8C2C5B8B7}" type="sibTrans" cxnId="{5D36032A-579D-4AB9-8E26-14713B5E503F}">
      <dgm:prSet/>
      <dgm:spPr/>
      <dgm:t>
        <a:bodyPr/>
        <a:lstStyle/>
        <a:p>
          <a:pPr latinLnBrk="1"/>
          <a:endParaRPr lang="ko-KR" altLang="en-US"/>
        </a:p>
      </dgm:t>
    </dgm:pt>
    <dgm:pt modelId="{E39FFCA3-4FD8-40CE-8650-09BD4CA4E0F6}">
      <dgm:prSet phldrT="[텍스트]" custT="1"/>
      <dgm:spPr/>
      <dgm:t>
        <a:bodyPr/>
        <a:lstStyle/>
        <a:p>
          <a:pPr latinLnBrk="1"/>
          <a:r>
            <a:rPr lang="ko-KR" altLang="en-US" sz="18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잔존만기별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분류 및 누적기준 작성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D9085589-7D68-4548-8F63-6FB2A76B7FD1}" type="parTrans" cxnId="{D74E7100-87FB-4E5C-965B-C28E93B50207}">
      <dgm:prSet/>
      <dgm:spPr/>
      <dgm:t>
        <a:bodyPr/>
        <a:lstStyle/>
        <a:p>
          <a:pPr latinLnBrk="1"/>
          <a:endParaRPr lang="ko-KR" altLang="en-US"/>
        </a:p>
      </dgm:t>
    </dgm:pt>
    <dgm:pt modelId="{128913E6-8B70-4B70-BE40-D69291F8EE05}" type="sibTrans" cxnId="{D74E7100-87FB-4E5C-965B-C28E93B50207}">
      <dgm:prSet/>
      <dgm:spPr/>
      <dgm:t>
        <a:bodyPr/>
        <a:lstStyle/>
        <a:p>
          <a:pPr latinLnBrk="1"/>
          <a:endParaRPr lang="ko-KR" altLang="en-US"/>
        </a:p>
      </dgm:t>
    </dgm:pt>
    <dgm:pt modelId="{05F52955-58DE-41C8-9B1C-BDF936395AF4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회계처리 관련 오류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1F0C1952-F1A6-48CA-944B-453F05932B80}" type="parTrans" cxnId="{94D02934-E607-440E-A287-F32994D57DC3}">
      <dgm:prSet/>
      <dgm:spPr/>
      <dgm:t>
        <a:bodyPr/>
        <a:lstStyle/>
        <a:p>
          <a:pPr latinLnBrk="1"/>
          <a:endParaRPr lang="ko-KR" altLang="en-US"/>
        </a:p>
      </dgm:t>
    </dgm:pt>
    <dgm:pt modelId="{3995883A-658B-4BA4-B73D-889B3A91E4F6}" type="sibTrans" cxnId="{94D02934-E607-440E-A287-F32994D57DC3}">
      <dgm:prSet/>
      <dgm:spPr/>
      <dgm:t>
        <a:bodyPr/>
        <a:lstStyle/>
        <a:p>
          <a:pPr latinLnBrk="1"/>
          <a:endParaRPr lang="ko-KR" altLang="en-US"/>
        </a:p>
      </dgm:t>
    </dgm:pt>
    <dgm:pt modelId="{DDF772CD-74E4-4F04-BD3F-312673A9318A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개별 외화자산</a:t>
          </a:r>
          <a:r>
            <a:rPr lang="en-US" altLang="ko-KR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·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부채계정의 회계처리 문제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A69F30F1-327B-4B74-BF6D-FA993646DFDF}" type="parTrans" cxnId="{574F2CD5-3271-42D7-81C4-D642ECF0382B}">
      <dgm:prSet/>
      <dgm:spPr/>
      <dgm:t>
        <a:bodyPr/>
        <a:lstStyle/>
        <a:p>
          <a:pPr latinLnBrk="1"/>
          <a:endParaRPr lang="ko-KR" altLang="en-US"/>
        </a:p>
      </dgm:t>
    </dgm:pt>
    <dgm:pt modelId="{476AF9EC-6FC7-4D83-BFF7-F10ABBDA012E}" type="sibTrans" cxnId="{574F2CD5-3271-42D7-81C4-D642ECF0382B}">
      <dgm:prSet/>
      <dgm:spPr/>
      <dgm:t>
        <a:bodyPr/>
        <a:lstStyle/>
        <a:p>
          <a:pPr latinLnBrk="1"/>
          <a:endParaRPr lang="ko-KR" altLang="en-US"/>
        </a:p>
      </dgm:t>
    </dgm:pt>
    <dgm:pt modelId="{810D0F99-C6CB-47FF-9798-E3EDE6878CFA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통화파생상품 관련 오류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758D5E1E-3AE9-4E57-9771-F960C9A48F11}" type="parTrans" cxnId="{3557AE0F-5A11-4134-9D46-B0C67293D31B}">
      <dgm:prSet/>
      <dgm:spPr/>
      <dgm:t>
        <a:bodyPr/>
        <a:lstStyle/>
        <a:p>
          <a:pPr latinLnBrk="1"/>
          <a:endParaRPr lang="ko-KR" altLang="en-US"/>
        </a:p>
      </dgm:t>
    </dgm:pt>
    <dgm:pt modelId="{4AB3B309-376F-4D61-95BA-E9553137DF30}" type="sibTrans" cxnId="{3557AE0F-5A11-4134-9D46-B0C67293D31B}">
      <dgm:prSet/>
      <dgm:spPr/>
      <dgm:t>
        <a:bodyPr/>
        <a:lstStyle/>
        <a:p>
          <a:pPr latinLnBrk="1"/>
          <a:endParaRPr lang="ko-KR" altLang="en-US"/>
        </a:p>
      </dgm:t>
    </dgm:pt>
    <dgm:pt modelId="{5112DE8C-EE52-4117-9C77-2F4CA7CFC3B9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난외계정으로 분류</a:t>
          </a:r>
          <a:r>
            <a:rPr lang="en-US" altLang="ko-KR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외화 </a:t>
          </a:r>
          <a:r>
            <a:rPr lang="en-US" altLang="ko-KR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B/S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에 불포함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0339B4EA-D0D8-49D9-91A5-15C36EA3EA8B}" type="parTrans" cxnId="{1B0BA5A0-E6EF-4B95-ADC3-0E6BDE075B5C}">
      <dgm:prSet/>
      <dgm:spPr/>
      <dgm:t>
        <a:bodyPr/>
        <a:lstStyle/>
        <a:p>
          <a:pPr latinLnBrk="1"/>
          <a:endParaRPr lang="ko-KR" altLang="en-US"/>
        </a:p>
      </dgm:t>
    </dgm:pt>
    <dgm:pt modelId="{A7C30E36-1D55-4D93-A3BD-2E842DA2A6C2}" type="sibTrans" cxnId="{1B0BA5A0-E6EF-4B95-ADC3-0E6BDE075B5C}">
      <dgm:prSet/>
      <dgm:spPr/>
      <dgm:t>
        <a:bodyPr/>
        <a:lstStyle/>
        <a:p>
          <a:pPr latinLnBrk="1"/>
          <a:endParaRPr lang="ko-KR" altLang="en-US"/>
        </a:p>
      </dgm:t>
    </dgm:pt>
    <dgm:pt modelId="{B9BB0E79-15E0-4D12-9C0B-1887CB695415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통화단위 환산 오류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F4A9C835-7FB3-484D-B0D8-6870172C6992}" type="parTrans" cxnId="{F9AB3284-316F-4FB3-A42C-C5DCAD6E0BCB}">
      <dgm:prSet/>
      <dgm:spPr/>
      <dgm:t>
        <a:bodyPr/>
        <a:lstStyle/>
        <a:p>
          <a:pPr latinLnBrk="1"/>
          <a:endParaRPr lang="ko-KR" altLang="en-US"/>
        </a:p>
      </dgm:t>
    </dgm:pt>
    <dgm:pt modelId="{DE173196-37FC-4D40-82CA-5CFAE33CEF23}" type="sibTrans" cxnId="{F9AB3284-316F-4FB3-A42C-C5DCAD6E0BCB}">
      <dgm:prSet/>
      <dgm:spPr/>
      <dgm:t>
        <a:bodyPr/>
        <a:lstStyle/>
        <a:p>
          <a:pPr latinLnBrk="1"/>
          <a:endParaRPr lang="ko-KR" altLang="en-US"/>
        </a:p>
      </dgm:t>
    </dgm:pt>
    <dgm:pt modelId="{07A79BA0-84CC-4FCC-9537-D1B42C87F1D7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보고서 작성시 </a:t>
          </a:r>
          <a:r>
            <a:rPr lang="ko-KR" altLang="en-US" sz="18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천미달러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단위로 금액 입력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CF9C9112-958B-446D-AE06-6E4D3EBFB673}" type="parTrans" cxnId="{2A20A961-7B8F-4608-98ED-3DE6DDB85947}">
      <dgm:prSet/>
      <dgm:spPr/>
      <dgm:t>
        <a:bodyPr/>
        <a:lstStyle/>
        <a:p>
          <a:pPr latinLnBrk="1"/>
          <a:endParaRPr lang="ko-KR" altLang="en-US"/>
        </a:p>
      </dgm:t>
    </dgm:pt>
    <dgm:pt modelId="{C90B6991-A2D0-4FE5-9098-D4611E8236F9}" type="sibTrans" cxnId="{2A20A961-7B8F-4608-98ED-3DE6DDB85947}">
      <dgm:prSet/>
      <dgm:spPr/>
      <dgm:t>
        <a:bodyPr/>
        <a:lstStyle/>
        <a:p>
          <a:pPr latinLnBrk="1"/>
          <a:endParaRPr lang="ko-KR" altLang="en-US"/>
        </a:p>
      </dgm:t>
    </dgm:pt>
    <dgm:pt modelId="{3EBE5508-2CB6-4548-9E03-7C9FC2A3A255}">
      <dgm:prSet phldrT="[텍스트]" custT="1"/>
      <dgm:spPr/>
      <dgm:t>
        <a:bodyPr/>
        <a:lstStyle/>
        <a:p>
          <a:pPr latinLnBrk="1"/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외화유동성 규제비율 </a:t>
          </a:r>
          <a:r>
            <a:rPr lang="ko-KR" altLang="en-US" sz="2000" dirty="0" err="1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위반시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 미보고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C4A4A009-BA03-4C6F-843C-E162FB6B7A56}" type="parTrans" cxnId="{6A8603F4-69C1-4FC5-A832-6986B14841FD}">
      <dgm:prSet/>
      <dgm:spPr/>
      <dgm:t>
        <a:bodyPr/>
        <a:lstStyle/>
        <a:p>
          <a:pPr latinLnBrk="1"/>
          <a:endParaRPr lang="ko-KR" altLang="en-US"/>
        </a:p>
      </dgm:t>
    </dgm:pt>
    <dgm:pt modelId="{9B15BFE9-908B-4ABA-A888-A418268DCE44}" type="sibTrans" cxnId="{6A8603F4-69C1-4FC5-A832-6986B14841FD}">
      <dgm:prSet/>
      <dgm:spPr/>
      <dgm:t>
        <a:bodyPr/>
        <a:lstStyle/>
        <a:p>
          <a:pPr latinLnBrk="1"/>
          <a:endParaRPr lang="ko-KR" altLang="en-US"/>
        </a:p>
      </dgm:t>
    </dgm:pt>
    <dgm:pt modelId="{09688A04-701C-475D-BE9E-2D9D9E57C480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금융회사에서 위반내역을 파악하여 </a:t>
          </a:r>
          <a:r>
            <a:rPr lang="ko-KR" altLang="en-US" sz="18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금감원에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보고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23FAB02E-BC44-4FF9-B325-F262E225879D}" type="parTrans" cxnId="{EF007C36-7FE8-4567-82A9-F04AE763FA67}">
      <dgm:prSet/>
      <dgm:spPr/>
      <dgm:t>
        <a:bodyPr/>
        <a:lstStyle/>
        <a:p>
          <a:pPr latinLnBrk="1"/>
          <a:endParaRPr lang="ko-KR" altLang="en-US"/>
        </a:p>
      </dgm:t>
    </dgm:pt>
    <dgm:pt modelId="{E613FF8A-5A1B-4C77-B86D-84D0D7B8CCC4}" type="sibTrans" cxnId="{EF007C36-7FE8-4567-82A9-F04AE763FA67}">
      <dgm:prSet/>
      <dgm:spPr/>
      <dgm:t>
        <a:bodyPr/>
        <a:lstStyle/>
        <a:p>
          <a:pPr latinLnBrk="1"/>
          <a:endParaRPr lang="ko-KR" altLang="en-US"/>
        </a:p>
      </dgm:t>
    </dgm:pt>
    <dgm:pt modelId="{2AB327C3-5D5D-4261-80F0-983A0EDD0977}" type="pres">
      <dgm:prSet presAssocID="{FCB7BEAC-21A0-4675-ADF7-365188210F1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89F961A-F795-4E7A-B452-BB75FD0B0CD3}" type="pres">
      <dgm:prSet presAssocID="{2D42F09D-F1F9-421D-B792-F287207525EB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CAE8E14-B5CD-4982-9B01-0B008B35D45F}" type="pres">
      <dgm:prSet presAssocID="{2D42F09D-F1F9-421D-B792-F287207525EB}" presName="childText" presStyleLbl="revTx" presStyleIdx="0" presStyleCnt="5" custLinFactNeighborY="1480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6405415-7522-4B4C-8A56-A68FAAEEA5DE}" type="pres">
      <dgm:prSet presAssocID="{05F52955-58DE-41C8-9B1C-BDF936395AF4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DA532E3-C64D-4B5F-ADAB-3B6AC27C0142}" type="pres">
      <dgm:prSet presAssocID="{05F52955-58DE-41C8-9B1C-BDF936395AF4}" presName="childText" presStyleLbl="revTx" presStyleIdx="1" presStyleCnt="5" custLinFactNeighborY="1097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73FC0A9-4789-4F2C-A944-5CF9F5CA2098}" type="pres">
      <dgm:prSet presAssocID="{810D0F99-C6CB-47FF-9798-E3EDE6878CFA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D4897AD-1734-4387-8EE6-74EA25AD6B7B}" type="pres">
      <dgm:prSet presAssocID="{810D0F99-C6CB-47FF-9798-E3EDE6878CFA}" presName="childText" presStyleLbl="revTx" presStyleIdx="2" presStyleCnt="5" custLinFactNeighborY="880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0475F2E-1347-40B9-B224-209B7BFEC151}" type="pres">
      <dgm:prSet presAssocID="{B9BB0E79-15E0-4D12-9C0B-1887CB695415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A9F1074-AC25-402B-A1E9-A718EC2CD28B}" type="pres">
      <dgm:prSet presAssocID="{B9BB0E79-15E0-4D12-9C0B-1887CB695415}" presName="childText" presStyleLbl="revTx" presStyleIdx="3" presStyleCnt="5" custLinFactNeighborY="1267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315BCD5-C536-4F2E-812A-18C86E4D48B8}" type="pres">
      <dgm:prSet presAssocID="{3EBE5508-2CB6-4548-9E03-7C9FC2A3A25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E4F4143-E3CB-43C9-A88B-319D7A512B97}" type="pres">
      <dgm:prSet presAssocID="{3EBE5508-2CB6-4548-9E03-7C9FC2A3A255}" presName="childText" presStyleLbl="revTx" presStyleIdx="4" presStyleCnt="5" custLinFactNeighborY="883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2A20A961-7B8F-4608-98ED-3DE6DDB85947}" srcId="{B9BB0E79-15E0-4D12-9C0B-1887CB695415}" destId="{07A79BA0-84CC-4FCC-9537-D1B42C87F1D7}" srcOrd="0" destOrd="0" parTransId="{CF9C9112-958B-446D-AE06-6E4D3EBFB673}" sibTransId="{C90B6991-A2D0-4FE5-9098-D4611E8236F9}"/>
    <dgm:cxn modelId="{F8E51A3B-FC6F-4FE2-ADD0-313C7852CB18}" type="presOf" srcId="{07A79BA0-84CC-4FCC-9537-D1B42C87F1D7}" destId="{AA9F1074-AC25-402B-A1E9-A718EC2CD28B}" srcOrd="0" destOrd="0" presId="urn:microsoft.com/office/officeart/2005/8/layout/vList2"/>
    <dgm:cxn modelId="{136CF168-7FDD-472A-89A7-F996675A9BC0}" type="presOf" srcId="{DDF772CD-74E4-4F04-BD3F-312673A9318A}" destId="{5DA532E3-C64D-4B5F-ADAB-3B6AC27C0142}" srcOrd="0" destOrd="0" presId="urn:microsoft.com/office/officeart/2005/8/layout/vList2"/>
    <dgm:cxn modelId="{EBD2FBA6-524E-49BC-8C2F-C07E6E806682}" type="presOf" srcId="{2D42F09D-F1F9-421D-B792-F287207525EB}" destId="{489F961A-F795-4E7A-B452-BB75FD0B0CD3}" srcOrd="0" destOrd="0" presId="urn:microsoft.com/office/officeart/2005/8/layout/vList2"/>
    <dgm:cxn modelId="{F79D047A-E353-4476-B069-5B19D2B89406}" type="presOf" srcId="{B9BB0E79-15E0-4D12-9C0B-1887CB695415}" destId="{20475F2E-1347-40B9-B224-209B7BFEC151}" srcOrd="0" destOrd="0" presId="urn:microsoft.com/office/officeart/2005/8/layout/vList2"/>
    <dgm:cxn modelId="{804A2C07-4028-459C-B6F7-4599D9697FD0}" type="presOf" srcId="{810D0F99-C6CB-47FF-9798-E3EDE6878CFA}" destId="{273FC0A9-4789-4F2C-A944-5CF9F5CA2098}" srcOrd="0" destOrd="0" presId="urn:microsoft.com/office/officeart/2005/8/layout/vList2"/>
    <dgm:cxn modelId="{94D02934-E607-440E-A287-F32994D57DC3}" srcId="{FCB7BEAC-21A0-4675-ADF7-365188210F17}" destId="{05F52955-58DE-41C8-9B1C-BDF936395AF4}" srcOrd="1" destOrd="0" parTransId="{1F0C1952-F1A6-48CA-944B-453F05932B80}" sibTransId="{3995883A-658B-4BA4-B73D-889B3A91E4F6}"/>
    <dgm:cxn modelId="{50AF2587-6F0E-46E6-A7E2-53FC6FB7ABD3}" type="presOf" srcId="{5112DE8C-EE52-4117-9C77-2F4CA7CFC3B9}" destId="{9D4897AD-1734-4387-8EE6-74EA25AD6B7B}" srcOrd="0" destOrd="0" presId="urn:microsoft.com/office/officeart/2005/8/layout/vList2"/>
    <dgm:cxn modelId="{F862F338-DA13-4AF3-AB39-E2E534299CD0}" type="presOf" srcId="{E39FFCA3-4FD8-40CE-8650-09BD4CA4E0F6}" destId="{3CAE8E14-B5CD-4982-9B01-0B008B35D45F}" srcOrd="0" destOrd="0" presId="urn:microsoft.com/office/officeart/2005/8/layout/vList2"/>
    <dgm:cxn modelId="{C9EC4DE7-B958-44F0-8401-A3284CC16739}" type="presOf" srcId="{3EBE5508-2CB6-4548-9E03-7C9FC2A3A255}" destId="{7315BCD5-C536-4F2E-812A-18C86E4D48B8}" srcOrd="0" destOrd="0" presId="urn:microsoft.com/office/officeart/2005/8/layout/vList2"/>
    <dgm:cxn modelId="{1B0BA5A0-E6EF-4B95-ADC3-0E6BDE075B5C}" srcId="{810D0F99-C6CB-47FF-9798-E3EDE6878CFA}" destId="{5112DE8C-EE52-4117-9C77-2F4CA7CFC3B9}" srcOrd="0" destOrd="0" parTransId="{0339B4EA-D0D8-49D9-91A5-15C36EA3EA8B}" sibTransId="{A7C30E36-1D55-4D93-A3BD-2E842DA2A6C2}"/>
    <dgm:cxn modelId="{5D993FEA-E0C2-4C20-8FEB-A00C7BB4A26C}" type="presOf" srcId="{09688A04-701C-475D-BE9E-2D9D9E57C480}" destId="{2E4F4143-E3CB-43C9-A88B-319D7A512B97}" srcOrd="0" destOrd="0" presId="urn:microsoft.com/office/officeart/2005/8/layout/vList2"/>
    <dgm:cxn modelId="{574F2CD5-3271-42D7-81C4-D642ECF0382B}" srcId="{05F52955-58DE-41C8-9B1C-BDF936395AF4}" destId="{DDF772CD-74E4-4F04-BD3F-312673A9318A}" srcOrd="0" destOrd="0" parTransId="{A69F30F1-327B-4B74-BF6D-FA993646DFDF}" sibTransId="{476AF9EC-6FC7-4D83-BFF7-F10ABBDA012E}"/>
    <dgm:cxn modelId="{F9AB3284-316F-4FB3-A42C-C5DCAD6E0BCB}" srcId="{FCB7BEAC-21A0-4675-ADF7-365188210F17}" destId="{B9BB0E79-15E0-4D12-9C0B-1887CB695415}" srcOrd="3" destOrd="0" parTransId="{F4A9C835-7FB3-484D-B0D8-6870172C6992}" sibTransId="{DE173196-37FC-4D40-82CA-5CFAE33CEF23}"/>
    <dgm:cxn modelId="{3557AE0F-5A11-4134-9D46-B0C67293D31B}" srcId="{FCB7BEAC-21A0-4675-ADF7-365188210F17}" destId="{810D0F99-C6CB-47FF-9798-E3EDE6878CFA}" srcOrd="2" destOrd="0" parTransId="{758D5E1E-3AE9-4E57-9771-F960C9A48F11}" sibTransId="{4AB3B309-376F-4D61-95BA-E9553137DF30}"/>
    <dgm:cxn modelId="{5F3F4811-7D45-4BC9-BD73-32B2A8B44536}" type="presOf" srcId="{FCB7BEAC-21A0-4675-ADF7-365188210F17}" destId="{2AB327C3-5D5D-4261-80F0-983A0EDD0977}" srcOrd="0" destOrd="0" presId="urn:microsoft.com/office/officeart/2005/8/layout/vList2"/>
    <dgm:cxn modelId="{D74E7100-87FB-4E5C-965B-C28E93B50207}" srcId="{2D42F09D-F1F9-421D-B792-F287207525EB}" destId="{E39FFCA3-4FD8-40CE-8650-09BD4CA4E0F6}" srcOrd="0" destOrd="0" parTransId="{D9085589-7D68-4548-8F63-6FB2A76B7FD1}" sibTransId="{128913E6-8B70-4B70-BE40-D69291F8EE05}"/>
    <dgm:cxn modelId="{5D36032A-579D-4AB9-8E26-14713B5E503F}" srcId="{FCB7BEAC-21A0-4675-ADF7-365188210F17}" destId="{2D42F09D-F1F9-421D-B792-F287207525EB}" srcOrd="0" destOrd="0" parTransId="{290A45FA-21CF-4D50-9FE2-17AF2388C34B}" sibTransId="{D9B07243-48DD-4D6F-ACA4-52D8C2C5B8B7}"/>
    <dgm:cxn modelId="{C024D36B-8803-49AA-92B0-E5C02E90B51F}" type="presOf" srcId="{05F52955-58DE-41C8-9B1C-BDF936395AF4}" destId="{56405415-7522-4B4C-8A56-A68FAAEEA5DE}" srcOrd="0" destOrd="0" presId="urn:microsoft.com/office/officeart/2005/8/layout/vList2"/>
    <dgm:cxn modelId="{EF007C36-7FE8-4567-82A9-F04AE763FA67}" srcId="{3EBE5508-2CB6-4548-9E03-7C9FC2A3A255}" destId="{09688A04-701C-475D-BE9E-2D9D9E57C480}" srcOrd="0" destOrd="0" parTransId="{23FAB02E-BC44-4FF9-B325-F262E225879D}" sibTransId="{E613FF8A-5A1B-4C77-B86D-84D0D7B8CCC4}"/>
    <dgm:cxn modelId="{6A8603F4-69C1-4FC5-A832-6986B14841FD}" srcId="{FCB7BEAC-21A0-4675-ADF7-365188210F17}" destId="{3EBE5508-2CB6-4548-9E03-7C9FC2A3A255}" srcOrd="4" destOrd="0" parTransId="{C4A4A009-BA03-4C6F-843C-E162FB6B7A56}" sibTransId="{9B15BFE9-908B-4ABA-A888-A418268DCE44}"/>
    <dgm:cxn modelId="{60F3FAA1-44BF-4223-A7ED-20E4DFCA8368}" type="presParOf" srcId="{2AB327C3-5D5D-4261-80F0-983A0EDD0977}" destId="{489F961A-F795-4E7A-B452-BB75FD0B0CD3}" srcOrd="0" destOrd="0" presId="urn:microsoft.com/office/officeart/2005/8/layout/vList2"/>
    <dgm:cxn modelId="{BB1AD675-0469-455E-B897-636B83D5C669}" type="presParOf" srcId="{2AB327C3-5D5D-4261-80F0-983A0EDD0977}" destId="{3CAE8E14-B5CD-4982-9B01-0B008B35D45F}" srcOrd="1" destOrd="0" presId="urn:microsoft.com/office/officeart/2005/8/layout/vList2"/>
    <dgm:cxn modelId="{DDA549B0-8B29-496E-9D67-F527EB73C236}" type="presParOf" srcId="{2AB327C3-5D5D-4261-80F0-983A0EDD0977}" destId="{56405415-7522-4B4C-8A56-A68FAAEEA5DE}" srcOrd="2" destOrd="0" presId="urn:microsoft.com/office/officeart/2005/8/layout/vList2"/>
    <dgm:cxn modelId="{9677D068-91C2-4491-93A5-EEEDB1D812EF}" type="presParOf" srcId="{2AB327C3-5D5D-4261-80F0-983A0EDD0977}" destId="{5DA532E3-C64D-4B5F-ADAB-3B6AC27C0142}" srcOrd="3" destOrd="0" presId="urn:microsoft.com/office/officeart/2005/8/layout/vList2"/>
    <dgm:cxn modelId="{BBA6F496-FC4A-4388-A454-70CF3358B7C8}" type="presParOf" srcId="{2AB327C3-5D5D-4261-80F0-983A0EDD0977}" destId="{273FC0A9-4789-4F2C-A944-5CF9F5CA2098}" srcOrd="4" destOrd="0" presId="urn:microsoft.com/office/officeart/2005/8/layout/vList2"/>
    <dgm:cxn modelId="{23E03927-5F6E-4CF7-8B45-5CE3DE953A57}" type="presParOf" srcId="{2AB327C3-5D5D-4261-80F0-983A0EDD0977}" destId="{9D4897AD-1734-4387-8EE6-74EA25AD6B7B}" srcOrd="5" destOrd="0" presId="urn:microsoft.com/office/officeart/2005/8/layout/vList2"/>
    <dgm:cxn modelId="{F6016A85-FCC8-4FDC-A121-90C9AD2A39D4}" type="presParOf" srcId="{2AB327C3-5D5D-4261-80F0-983A0EDD0977}" destId="{20475F2E-1347-40B9-B224-209B7BFEC151}" srcOrd="6" destOrd="0" presId="urn:microsoft.com/office/officeart/2005/8/layout/vList2"/>
    <dgm:cxn modelId="{D4DAB5F8-D73B-4259-BEA6-3E890BF8E4B4}" type="presParOf" srcId="{2AB327C3-5D5D-4261-80F0-983A0EDD0977}" destId="{AA9F1074-AC25-402B-A1E9-A718EC2CD28B}" srcOrd="7" destOrd="0" presId="urn:microsoft.com/office/officeart/2005/8/layout/vList2"/>
    <dgm:cxn modelId="{7B9C297D-DCDF-4080-B191-5D81E00E6EFF}" type="presParOf" srcId="{2AB327C3-5D5D-4261-80F0-983A0EDD0977}" destId="{7315BCD5-C536-4F2E-812A-18C86E4D48B8}" srcOrd="8" destOrd="0" presId="urn:microsoft.com/office/officeart/2005/8/layout/vList2"/>
    <dgm:cxn modelId="{B782A312-DC71-4CA4-975F-E7ED04640107}" type="presParOf" srcId="{2AB327C3-5D5D-4261-80F0-983A0EDD0977}" destId="{2E4F4143-E3CB-43C9-A88B-319D7A512B97}" srcOrd="9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89F961A-F795-4E7A-B452-BB75FD0B0CD3}">
      <dsp:nvSpPr>
        <dsp:cNvPr id="0" name=""/>
        <dsp:cNvSpPr/>
      </dsp:nvSpPr>
      <dsp:spPr>
        <a:xfrm>
          <a:off x="0" y="86684"/>
          <a:ext cx="6096000" cy="524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외화자산</a:t>
          </a:r>
          <a:r>
            <a:rPr lang="en-US" altLang="ko-KR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·</a:t>
          </a: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부채의 만기 분류</a:t>
          </a:r>
          <a:endParaRPr lang="ko-KR" altLang="en-US" sz="2000" kern="12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86684"/>
        <a:ext cx="6096000" cy="524160"/>
      </dsp:txXfrm>
    </dsp:sp>
    <dsp:sp modelId="{3CAE8E14-B5CD-4982-9B01-0B008B35D45F}">
      <dsp:nvSpPr>
        <dsp:cNvPr id="0" name=""/>
        <dsp:cNvSpPr/>
      </dsp:nvSpPr>
      <dsp:spPr>
        <a:xfrm>
          <a:off x="0" y="688445"/>
          <a:ext cx="6096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잔존만기별</a:t>
          </a: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분류 및 누적기준 작성</a:t>
          </a:r>
          <a:endParaRPr lang="ko-KR" altLang="en-US" sz="1800" kern="12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688445"/>
        <a:ext cx="6096000" cy="463680"/>
      </dsp:txXfrm>
    </dsp:sp>
    <dsp:sp modelId="{56405415-7522-4B4C-8A56-A68FAAEEA5DE}">
      <dsp:nvSpPr>
        <dsp:cNvPr id="0" name=""/>
        <dsp:cNvSpPr/>
      </dsp:nvSpPr>
      <dsp:spPr>
        <a:xfrm>
          <a:off x="0" y="1074524"/>
          <a:ext cx="6096000" cy="524160"/>
        </a:xfrm>
        <a:prstGeom prst="roundRect">
          <a:avLst/>
        </a:prstGeom>
        <a:solidFill>
          <a:schemeClr val="accent5">
            <a:hueOff val="814256"/>
            <a:satOff val="2799"/>
            <a:lumOff val="-13432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회계처리 관련 오류</a:t>
          </a:r>
          <a:endParaRPr lang="ko-KR" altLang="en-US" sz="2000" kern="12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1074524"/>
        <a:ext cx="6096000" cy="524160"/>
      </dsp:txXfrm>
    </dsp:sp>
    <dsp:sp modelId="{5DA532E3-C64D-4B5F-ADAB-3B6AC27C0142}">
      <dsp:nvSpPr>
        <dsp:cNvPr id="0" name=""/>
        <dsp:cNvSpPr/>
      </dsp:nvSpPr>
      <dsp:spPr>
        <a:xfrm>
          <a:off x="0" y="1656184"/>
          <a:ext cx="6096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개별 외화자산</a:t>
          </a:r>
          <a:r>
            <a:rPr lang="en-US" altLang="ko-KR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·</a:t>
          </a: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부채계정의 회계처리 문제</a:t>
          </a:r>
          <a:endParaRPr lang="ko-KR" altLang="en-US" sz="1800" kern="12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1656184"/>
        <a:ext cx="6096000" cy="463680"/>
      </dsp:txXfrm>
    </dsp:sp>
    <dsp:sp modelId="{273FC0A9-4789-4F2C-A944-5CF9F5CA2098}">
      <dsp:nvSpPr>
        <dsp:cNvPr id="0" name=""/>
        <dsp:cNvSpPr/>
      </dsp:nvSpPr>
      <dsp:spPr>
        <a:xfrm>
          <a:off x="0" y="2062364"/>
          <a:ext cx="6096000" cy="524160"/>
        </a:xfrm>
        <a:prstGeom prst="roundRect">
          <a:avLst/>
        </a:prstGeom>
        <a:solidFill>
          <a:schemeClr val="accent5">
            <a:hueOff val="1628512"/>
            <a:satOff val="5598"/>
            <a:lumOff val="-2686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통화파생상품 관련 오류</a:t>
          </a:r>
          <a:endParaRPr lang="ko-KR" altLang="en-US" sz="2000" kern="12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2062364"/>
        <a:ext cx="6096000" cy="524160"/>
      </dsp:txXfrm>
    </dsp:sp>
    <dsp:sp modelId="{9D4897AD-1734-4387-8EE6-74EA25AD6B7B}">
      <dsp:nvSpPr>
        <dsp:cNvPr id="0" name=""/>
        <dsp:cNvSpPr/>
      </dsp:nvSpPr>
      <dsp:spPr>
        <a:xfrm>
          <a:off x="0" y="2632665"/>
          <a:ext cx="6096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난외계정으로 분류</a:t>
          </a:r>
          <a:r>
            <a:rPr lang="en-US" altLang="ko-KR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외화 </a:t>
          </a:r>
          <a:r>
            <a:rPr lang="en-US" altLang="ko-KR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B/S</a:t>
          </a: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에 불포함</a:t>
          </a:r>
          <a:endParaRPr lang="ko-KR" altLang="en-US" sz="1800" kern="12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2632665"/>
        <a:ext cx="6096000" cy="463680"/>
      </dsp:txXfrm>
    </dsp:sp>
    <dsp:sp modelId="{20475F2E-1347-40B9-B224-209B7BFEC151}">
      <dsp:nvSpPr>
        <dsp:cNvPr id="0" name=""/>
        <dsp:cNvSpPr/>
      </dsp:nvSpPr>
      <dsp:spPr>
        <a:xfrm>
          <a:off x="0" y="3050204"/>
          <a:ext cx="6096000" cy="524160"/>
        </a:xfrm>
        <a:prstGeom prst="roundRect">
          <a:avLst/>
        </a:prstGeom>
        <a:solidFill>
          <a:schemeClr val="accent5">
            <a:hueOff val="2442768"/>
            <a:satOff val="8397"/>
            <a:lumOff val="-40295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통화단위 환산 오류</a:t>
          </a:r>
          <a:endParaRPr lang="ko-KR" altLang="en-US" sz="2000" kern="12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3050204"/>
        <a:ext cx="6096000" cy="524160"/>
      </dsp:txXfrm>
    </dsp:sp>
    <dsp:sp modelId="{AA9F1074-AC25-402B-A1E9-A718EC2CD28B}">
      <dsp:nvSpPr>
        <dsp:cNvPr id="0" name=""/>
        <dsp:cNvSpPr/>
      </dsp:nvSpPr>
      <dsp:spPr>
        <a:xfrm>
          <a:off x="0" y="3640775"/>
          <a:ext cx="6096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보고서 작성시 </a:t>
          </a:r>
          <a:r>
            <a:rPr lang="ko-KR" altLang="en-US" sz="1800" kern="12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천미달러</a:t>
          </a: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단위로 금액 입력</a:t>
          </a:r>
          <a:endParaRPr lang="ko-KR" altLang="en-US" sz="1800" kern="12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3640775"/>
        <a:ext cx="6096000" cy="463680"/>
      </dsp:txXfrm>
    </dsp:sp>
    <dsp:sp modelId="{7315BCD5-C536-4F2E-812A-18C86E4D48B8}">
      <dsp:nvSpPr>
        <dsp:cNvPr id="0" name=""/>
        <dsp:cNvSpPr/>
      </dsp:nvSpPr>
      <dsp:spPr>
        <a:xfrm>
          <a:off x="0" y="4038044"/>
          <a:ext cx="6096000" cy="524160"/>
        </a:xfrm>
        <a:prstGeom prst="roundRect">
          <a:avLst/>
        </a:prstGeom>
        <a:solidFill>
          <a:schemeClr val="accent5">
            <a:hueOff val="3257024"/>
            <a:satOff val="11196"/>
            <a:lumOff val="-53726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외화유동성 규제비율 </a:t>
          </a:r>
          <a:r>
            <a:rPr lang="ko-KR" altLang="en-US" sz="2000" kern="1200" dirty="0" err="1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위반시</a:t>
          </a:r>
          <a:r>
            <a:rPr lang="ko-KR" altLang="en-US" sz="2000" kern="12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 미보고</a:t>
          </a:r>
          <a:endParaRPr lang="ko-KR" altLang="en-US" sz="2000" kern="12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4038044"/>
        <a:ext cx="6096000" cy="524160"/>
      </dsp:txXfrm>
    </dsp:sp>
    <dsp:sp modelId="{2E4F4143-E3CB-43C9-A88B-319D7A512B97}">
      <dsp:nvSpPr>
        <dsp:cNvPr id="0" name=""/>
        <dsp:cNvSpPr/>
      </dsp:nvSpPr>
      <dsp:spPr>
        <a:xfrm>
          <a:off x="0" y="4608513"/>
          <a:ext cx="6096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금융회사에서 위반내역을 파악하여 </a:t>
          </a:r>
          <a:r>
            <a:rPr lang="ko-KR" altLang="en-US" sz="1800" kern="12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금감원에</a:t>
          </a:r>
          <a:r>
            <a:rPr lang="ko-KR" altLang="en-US" sz="1800" kern="12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보고</a:t>
          </a:r>
          <a:endParaRPr lang="ko-KR" altLang="en-US" sz="1800" kern="12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sp:txBody>
      <dsp:txXfrm>
        <a:off x="0" y="4608513"/>
        <a:ext cx="6096000" cy="463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448" cy="496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6" rIns="91294" bIns="4564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643" y="0"/>
            <a:ext cx="2945448" cy="496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6" rIns="91294" bIns="4564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800"/>
            <a:ext cx="2945448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6" rIns="91294" bIns="4564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643" y="9428800"/>
            <a:ext cx="2945448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6" rIns="91294" bIns="4564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4EF204D-B2D2-437A-AAE6-9284EF8B4B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448" cy="496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6" rIns="91294" bIns="4564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643" y="0"/>
            <a:ext cx="2945448" cy="496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6" rIns="91294" bIns="4564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5" y="4715192"/>
            <a:ext cx="5437506" cy="4466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6" rIns="91294" bIns="456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800"/>
            <a:ext cx="2945448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6" rIns="91294" bIns="4564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60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643" y="9428800"/>
            <a:ext cx="2945448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94" tIns="45646" rIns="91294" bIns="4564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6DD9F6D1-DD15-490B-B3CC-BC6CB4BD52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9FC0A8-615B-4DD9-8882-CCB0C043F0BF}" type="slidenum">
              <a:rPr lang="en-US" altLang="ko-KR" smtClean="0"/>
              <a:pPr/>
              <a:t>0</a:t>
            </a:fld>
            <a:endParaRPr lang="en-US" altLang="ko-KR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0065ED-F0B0-47EF-9821-7AB49652CDD5}" type="slidenum">
              <a:rPr lang="en-US" altLang="ko-KR" smtClean="0"/>
              <a:pPr/>
              <a:t>1</a:t>
            </a:fld>
            <a:endParaRPr lang="en-US" altLang="ko-KR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BAD54B-64C0-4B53-877C-A8B9B458F45A}" type="slidenum">
              <a:rPr lang="en-US" altLang="ko-KR" smtClean="0"/>
              <a:pPr/>
              <a:t>2</a:t>
            </a:fld>
            <a:endParaRPr lang="en-US" altLang="ko-KR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BAD54B-64C0-4B53-877C-A8B9B458F45A}" type="slidenum">
              <a:rPr lang="en-US" altLang="ko-KR" smtClean="0"/>
              <a:pPr/>
              <a:t>6</a:t>
            </a:fld>
            <a:endParaRPr lang="en-US" altLang="ko-KR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main00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20685"/>
            <a:ext cx="9144000" cy="765175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8EA77-E02C-45D8-85D8-D6F49FEF6A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6ED5D8-46E0-4CFE-B626-D4BC56ABEBD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6D21C-3322-4166-B07A-491EADE44C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A9EE3-2239-4508-88B2-A03E6283870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BCC91-0906-414B-A4C4-8529286F1FE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AC9EF-2D45-4ADF-BD1F-25813A50C7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FB2995-F766-4B23-BFFD-0FA912B58AF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ADE9B-F3F9-4FF7-AEFF-F11664F9CD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1FD8B9-3138-41FE-AA64-525A883F9D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C8858-8524-4F6B-A8AE-68904F9C4C8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master0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3400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fld id="{3251551E-FE0A-4E5F-A7C3-170A6BF0F2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</p:sldLayoutIdLst>
  <p:transition>
    <p:fade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4C673-03FF-4FAE-AD99-34148F96AB4B}" type="datetimeFigureOut">
              <a:rPr lang="ko-KR" altLang="en-US" smtClean="0"/>
              <a:pPr/>
              <a:t>2017-04-18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>
    <p:fade/>
  </p:transition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03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514600"/>
            <a:ext cx="91440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11" descr="03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AutoShape 8"/>
          <p:cNvSpPr>
            <a:spLocks noChangeArrowheads="1"/>
          </p:cNvSpPr>
          <p:nvPr/>
        </p:nvSpPr>
        <p:spPr bwMode="auto">
          <a:xfrm>
            <a:off x="3562970" y="3495675"/>
            <a:ext cx="2089150" cy="57626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2400" dirty="0" smtClean="0"/>
              <a:t>2016. 12. 16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723273" y="1357298"/>
            <a:ext cx="820128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8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ea"/>
                <a:ea typeface="+mj-ea"/>
              </a:rPr>
              <a:t>2016</a:t>
            </a:r>
            <a:r>
              <a:rPr lang="ko-KR" altLang="en-US" sz="48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ea"/>
                <a:ea typeface="+mj-ea"/>
              </a:rPr>
              <a:t>년</a:t>
            </a:r>
            <a:endParaRPr lang="en-US" altLang="ko-KR" sz="4800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ko-KR" alt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ea"/>
                <a:ea typeface="+mj-ea"/>
              </a:rPr>
              <a:t>외</a:t>
            </a:r>
            <a:r>
              <a:rPr lang="ko-KR" alt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ea"/>
                <a:ea typeface="+mj-ea"/>
              </a:rPr>
              <a:t>환건전성 설명회 자료</a:t>
            </a:r>
            <a:r>
              <a:rPr lang="en-US" altLang="ko-KR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ea"/>
                <a:ea typeface="+mj-ea"/>
              </a:rPr>
              <a:t>(</a:t>
            </a:r>
            <a:r>
              <a:rPr lang="ko-KR" altLang="en-US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ea"/>
                <a:ea typeface="+mj-ea"/>
              </a:rPr>
              <a:t>금융투자회사  대상</a:t>
            </a:r>
            <a:r>
              <a:rPr lang="en-US" altLang="ko-KR" sz="32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ea"/>
                <a:ea typeface="+mj-ea"/>
              </a:rPr>
              <a:t>)</a:t>
            </a:r>
            <a:endParaRPr lang="en-US" altLang="ko-KR" sz="320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j-ea"/>
              <a:ea typeface="+mj-ea"/>
            </a:endParaRPr>
          </a:p>
        </p:txBody>
      </p:sp>
      <p:pic>
        <p:nvPicPr>
          <p:cNvPr id="12" name="그림 11" descr="무제-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85984" y="5429264"/>
            <a:ext cx="1143008" cy="1143008"/>
          </a:xfrm>
          <a:prstGeom prst="rect">
            <a:avLst/>
          </a:prstGeom>
          <a:effectLst>
            <a:glow rad="139700">
              <a:schemeClr val="tx2">
                <a:lumMod val="60000"/>
                <a:lumOff val="40000"/>
                <a:alpha val="40000"/>
              </a:schemeClr>
            </a:glow>
          </a:effectLst>
        </p:spPr>
      </p:pic>
      <p:sp>
        <p:nvSpPr>
          <p:cNvPr id="13" name="TextBox 12"/>
          <p:cNvSpPr txBox="1"/>
          <p:nvPr/>
        </p:nvSpPr>
        <p:spPr>
          <a:xfrm>
            <a:off x="3357563" y="5753100"/>
            <a:ext cx="34290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금융감독원</a:t>
            </a:r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외환감독국</a:t>
            </a:r>
            <a:endParaRPr lang="ko-KR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2" descr="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30" name="Picture 34" descr="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38576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3817938" y="571500"/>
            <a:ext cx="1325562" cy="784225"/>
            <a:chOff x="845" y="641"/>
            <a:chExt cx="957" cy="566"/>
          </a:xfrm>
        </p:grpSpPr>
        <p:pic>
          <p:nvPicPr>
            <p:cNvPr id="4142" name="Picture 30" descr="07_01"/>
            <p:cNvPicPr>
              <a:picLocks noChangeAspect="1" noChangeArrowheads="1"/>
            </p:cNvPicPr>
            <p:nvPr/>
          </p:nvPicPr>
          <p:blipFill>
            <a:blip r:embed="rId5" cstate="print">
              <a:lum contrast="12000"/>
            </a:blip>
            <a:srcRect r="52534"/>
            <a:stretch>
              <a:fillRect/>
            </a:stretch>
          </p:blipFill>
          <p:spPr bwMode="auto">
            <a:xfrm>
              <a:off x="845" y="641"/>
              <a:ext cx="337" cy="5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43" name="Picture 31" descr="07_01"/>
            <p:cNvPicPr>
              <a:picLocks noChangeAspect="1" noChangeArrowheads="1"/>
            </p:cNvPicPr>
            <p:nvPr/>
          </p:nvPicPr>
          <p:blipFill>
            <a:blip r:embed="rId5" cstate="print">
              <a:lum contrast="12000"/>
            </a:blip>
            <a:srcRect l="47464"/>
            <a:stretch>
              <a:fillRect/>
            </a:stretch>
          </p:blipFill>
          <p:spPr bwMode="auto">
            <a:xfrm>
              <a:off x="1429" y="641"/>
              <a:ext cx="373" cy="5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3" name="TextBox 3"/>
          <p:cNvSpPr txBox="1">
            <a:spLocks noChangeArrowheads="1"/>
          </p:cNvSpPr>
          <p:nvPr/>
        </p:nvSpPr>
        <p:spPr bwMode="auto">
          <a:xfrm>
            <a:off x="455358" y="1161144"/>
            <a:ext cx="196768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0913" tIns="50457" rIns="100913" bIns="50457">
            <a:spAutoFit/>
          </a:bodyPr>
          <a:lstStyle/>
          <a:p>
            <a:pPr>
              <a:defRPr/>
            </a:pPr>
            <a:endParaRPr lang="en-US" altLang="ko-KR" sz="32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510740" y="1245338"/>
            <a:ext cx="3900752" cy="831178"/>
            <a:chOff x="441906" y="1929018"/>
            <a:chExt cx="3265998" cy="831178"/>
          </a:xfrm>
        </p:grpSpPr>
        <p:pic>
          <p:nvPicPr>
            <p:cNvPr id="4134" name="그림 41" descr="01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1906" y="1929018"/>
              <a:ext cx="810880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27" name="그림 50" descr="02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1331640" y="1968108"/>
              <a:ext cx="2376264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0" name="TextBox 3"/>
            <p:cNvSpPr txBox="1">
              <a:spLocks noChangeArrowheads="1"/>
            </p:cNvSpPr>
            <p:nvPr/>
          </p:nvSpPr>
          <p:spPr bwMode="auto">
            <a:xfrm>
              <a:off x="632292" y="2018118"/>
              <a:ext cx="425332" cy="594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1</a:t>
              </a:r>
              <a:endParaRPr lang="en-US" altLang="ko-KR" sz="3200" spc="-1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403648" y="2023024"/>
              <a:ext cx="22621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0" dirty="0" smtClean="0">
                  <a:solidFill>
                    <a:srgbClr val="000068"/>
                  </a:solidFill>
                </a:rPr>
                <a:t>외국환업무취급기관</a:t>
              </a:r>
              <a:endParaRPr lang="en-US" altLang="ko-KR" b="0" dirty="0" smtClean="0">
                <a:solidFill>
                  <a:srgbClr val="000068"/>
                </a:solidFill>
              </a:endParaRPr>
            </a:p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등록 관련</a:t>
              </a:r>
              <a:endParaRPr lang="en-US" altLang="ko-KR" b="0" dirty="0" smtClean="0">
                <a:solidFill>
                  <a:srgbClr val="000068"/>
                </a:solidFill>
              </a:endParaRPr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510740" y="2169256"/>
            <a:ext cx="3900752" cy="831178"/>
            <a:chOff x="441906" y="1929018"/>
            <a:chExt cx="3265998" cy="831178"/>
          </a:xfrm>
        </p:grpSpPr>
        <p:pic>
          <p:nvPicPr>
            <p:cNvPr id="65" name="그림 41" descr="01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1906" y="1929018"/>
              <a:ext cx="810880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0" name="그림 50" descr="02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1331640" y="1968108"/>
              <a:ext cx="2376264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" name="TextBox 3"/>
            <p:cNvSpPr txBox="1">
              <a:spLocks noChangeArrowheads="1"/>
            </p:cNvSpPr>
            <p:nvPr/>
          </p:nvSpPr>
          <p:spPr bwMode="auto">
            <a:xfrm>
              <a:off x="632292" y="2018118"/>
              <a:ext cx="425332" cy="594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2</a:t>
              </a:r>
              <a:endParaRPr lang="en-US" altLang="ko-KR" sz="3200" spc="-1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403648" y="2023024"/>
              <a:ext cx="19477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0" dirty="0" smtClean="0">
                  <a:solidFill>
                    <a:srgbClr val="000068"/>
                  </a:solidFill>
                </a:rPr>
                <a:t>외화유동성비율 제도</a:t>
              </a:r>
              <a:endParaRPr lang="en-US" altLang="ko-KR" b="0" dirty="0" smtClean="0">
                <a:solidFill>
                  <a:srgbClr val="000068"/>
                </a:solidFill>
              </a:endParaRPr>
            </a:p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개요</a:t>
              </a:r>
              <a:endParaRPr lang="en-US" altLang="ko-KR" b="0" dirty="0" smtClean="0">
                <a:solidFill>
                  <a:srgbClr val="000068"/>
                </a:solidFill>
              </a:endParaRPr>
            </a:p>
          </p:txBody>
        </p:sp>
      </p:grpSp>
      <p:sp>
        <p:nvSpPr>
          <p:cNvPr id="93" name="TextBox 3"/>
          <p:cNvSpPr txBox="1">
            <a:spLocks noChangeArrowheads="1"/>
          </p:cNvSpPr>
          <p:nvPr/>
        </p:nvSpPr>
        <p:spPr bwMode="auto">
          <a:xfrm>
            <a:off x="455358" y="2961344"/>
            <a:ext cx="196768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0913" tIns="50457" rIns="100913" bIns="50457">
            <a:spAutoFit/>
          </a:bodyPr>
          <a:lstStyle/>
          <a:p>
            <a:pPr>
              <a:defRPr/>
            </a:pPr>
            <a:endParaRPr lang="en-US" altLang="ko-KR" sz="32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510740" y="3045538"/>
            <a:ext cx="3900752" cy="831178"/>
            <a:chOff x="441906" y="1929018"/>
            <a:chExt cx="3265998" cy="831178"/>
          </a:xfrm>
        </p:grpSpPr>
        <p:pic>
          <p:nvPicPr>
            <p:cNvPr id="95" name="그림 41" descr="01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1906" y="1929018"/>
              <a:ext cx="810880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6" name="그림 50" descr="02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1331640" y="1968108"/>
              <a:ext cx="2376264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7" name="TextBox 3"/>
            <p:cNvSpPr txBox="1">
              <a:spLocks noChangeArrowheads="1"/>
            </p:cNvSpPr>
            <p:nvPr/>
          </p:nvSpPr>
          <p:spPr bwMode="auto">
            <a:xfrm>
              <a:off x="632292" y="2018118"/>
              <a:ext cx="425332" cy="594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3</a:t>
              </a:r>
              <a:endParaRPr lang="en-US" altLang="ko-KR" sz="3200" spc="-1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1519064" y="2023024"/>
              <a:ext cx="18004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외화유동성비율</a:t>
              </a:r>
              <a:endParaRPr lang="en-US" altLang="ko-KR" b="0" dirty="0" smtClean="0">
                <a:solidFill>
                  <a:srgbClr val="000068"/>
                </a:solidFill>
              </a:endParaRPr>
            </a:p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세부내용</a:t>
              </a:r>
              <a:endParaRPr lang="en-US" altLang="ko-KR" b="0" dirty="0" smtClean="0">
                <a:solidFill>
                  <a:srgbClr val="000068"/>
                </a:solidFill>
              </a:endParaRP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510740" y="3969456"/>
            <a:ext cx="3917244" cy="831178"/>
            <a:chOff x="441906" y="1929018"/>
            <a:chExt cx="3279806" cy="831178"/>
          </a:xfrm>
        </p:grpSpPr>
        <p:pic>
          <p:nvPicPr>
            <p:cNvPr id="100" name="그림 41" descr="01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1906" y="1929018"/>
              <a:ext cx="810880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1" name="그림 50" descr="02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1331640" y="1968108"/>
              <a:ext cx="2376264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" name="TextBox 3"/>
            <p:cNvSpPr txBox="1">
              <a:spLocks noChangeArrowheads="1"/>
            </p:cNvSpPr>
            <p:nvPr/>
          </p:nvSpPr>
          <p:spPr bwMode="auto">
            <a:xfrm>
              <a:off x="632292" y="2018118"/>
              <a:ext cx="425332" cy="594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4</a:t>
              </a:r>
              <a:endParaRPr lang="en-US" altLang="ko-KR" sz="3200" spc="-1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403648" y="2023024"/>
              <a:ext cx="23180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외화유동성비율 관련</a:t>
              </a:r>
              <a:endParaRPr lang="en-US" altLang="ko-KR" b="0" dirty="0" smtClean="0">
                <a:solidFill>
                  <a:srgbClr val="000068"/>
                </a:solidFill>
              </a:endParaRPr>
            </a:p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 보고서 작성시</a:t>
              </a:r>
              <a:r>
                <a:rPr lang="en-US" altLang="ko-KR" b="0" dirty="0" smtClean="0">
                  <a:solidFill>
                    <a:srgbClr val="000068"/>
                  </a:solidFill>
                </a:rPr>
                <a:t> </a:t>
              </a:r>
              <a:r>
                <a:rPr lang="ko-KR" altLang="en-US" b="0" dirty="0" smtClean="0">
                  <a:solidFill>
                    <a:srgbClr val="000068"/>
                  </a:solidFill>
                </a:rPr>
                <a:t>유의사항</a:t>
              </a:r>
              <a:endParaRPr lang="en-US" altLang="ko-KR" b="0" dirty="0" smtClean="0">
                <a:solidFill>
                  <a:srgbClr val="000068"/>
                </a:solidFill>
              </a:endParaRPr>
            </a:p>
          </p:txBody>
        </p:sp>
      </p:grpSp>
      <p:sp>
        <p:nvSpPr>
          <p:cNvPr id="104" name="TextBox 3"/>
          <p:cNvSpPr txBox="1">
            <a:spLocks noChangeArrowheads="1"/>
          </p:cNvSpPr>
          <p:nvPr/>
        </p:nvSpPr>
        <p:spPr bwMode="auto">
          <a:xfrm>
            <a:off x="455358" y="4797152"/>
            <a:ext cx="196768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0913" tIns="50457" rIns="100913" bIns="50457">
            <a:spAutoFit/>
          </a:bodyPr>
          <a:lstStyle/>
          <a:p>
            <a:pPr>
              <a:defRPr/>
            </a:pPr>
            <a:endParaRPr lang="en-US" altLang="ko-KR" sz="32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  <p:grpSp>
        <p:nvGrpSpPr>
          <p:cNvPr id="105" name="그룹 104"/>
          <p:cNvGrpSpPr/>
          <p:nvPr/>
        </p:nvGrpSpPr>
        <p:grpSpPr>
          <a:xfrm>
            <a:off x="510740" y="4881346"/>
            <a:ext cx="3900752" cy="831178"/>
            <a:chOff x="441906" y="1929018"/>
            <a:chExt cx="3265998" cy="831178"/>
          </a:xfrm>
        </p:grpSpPr>
        <p:pic>
          <p:nvPicPr>
            <p:cNvPr id="106" name="그림 41" descr="01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1906" y="1929018"/>
              <a:ext cx="810880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7" name="그림 50" descr="02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1331640" y="1968108"/>
              <a:ext cx="2376264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8" name="TextBox 3"/>
            <p:cNvSpPr txBox="1">
              <a:spLocks noChangeArrowheads="1"/>
            </p:cNvSpPr>
            <p:nvPr/>
          </p:nvSpPr>
          <p:spPr bwMode="auto">
            <a:xfrm>
              <a:off x="632292" y="2018118"/>
              <a:ext cx="425332" cy="594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5</a:t>
              </a:r>
              <a:endParaRPr lang="en-US" altLang="ko-KR" sz="3200" spc="-1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1403648" y="2023024"/>
              <a:ext cx="22237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외화유동성비율</a:t>
              </a:r>
              <a:endParaRPr lang="en-US" altLang="ko-KR" b="0" dirty="0" smtClean="0">
                <a:solidFill>
                  <a:srgbClr val="000068"/>
                </a:solidFill>
              </a:endParaRPr>
            </a:p>
            <a:p>
              <a:pPr algn="ctr"/>
              <a:r>
                <a:rPr lang="ko-KR" altLang="en-US" b="0" dirty="0" err="1" smtClean="0">
                  <a:solidFill>
                    <a:srgbClr val="000068"/>
                  </a:solidFill>
                </a:rPr>
                <a:t>위반시</a:t>
              </a:r>
              <a:r>
                <a:rPr lang="ko-KR" altLang="en-US" b="0" dirty="0" smtClean="0">
                  <a:solidFill>
                    <a:srgbClr val="000068"/>
                  </a:solidFill>
                </a:rPr>
                <a:t> 제재내용</a:t>
              </a:r>
              <a:endParaRPr lang="en-US" altLang="ko-KR" b="0" dirty="0" smtClean="0">
                <a:solidFill>
                  <a:srgbClr val="000068"/>
                </a:solidFill>
              </a:endParaRP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510740" y="5805264"/>
            <a:ext cx="3917244" cy="831178"/>
            <a:chOff x="441906" y="1929018"/>
            <a:chExt cx="3279806" cy="831178"/>
          </a:xfrm>
        </p:grpSpPr>
        <p:pic>
          <p:nvPicPr>
            <p:cNvPr id="111" name="그림 41" descr="01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1906" y="1929018"/>
              <a:ext cx="810880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" name="그림 50" descr="02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1331640" y="1968108"/>
              <a:ext cx="2376264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" name="TextBox 3"/>
            <p:cNvSpPr txBox="1">
              <a:spLocks noChangeArrowheads="1"/>
            </p:cNvSpPr>
            <p:nvPr/>
          </p:nvSpPr>
          <p:spPr bwMode="auto">
            <a:xfrm>
              <a:off x="632292" y="2018118"/>
              <a:ext cx="425332" cy="594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6</a:t>
              </a:r>
              <a:endParaRPr lang="en-US" altLang="ko-KR" sz="3200" spc="-1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1346406" y="2065754"/>
              <a:ext cx="23753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b="0" dirty="0" smtClean="0">
                  <a:solidFill>
                    <a:srgbClr val="000068"/>
                  </a:solidFill>
                </a:rPr>
                <a:t>외화유동성비율 관련</a:t>
              </a:r>
              <a:endParaRPr lang="en-US" altLang="ko-KR" sz="1600" b="0" dirty="0" smtClean="0">
                <a:solidFill>
                  <a:srgbClr val="000068"/>
                </a:solidFill>
              </a:endParaRPr>
            </a:p>
            <a:p>
              <a:pPr algn="ctr"/>
              <a:r>
                <a:rPr lang="ko-KR" altLang="en-US" sz="1600" b="0" dirty="0" smtClean="0">
                  <a:solidFill>
                    <a:srgbClr val="000068"/>
                  </a:solidFill>
                </a:rPr>
                <a:t> 외환전산망</a:t>
              </a:r>
              <a:r>
                <a:rPr lang="en-US" altLang="ko-KR" sz="1600" b="0" dirty="0" smtClean="0">
                  <a:solidFill>
                    <a:srgbClr val="000068"/>
                  </a:solidFill>
                </a:rPr>
                <a:t> </a:t>
              </a:r>
              <a:r>
                <a:rPr lang="ko-KR" altLang="en-US" sz="1600" b="0" dirty="0" err="1" smtClean="0">
                  <a:solidFill>
                    <a:srgbClr val="000068"/>
                  </a:solidFill>
                </a:rPr>
                <a:t>보고시</a:t>
              </a:r>
              <a:r>
                <a:rPr lang="en-US" altLang="ko-KR" sz="1600" b="0" dirty="0" smtClean="0">
                  <a:solidFill>
                    <a:srgbClr val="000068"/>
                  </a:solidFill>
                </a:rPr>
                <a:t> </a:t>
              </a:r>
              <a:r>
                <a:rPr lang="ko-KR" altLang="en-US" sz="1600" b="0" dirty="0" smtClean="0">
                  <a:solidFill>
                    <a:srgbClr val="000068"/>
                  </a:solidFill>
                </a:rPr>
                <a:t>유의사항</a:t>
              </a:r>
              <a:endParaRPr lang="en-US" altLang="ko-KR" sz="1600" b="0" dirty="0" smtClean="0">
                <a:solidFill>
                  <a:srgbClr val="000068"/>
                </a:solidFill>
              </a:endParaRPr>
            </a:p>
          </p:txBody>
        </p:sp>
      </p:grpSp>
      <p:sp>
        <p:nvSpPr>
          <p:cNvPr id="115" name="TextBox 3"/>
          <p:cNvSpPr txBox="1">
            <a:spLocks noChangeArrowheads="1"/>
          </p:cNvSpPr>
          <p:nvPr/>
        </p:nvSpPr>
        <p:spPr bwMode="auto">
          <a:xfrm>
            <a:off x="4600014" y="1161144"/>
            <a:ext cx="196768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0913" tIns="50457" rIns="100913" bIns="50457">
            <a:spAutoFit/>
          </a:bodyPr>
          <a:lstStyle/>
          <a:p>
            <a:pPr>
              <a:defRPr/>
            </a:pPr>
            <a:endParaRPr lang="en-US" altLang="ko-KR" sz="32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  <p:grpSp>
        <p:nvGrpSpPr>
          <p:cNvPr id="116" name="그룹 115"/>
          <p:cNvGrpSpPr/>
          <p:nvPr/>
        </p:nvGrpSpPr>
        <p:grpSpPr>
          <a:xfrm>
            <a:off x="4655396" y="1245338"/>
            <a:ext cx="3900751" cy="831178"/>
            <a:chOff x="441906" y="1929018"/>
            <a:chExt cx="3265998" cy="831178"/>
          </a:xfrm>
        </p:grpSpPr>
        <p:pic>
          <p:nvPicPr>
            <p:cNvPr id="117" name="그림 41" descr="01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1906" y="1929018"/>
              <a:ext cx="810880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8" name="그림 50" descr="02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1331640" y="1968108"/>
              <a:ext cx="2376264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9" name="TextBox 3"/>
            <p:cNvSpPr txBox="1">
              <a:spLocks noChangeArrowheads="1"/>
            </p:cNvSpPr>
            <p:nvPr/>
          </p:nvSpPr>
          <p:spPr bwMode="auto">
            <a:xfrm>
              <a:off x="632292" y="2018118"/>
              <a:ext cx="356119" cy="594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7</a:t>
              </a:r>
              <a:endParaRPr lang="en-US" altLang="ko-KR" sz="3200" spc="-1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403648" y="2023024"/>
              <a:ext cx="22322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외국환포지션 한도</a:t>
              </a:r>
              <a:endParaRPr lang="en-US" altLang="ko-KR" b="0" dirty="0" smtClean="0">
                <a:solidFill>
                  <a:srgbClr val="000068"/>
                </a:solidFill>
              </a:endParaRPr>
            </a:p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제도 개괄</a:t>
              </a:r>
              <a:endParaRPr lang="en-US" altLang="ko-KR" b="0" dirty="0" smtClean="0">
                <a:solidFill>
                  <a:srgbClr val="000068"/>
                </a:solidFill>
              </a:endParaRPr>
            </a:p>
          </p:txBody>
        </p:sp>
      </p:grpSp>
      <p:grpSp>
        <p:nvGrpSpPr>
          <p:cNvPr id="121" name="그룹 120"/>
          <p:cNvGrpSpPr/>
          <p:nvPr/>
        </p:nvGrpSpPr>
        <p:grpSpPr>
          <a:xfrm>
            <a:off x="4655396" y="2169256"/>
            <a:ext cx="3900751" cy="831178"/>
            <a:chOff x="441906" y="1929018"/>
            <a:chExt cx="3265998" cy="831178"/>
          </a:xfrm>
        </p:grpSpPr>
        <p:pic>
          <p:nvPicPr>
            <p:cNvPr id="122" name="그림 41" descr="01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1906" y="1929018"/>
              <a:ext cx="810880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" name="그림 50" descr="02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1331640" y="1968108"/>
              <a:ext cx="2376264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4" name="TextBox 3"/>
            <p:cNvSpPr txBox="1">
              <a:spLocks noChangeArrowheads="1"/>
            </p:cNvSpPr>
            <p:nvPr/>
          </p:nvSpPr>
          <p:spPr bwMode="auto">
            <a:xfrm>
              <a:off x="632292" y="2018118"/>
              <a:ext cx="356119" cy="594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8</a:t>
              </a:r>
              <a:endParaRPr lang="en-US" altLang="ko-KR" sz="3200" spc="-1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403648" y="2023024"/>
              <a:ext cx="22322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외국환포지션 한도</a:t>
              </a:r>
              <a:endParaRPr lang="en-US" altLang="ko-KR" b="0" dirty="0" smtClean="0">
                <a:solidFill>
                  <a:srgbClr val="000068"/>
                </a:solidFill>
              </a:endParaRPr>
            </a:p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세부내용</a:t>
              </a:r>
              <a:endParaRPr lang="en-US" altLang="ko-KR" b="0" dirty="0" smtClean="0">
                <a:solidFill>
                  <a:srgbClr val="000068"/>
                </a:solidFill>
              </a:endParaRPr>
            </a:p>
          </p:txBody>
        </p:sp>
      </p:grpSp>
      <p:sp>
        <p:nvSpPr>
          <p:cNvPr id="126" name="TextBox 3"/>
          <p:cNvSpPr txBox="1">
            <a:spLocks noChangeArrowheads="1"/>
          </p:cNvSpPr>
          <p:nvPr/>
        </p:nvSpPr>
        <p:spPr bwMode="auto">
          <a:xfrm>
            <a:off x="4600014" y="2961344"/>
            <a:ext cx="196768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0913" tIns="50457" rIns="100913" bIns="50457">
            <a:spAutoFit/>
          </a:bodyPr>
          <a:lstStyle/>
          <a:p>
            <a:pPr>
              <a:defRPr/>
            </a:pPr>
            <a:endParaRPr lang="en-US" altLang="ko-KR" sz="32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  <p:grpSp>
        <p:nvGrpSpPr>
          <p:cNvPr id="127" name="그룹 126"/>
          <p:cNvGrpSpPr/>
          <p:nvPr/>
        </p:nvGrpSpPr>
        <p:grpSpPr>
          <a:xfrm>
            <a:off x="4655396" y="3045538"/>
            <a:ext cx="3927053" cy="831178"/>
            <a:chOff x="441906" y="1929018"/>
            <a:chExt cx="3288020" cy="831178"/>
          </a:xfrm>
        </p:grpSpPr>
        <p:pic>
          <p:nvPicPr>
            <p:cNvPr id="128" name="그림 41" descr="01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1906" y="1929018"/>
              <a:ext cx="810880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9" name="그림 50" descr="02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1331640" y="1968108"/>
              <a:ext cx="2376264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" name="TextBox 3"/>
            <p:cNvSpPr txBox="1">
              <a:spLocks noChangeArrowheads="1"/>
            </p:cNvSpPr>
            <p:nvPr/>
          </p:nvSpPr>
          <p:spPr bwMode="auto">
            <a:xfrm>
              <a:off x="632292" y="2018118"/>
              <a:ext cx="356119" cy="594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9</a:t>
              </a:r>
              <a:endParaRPr lang="en-US" altLang="ko-KR" sz="3200" spc="-1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403648" y="2023024"/>
              <a:ext cx="232627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외국환포지션 보고서</a:t>
              </a:r>
              <a:endParaRPr lang="en-US" altLang="ko-KR" b="0" dirty="0" smtClean="0">
                <a:solidFill>
                  <a:srgbClr val="000068"/>
                </a:solidFill>
              </a:endParaRPr>
            </a:p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작성요령</a:t>
              </a:r>
              <a:endParaRPr lang="en-US" altLang="ko-KR" b="0" dirty="0" smtClean="0">
                <a:solidFill>
                  <a:srgbClr val="000068"/>
                </a:solidFill>
              </a:endParaRPr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4655396" y="3969456"/>
            <a:ext cx="3990628" cy="831178"/>
            <a:chOff x="441906" y="1929018"/>
            <a:chExt cx="3341250" cy="831178"/>
          </a:xfrm>
        </p:grpSpPr>
        <p:pic>
          <p:nvPicPr>
            <p:cNvPr id="133" name="그림 41" descr="01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1906" y="1929018"/>
              <a:ext cx="810880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4" name="그림 50" descr="02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1331640" y="1968108"/>
              <a:ext cx="2376264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5" name="TextBox 3"/>
            <p:cNvSpPr txBox="1">
              <a:spLocks noChangeArrowheads="1"/>
            </p:cNvSpPr>
            <p:nvPr/>
          </p:nvSpPr>
          <p:spPr bwMode="auto">
            <a:xfrm>
              <a:off x="560739" y="2018118"/>
              <a:ext cx="541605" cy="594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10</a:t>
              </a:r>
              <a:endParaRPr lang="en-US" altLang="ko-KR" sz="3200" spc="-1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250245" y="2074300"/>
              <a:ext cx="253291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b="0" dirty="0" smtClean="0">
                  <a:solidFill>
                    <a:srgbClr val="000068"/>
                  </a:solidFill>
                </a:rPr>
                <a:t>외국환포지션 관련 외환전산망 </a:t>
              </a:r>
              <a:endParaRPr lang="en-US" altLang="ko-KR" sz="1600" b="0" dirty="0" smtClean="0">
                <a:solidFill>
                  <a:srgbClr val="000068"/>
                </a:solidFill>
              </a:endParaRPr>
            </a:p>
            <a:p>
              <a:pPr algn="ctr"/>
              <a:r>
                <a:rPr lang="ko-KR" altLang="en-US" sz="1600" b="0" dirty="0" err="1" smtClean="0">
                  <a:solidFill>
                    <a:srgbClr val="000068"/>
                  </a:solidFill>
                </a:rPr>
                <a:t>보고시</a:t>
              </a:r>
              <a:r>
                <a:rPr lang="en-US" altLang="ko-KR" sz="1600" b="0" dirty="0" smtClean="0">
                  <a:solidFill>
                    <a:srgbClr val="000068"/>
                  </a:solidFill>
                </a:rPr>
                <a:t> </a:t>
              </a:r>
              <a:r>
                <a:rPr lang="ko-KR" altLang="en-US" sz="1600" b="0" dirty="0" smtClean="0">
                  <a:solidFill>
                    <a:srgbClr val="000068"/>
                  </a:solidFill>
                </a:rPr>
                <a:t>유의사항</a:t>
              </a:r>
              <a:endParaRPr lang="en-US" altLang="ko-KR" sz="1600" b="0" dirty="0" smtClean="0">
                <a:solidFill>
                  <a:srgbClr val="000068"/>
                </a:solidFill>
              </a:endParaRPr>
            </a:p>
          </p:txBody>
        </p:sp>
      </p:grpSp>
      <p:sp>
        <p:nvSpPr>
          <p:cNvPr id="137" name="TextBox 3"/>
          <p:cNvSpPr txBox="1">
            <a:spLocks noChangeArrowheads="1"/>
          </p:cNvSpPr>
          <p:nvPr/>
        </p:nvSpPr>
        <p:spPr bwMode="auto">
          <a:xfrm>
            <a:off x="4600014" y="4797152"/>
            <a:ext cx="196768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0913" tIns="50457" rIns="100913" bIns="50457">
            <a:spAutoFit/>
          </a:bodyPr>
          <a:lstStyle/>
          <a:p>
            <a:pPr>
              <a:defRPr/>
            </a:pPr>
            <a:endParaRPr lang="en-US" altLang="ko-KR" sz="32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  <p:grpSp>
        <p:nvGrpSpPr>
          <p:cNvPr id="138" name="그룹 137"/>
          <p:cNvGrpSpPr/>
          <p:nvPr/>
        </p:nvGrpSpPr>
        <p:grpSpPr>
          <a:xfrm>
            <a:off x="4655396" y="4881346"/>
            <a:ext cx="3964203" cy="831178"/>
            <a:chOff x="441906" y="1929018"/>
            <a:chExt cx="3319125" cy="831178"/>
          </a:xfrm>
        </p:grpSpPr>
        <p:pic>
          <p:nvPicPr>
            <p:cNvPr id="139" name="그림 41" descr="01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1906" y="1929018"/>
              <a:ext cx="810880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0" name="그림 50" descr="02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1331640" y="1968108"/>
              <a:ext cx="2376264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2" name="TextBox 141"/>
            <p:cNvSpPr txBox="1"/>
            <p:nvPr/>
          </p:nvSpPr>
          <p:spPr>
            <a:xfrm>
              <a:off x="1276437" y="2060848"/>
              <a:ext cx="248459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b="0" dirty="0" smtClean="0">
                  <a:solidFill>
                    <a:srgbClr val="000068"/>
                  </a:solidFill>
                </a:rPr>
                <a:t>외국환포지션 관련 외환전산망</a:t>
              </a:r>
              <a:endParaRPr lang="en-US" altLang="ko-KR" sz="1600" b="0" dirty="0" smtClean="0">
                <a:solidFill>
                  <a:srgbClr val="000068"/>
                </a:solidFill>
              </a:endParaRPr>
            </a:p>
            <a:p>
              <a:pPr algn="ctr"/>
              <a:r>
                <a:rPr lang="ko-KR" altLang="en-US" sz="1600" b="0" dirty="0" smtClean="0">
                  <a:solidFill>
                    <a:srgbClr val="000068"/>
                  </a:solidFill>
                </a:rPr>
                <a:t> 보고서</a:t>
              </a:r>
              <a:r>
                <a:rPr lang="en-US" altLang="ko-KR" sz="1600" b="0" dirty="0" smtClean="0">
                  <a:solidFill>
                    <a:srgbClr val="000068"/>
                  </a:solidFill>
                </a:rPr>
                <a:t> </a:t>
              </a:r>
              <a:r>
                <a:rPr lang="ko-KR" altLang="en-US" sz="1600" b="0" dirty="0" smtClean="0">
                  <a:solidFill>
                    <a:srgbClr val="000068"/>
                  </a:solidFill>
                </a:rPr>
                <a:t>작성 오류사례 </a:t>
              </a:r>
              <a:endParaRPr lang="en-US" altLang="ko-KR" sz="1600" b="0" dirty="0" smtClean="0">
                <a:solidFill>
                  <a:srgbClr val="000068"/>
                </a:solidFill>
              </a:endParaRPr>
            </a:p>
          </p:txBody>
        </p:sp>
      </p:grpSp>
      <p:grpSp>
        <p:nvGrpSpPr>
          <p:cNvPr id="143" name="그룹 142"/>
          <p:cNvGrpSpPr/>
          <p:nvPr/>
        </p:nvGrpSpPr>
        <p:grpSpPr>
          <a:xfrm>
            <a:off x="4655396" y="4994898"/>
            <a:ext cx="3900751" cy="1641544"/>
            <a:chOff x="441906" y="1118652"/>
            <a:chExt cx="3265998" cy="1641544"/>
          </a:xfrm>
        </p:grpSpPr>
        <p:pic>
          <p:nvPicPr>
            <p:cNvPr id="144" name="그림 41" descr="01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1906" y="1929018"/>
              <a:ext cx="810880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5" name="그림 50" descr="02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flipH="1">
              <a:off x="1331640" y="1968108"/>
              <a:ext cx="2376264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6" name="TextBox 3"/>
            <p:cNvSpPr txBox="1">
              <a:spLocks noChangeArrowheads="1"/>
            </p:cNvSpPr>
            <p:nvPr/>
          </p:nvSpPr>
          <p:spPr bwMode="auto">
            <a:xfrm>
              <a:off x="584621" y="1118652"/>
              <a:ext cx="541605" cy="594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11</a:t>
              </a:r>
              <a:endParaRPr lang="en-US" altLang="ko-KR" sz="3200" spc="-1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403648" y="2023024"/>
              <a:ext cx="22322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외국환포지션 한도</a:t>
              </a:r>
              <a:endParaRPr lang="en-US" altLang="ko-KR" b="0" dirty="0" smtClean="0">
                <a:solidFill>
                  <a:srgbClr val="000068"/>
                </a:solidFill>
              </a:endParaRPr>
            </a:p>
            <a:p>
              <a:pPr algn="ctr"/>
              <a:r>
                <a:rPr lang="ko-KR" altLang="en-US" b="0" dirty="0" smtClean="0">
                  <a:solidFill>
                    <a:srgbClr val="000068"/>
                  </a:solidFill>
                </a:rPr>
                <a:t> 위반조치</a:t>
              </a:r>
              <a:endParaRPr lang="en-US" altLang="ko-KR" b="0" dirty="0" smtClean="0">
                <a:solidFill>
                  <a:srgbClr val="000068"/>
                </a:solidFill>
              </a:endParaRPr>
            </a:p>
          </p:txBody>
        </p:sp>
      </p:grpSp>
      <p:sp>
        <p:nvSpPr>
          <p:cNvPr id="150" name="TextBox 3"/>
          <p:cNvSpPr txBox="1">
            <a:spLocks noChangeArrowheads="1"/>
          </p:cNvSpPr>
          <p:nvPr/>
        </p:nvSpPr>
        <p:spPr bwMode="auto">
          <a:xfrm>
            <a:off x="4803850" y="5894364"/>
            <a:ext cx="646867" cy="594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0913" tIns="50457" rIns="100913" bIns="50457">
            <a:spAutoFit/>
          </a:bodyPr>
          <a:lstStyle/>
          <a:p>
            <a:pPr>
              <a:defRPr/>
            </a:pPr>
            <a:r>
              <a:rPr lang="en-US" altLang="ko-KR" sz="3200" spc="-11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12</a:t>
            </a:r>
            <a:endParaRPr lang="en-US" altLang="ko-KR" sz="32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771AB-9608-4034-B1DF-5C18528F6230}" type="slidenum">
              <a:rPr lang="en-US" altLang="ko-KR"/>
              <a:pPr>
                <a:defRPr/>
              </a:pPr>
              <a:t>2</a:t>
            </a:fld>
            <a:endParaRPr lang="en-US" altLang="ko-KR"/>
          </a:p>
        </p:txBody>
      </p:sp>
      <p:pic>
        <p:nvPicPr>
          <p:cNvPr id="5123" name="Picture 11" descr="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4" name="Picture 6" descr="0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12" descr="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38576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10" descr="0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03648" y="2501900"/>
            <a:ext cx="6552728" cy="133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2627784" y="2852936"/>
            <a:ext cx="2449512" cy="5000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ko-KR" altLang="en-US" sz="2800" b="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rPr>
              <a:t>외국환업무취급기관 등록 관련</a:t>
            </a:r>
            <a:endParaRPr lang="ko-KR" altLang="en-US" sz="2800" b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</a:endParaRPr>
          </a:p>
        </p:txBody>
      </p:sp>
      <p:sp>
        <p:nvSpPr>
          <p:cNvPr id="9" name="슬라이드 번호 개체 틀 2"/>
          <p:cNvSpPr txBox="1">
            <a:spLocks/>
          </p:cNvSpPr>
          <p:nvPr/>
        </p:nvSpPr>
        <p:spPr bwMode="auto">
          <a:xfrm>
            <a:off x="4283968" y="6519118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6F4E4440-5762-490C-AAA9-64F8DA630D83}" type="slidenum">
              <a:rPr lang="en-US" altLang="ko-KR" sz="1200">
                <a:latin typeface="Arial" pitchFamily="34" charset="0"/>
                <a:ea typeface="+mn-ea"/>
              </a:rPr>
              <a:pPr algn="ctr">
                <a:defRPr/>
              </a:pPr>
              <a:t>2</a:t>
            </a:fld>
            <a:endParaRPr lang="en-US" altLang="ko-KR" sz="1200" dirty="0">
              <a:latin typeface="Arial" pitchFamily="34" charset="0"/>
              <a:ea typeface="+mn-ea"/>
            </a:endParaRP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1941888" y="2818183"/>
            <a:ext cx="545878" cy="594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0913" tIns="50457" rIns="100913" bIns="50457">
            <a:spAutoFit/>
          </a:bodyPr>
          <a:lstStyle/>
          <a:p>
            <a:pPr>
              <a:defRPr/>
            </a:pPr>
            <a:r>
              <a:rPr lang="en-US" altLang="ko-KR" sz="3200" spc="-11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 1</a:t>
            </a:r>
            <a:endParaRPr lang="en-US" altLang="ko-KR" sz="3200" spc="-11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279900" y="6308090"/>
            <a:ext cx="584200" cy="222250"/>
          </a:xfrm>
        </p:spPr>
        <p:txBody>
          <a:bodyPr/>
          <a:lstStyle/>
          <a:p>
            <a:pPr>
              <a:defRPr/>
            </a:pPr>
            <a:fld id="{756E75D7-2F5D-4CC2-B82E-83A258875493}" type="slidenum">
              <a:rPr lang="en-US" altLang="ko-KR"/>
              <a:pPr>
                <a:defRPr/>
              </a:pPr>
              <a:t>3</a:t>
            </a:fld>
            <a:endParaRPr lang="en-US" altLang="ko-KR"/>
          </a:p>
        </p:txBody>
      </p:sp>
      <p:pic>
        <p:nvPicPr>
          <p:cNvPr id="11267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Rectangle 45"/>
          <p:cNvSpPr>
            <a:spLocks noChangeArrowheads="1"/>
          </p:cNvSpPr>
          <p:nvPr/>
        </p:nvSpPr>
        <p:spPr bwMode="auto">
          <a:xfrm>
            <a:off x="4279900" y="6525344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E83C7017-9573-410C-A3ED-4748E0637C4C}" type="slidenum">
              <a:rPr lang="en-US" altLang="ko-KR" sz="1200">
                <a:ea typeface="굴림" pitchFamily="50" charset="-127"/>
              </a:rPr>
              <a:pPr algn="ctr"/>
              <a:t>3</a:t>
            </a:fld>
            <a:endParaRPr lang="en-US" altLang="ko-KR" sz="1200" dirty="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외국환업무취급기관 등록 관련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282" name="Picture 42" descr="08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2267876" y="2108472"/>
            <a:ext cx="6252428" cy="627034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1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외국환거래법 제</a:t>
            </a:r>
            <a:r>
              <a:rPr lang="en-US" altLang="ko-KR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r>
              <a:rPr lang="ko-KR" altLang="en-US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조</a:t>
            </a:r>
            <a:endParaRPr kumimoji="1" lang="en-US" altLang="ko-KR" sz="1800" i="0" u="none" strike="noStrike" kern="0" cap="none" spc="0" normalizeH="0" baseline="0" noProof="0" dirty="0" smtClean="0">
              <a:ln>
                <a:noFill/>
              </a:ln>
              <a:solidFill>
                <a:srgbClr val="000068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모서리가 둥근 직사각형 101"/>
          <p:cNvSpPr/>
          <p:nvPr/>
        </p:nvSpPr>
        <p:spPr>
          <a:xfrm>
            <a:off x="621754" y="2112538"/>
            <a:ext cx="1500198" cy="629270"/>
          </a:xfrm>
          <a:prstGeom prst="roundRect">
            <a:avLst/>
          </a:prstGeom>
          <a:gradFill rotWithShape="1">
            <a:gsLst>
              <a:gs pos="0">
                <a:srgbClr val="1F497D">
                  <a:tint val="40000"/>
                  <a:satMod val="350000"/>
                </a:srgbClr>
              </a:gs>
              <a:gs pos="40000">
                <a:srgbClr val="1F497D">
                  <a:tint val="45000"/>
                  <a:shade val="99000"/>
                  <a:satMod val="350000"/>
                </a:srgbClr>
              </a:gs>
              <a:gs pos="100000">
                <a:srgbClr val="1F497D">
                  <a:shade val="20000"/>
                  <a:satMod val="255000"/>
                </a:srgbClr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i="0" u="none" strike="noStrike" kern="0" cap="none" spc="-15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rPr>
              <a:t> 관련 법령</a:t>
            </a:r>
            <a:endParaRPr kumimoji="0" lang="ko-KR" altLang="en-US" sz="2000" i="0" u="none" strike="noStrike" kern="0" cap="none" spc="-150" normalizeH="0" baseline="0" noProof="0" dirty="0">
              <a:ln>
                <a:noFill/>
              </a:ln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 pitchFamily="50" charset="-127"/>
              <a:ea typeface="맑은 고딕" pitchFamily="50" charset="-127"/>
              <a:cs typeface="한컴돋움" pitchFamily="18" charset="-127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599424" y="2826803"/>
            <a:ext cx="1500198" cy="2447861"/>
          </a:xfrm>
          <a:prstGeom prst="roundRect">
            <a:avLst/>
          </a:prstGeom>
          <a:gradFill rotWithShape="1">
            <a:gsLst>
              <a:gs pos="0">
                <a:srgbClr val="1F497D">
                  <a:tint val="40000"/>
                  <a:satMod val="350000"/>
                </a:srgbClr>
              </a:gs>
              <a:gs pos="40000">
                <a:srgbClr val="1F497D">
                  <a:tint val="45000"/>
                  <a:shade val="99000"/>
                  <a:satMod val="350000"/>
                </a:srgbClr>
              </a:gs>
              <a:gs pos="100000">
                <a:srgbClr val="1F497D">
                  <a:shade val="20000"/>
                  <a:satMod val="255000"/>
                </a:srgbClr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kern="0" spc="-150" noProof="0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한컴돋움" pitchFamily="18" charset="-127"/>
              </a:rPr>
              <a:t>외국환</a:t>
            </a:r>
            <a:endParaRPr kumimoji="0" lang="en-US" altLang="ko-KR" sz="2000" kern="0" spc="-150" noProof="0" dirty="0" smtClean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한컴돋움" pitchFamily="18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kern="0" spc="-150" noProof="0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한컴돋움" pitchFamily="18" charset="-127"/>
              </a:rPr>
              <a:t>업무</a:t>
            </a:r>
            <a:endParaRPr kumimoji="0" lang="ko-KR" altLang="en-US" sz="2000" i="0" u="none" strike="noStrike" kern="0" cap="none" spc="-150" normalizeH="0" baseline="0" noProof="0" dirty="0">
              <a:ln>
                <a:noFill/>
              </a:ln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맑은 고딕" pitchFamily="50" charset="-127"/>
              <a:ea typeface="맑은 고딕" pitchFamily="50" charset="-127"/>
              <a:cs typeface="한컴돋움" pitchFamily="18" charset="-127"/>
            </a:endParaRPr>
          </a:p>
        </p:txBody>
      </p:sp>
      <p:grpSp>
        <p:nvGrpSpPr>
          <p:cNvPr id="15" name="그룹 16"/>
          <p:cNvGrpSpPr>
            <a:grpSpLocks noChangeAspect="1"/>
          </p:cNvGrpSpPr>
          <p:nvPr/>
        </p:nvGrpSpPr>
        <p:grpSpPr>
          <a:xfrm>
            <a:off x="599424" y="970384"/>
            <a:ext cx="7933016" cy="1018456"/>
            <a:chOff x="354110" y="3261643"/>
            <a:chExt cx="7861229" cy="951679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2000232" y="3261643"/>
              <a:ext cx="6215107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외국환업무를 업으로 하고자 하는 </a:t>
              </a:r>
              <a:r>
                <a:rPr lang="ko-KR" altLang="en-US" kern="0" dirty="0" err="1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금융회사등은</a:t>
              </a:r>
              <a:endParaRPr lang="en-US" altLang="ko-KR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lang="ko-KR" altLang="en-US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lang="ko-KR" altLang="en-US" kern="0" dirty="0" err="1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기획재정부</a:t>
              </a:r>
              <a:r>
                <a:rPr lang="ko-KR" altLang="en-US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장관에게 외국환업무를 미리 등록할 의무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0068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354110" y="3267747"/>
              <a:ext cx="1500198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개요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sp>
        <p:nvSpPr>
          <p:cNvPr id="22" name="모서리가 둥근 직사각형 21"/>
          <p:cNvSpPr/>
          <p:nvPr/>
        </p:nvSpPr>
        <p:spPr>
          <a:xfrm>
            <a:off x="2278036" y="2851792"/>
            <a:ext cx="6215107" cy="2412712"/>
          </a:xfrm>
          <a:prstGeom prst="roundRect">
            <a:avLst>
              <a:gd name="adj" fmla="val 9008"/>
            </a:avLst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endParaRPr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endParaRPr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endParaRPr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1F497D">
                  <a:lumMod val="75000"/>
                </a:srgbClr>
              </a:buClr>
              <a:buSzPct val="145000"/>
              <a:tabLst/>
              <a:defRPr/>
            </a:pPr>
            <a:endParaRPr kumimoji="1" lang="en-US" altLang="ko-KR" sz="180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72467" y="3090040"/>
            <a:ext cx="57871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증권사</a:t>
            </a:r>
            <a:r>
              <a:rPr lang="en-US" altLang="ko-KR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 err="1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자산운용사</a:t>
            </a:r>
            <a:r>
              <a:rPr lang="en-US" altLang="ko-KR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 err="1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선물사</a:t>
            </a:r>
            <a:r>
              <a:rPr lang="en-US" altLang="ko-KR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투자자문사 등의 외국환</a:t>
            </a:r>
            <a:endParaRPr lang="en-US" altLang="ko-KR" dirty="0" smtClean="0">
              <a:solidFill>
                <a:srgbClr val="000068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업무는 해당 금융회사의 업무와 직접 관련된 외국환 </a:t>
            </a:r>
            <a:endParaRPr lang="en-US" altLang="ko-KR" dirty="0" smtClean="0">
              <a:solidFill>
                <a:srgbClr val="000068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업무를 영위할 수 있음</a:t>
            </a:r>
            <a:endParaRPr lang="ko-KR" altLang="en-US" dirty="0">
              <a:solidFill>
                <a:srgbClr val="000068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20310" y="4040761"/>
            <a:ext cx="59170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단</a:t>
            </a:r>
            <a:r>
              <a:rPr lang="en-US" altLang="ko-KR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대한민국과 외국 간의 지급 </a:t>
            </a:r>
            <a:r>
              <a:rPr lang="en-US" altLang="ko-KR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· </a:t>
            </a:r>
            <a:r>
              <a:rPr lang="ko-KR" altLang="en-US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추심 및 수령 업무</a:t>
            </a:r>
            <a:r>
              <a:rPr lang="en-US" altLang="ko-KR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,</a:t>
            </a:r>
          </a:p>
          <a:p>
            <a:r>
              <a:rPr lang="en-US" altLang="ko-KR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거주자와의 외국통화로 표시되거나 지급받을 수 있는</a:t>
            </a:r>
            <a:endParaRPr lang="en-US" altLang="ko-KR" dirty="0" smtClean="0">
              <a:solidFill>
                <a:srgbClr val="000068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 예금 업무는 제외</a:t>
            </a:r>
            <a:endParaRPr lang="ko-KR" altLang="en-US" dirty="0">
              <a:solidFill>
                <a:srgbClr val="000068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8" name="그룹 16"/>
          <p:cNvGrpSpPr>
            <a:grpSpLocks noChangeAspect="1"/>
          </p:cNvGrpSpPr>
          <p:nvPr/>
        </p:nvGrpSpPr>
        <p:grpSpPr>
          <a:xfrm>
            <a:off x="611560" y="5408624"/>
            <a:ext cx="7928046" cy="1063850"/>
            <a:chOff x="354110" y="3326005"/>
            <a:chExt cx="7856304" cy="950892"/>
          </a:xfrm>
        </p:grpSpPr>
        <p:sp>
          <p:nvSpPr>
            <p:cNvPr id="19" name="모서리가 둥근 직사각형 18"/>
            <p:cNvSpPr/>
            <p:nvPr/>
          </p:nvSpPr>
          <p:spPr>
            <a:xfrm>
              <a:off x="1995307" y="3326005"/>
              <a:ext cx="6215107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등록을 하지 않거나 부정한 방법으로 등록을 하고 외국환업무를 한 경우 </a:t>
              </a:r>
              <a:r>
                <a:rPr lang="en-US" altLang="ko-KR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lang="ko-KR" altLang="en-US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년 이하의 징역 또는 </a:t>
              </a:r>
              <a:r>
                <a:rPr lang="en-US" altLang="ko-KR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lang="ko-KR" altLang="en-US" kern="0" dirty="0" err="1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억원</a:t>
              </a:r>
              <a:r>
                <a:rPr lang="ko-KR" altLang="en-US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이하의 벌금</a:t>
              </a:r>
              <a:r>
                <a:rPr lang="en-US" altLang="ko-KR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외국환거래법 제</a:t>
              </a:r>
              <a:r>
                <a:rPr lang="en-US" altLang="ko-KR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27</a:t>
              </a:r>
              <a:r>
                <a:rPr lang="ko-KR" altLang="en-US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조</a:t>
              </a:r>
              <a:r>
                <a:rPr lang="en-US" altLang="ko-KR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354110" y="3331321"/>
              <a:ext cx="1500198" cy="945576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</a:t>
              </a:r>
              <a:r>
                <a:rPr kumimoji="0" lang="ko-KR" altLang="en-US" sz="2000" kern="0" spc="-150" dirty="0" err="1" smtClean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무등록</a:t>
              </a: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</a:t>
              </a:r>
              <a:r>
                <a:rPr kumimoji="0" lang="en-US" altLang="ko-KR" sz="2000" kern="0" spc="-150" dirty="0" smtClean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· </a:t>
              </a:r>
              <a:r>
                <a:rPr kumimoji="0" lang="ko-KR" altLang="en-US" sz="2000" kern="0" spc="-150" dirty="0" err="1" smtClean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허위등록시</a:t>
              </a: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제재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6E75D7-2F5D-4CC2-B82E-83A258875493}" type="slidenum">
              <a:rPr lang="en-US" altLang="ko-KR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11267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E83C7017-9573-410C-A3ED-4748E0637C4C}" type="slidenum">
              <a:rPr lang="en-US" altLang="ko-KR" sz="1200">
                <a:ea typeface="굴림" pitchFamily="50" charset="-127"/>
              </a:rPr>
              <a:pPr algn="ctr"/>
              <a:t>4</a:t>
            </a:fld>
            <a:endParaRPr lang="en-US" altLang="ko-KR" sz="1200">
              <a:ea typeface="굴림" pitchFamily="50" charset="-127"/>
            </a:endParaRPr>
          </a:p>
        </p:txBody>
      </p:sp>
      <p:pic>
        <p:nvPicPr>
          <p:cNvPr id="11282" name="Picture 42" descr="08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540674" y="4167038"/>
            <a:ext cx="7861229" cy="1149520"/>
            <a:chOff x="500034" y="4871768"/>
            <a:chExt cx="7861229" cy="576062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146156" y="4871768"/>
              <a:ext cx="6215107" cy="570332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외환정보집중기관과의  전산망 연결</a:t>
              </a:r>
              <a:r>
                <a:rPr lang="en-US" altLang="ko-KR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외국환업무 및 그에 </a:t>
              </a:r>
              <a:endParaRPr lang="en-US" altLang="ko-KR" sz="175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lang="en-US" altLang="ko-KR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따른 사후관리를 원활하게 수행할 수 있는 전산설비를</a:t>
              </a:r>
              <a:endParaRPr lang="en-US" altLang="ko-KR" sz="175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lang="en-US" altLang="ko-KR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갖추어야 할 것 </a:t>
              </a:r>
              <a:endParaRPr kumimoji="1" lang="en-US" altLang="ko-KR" sz="1750" i="0" u="none" strike="noStrike" kern="0" cap="none" spc="0" normalizeH="0" baseline="0" noProof="0" dirty="0" smtClean="0">
                <a:ln>
                  <a:noFill/>
                </a:ln>
                <a:solidFill>
                  <a:srgbClr val="000068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500034" y="4875464"/>
              <a:ext cx="1500198" cy="572366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시설 요건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외국환업무취급기관 등록 관련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AutoShape 15"/>
          <p:cNvSpPr>
            <a:spLocks noChangeArrowheads="1"/>
          </p:cNvSpPr>
          <p:nvPr/>
        </p:nvSpPr>
        <p:spPr bwMode="auto">
          <a:xfrm>
            <a:off x="452186" y="1063813"/>
            <a:ext cx="2163786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등록요건</a:t>
            </a:r>
            <a:endParaRPr kumimoji="0" lang="ko-KR" altLang="en-US" sz="20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540674" y="2896120"/>
            <a:ext cx="7861229" cy="1180064"/>
            <a:chOff x="500034" y="3350978"/>
            <a:chExt cx="7861229" cy="576062"/>
          </a:xfrm>
        </p:grpSpPr>
        <p:sp>
          <p:nvSpPr>
            <p:cNvPr id="29" name="모서리가 둥근 직사각형 28"/>
            <p:cNvSpPr/>
            <p:nvPr/>
          </p:nvSpPr>
          <p:spPr>
            <a:xfrm>
              <a:off x="2146156" y="3350978"/>
              <a:ext cx="6215107" cy="570332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750" kern="0" dirty="0" err="1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금융위가</a:t>
              </a: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정하는 해당 </a:t>
              </a:r>
              <a:r>
                <a:rPr lang="ko-KR" altLang="en-US" sz="1750" kern="0" dirty="0" err="1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금융회사등에</a:t>
              </a: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적용되는</a:t>
              </a:r>
              <a:endParaRPr lang="en-US" altLang="ko-KR" sz="175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lang="en-US" altLang="ko-KR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재무건전성</a:t>
              </a:r>
              <a:r>
                <a:rPr lang="en-US" altLang="ko-KR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기준에 비추어 자본규모와 재무구조가 </a:t>
              </a:r>
              <a:endParaRPr lang="en-US" altLang="ko-KR" sz="175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 적정할 것</a:t>
              </a:r>
              <a:endParaRPr lang="en-US" altLang="ko-KR" sz="175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모서리가 둥근 직사각형 29"/>
            <p:cNvSpPr/>
            <p:nvPr/>
          </p:nvSpPr>
          <p:spPr>
            <a:xfrm>
              <a:off x="500034" y="3354674"/>
              <a:ext cx="1500198" cy="572366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kern="0" spc="-150" noProof="0" dirty="0" smtClean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자본 요건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sp>
        <p:nvSpPr>
          <p:cNvPr id="31" name="모서리가 둥근 직사각형 30"/>
          <p:cNvSpPr/>
          <p:nvPr/>
        </p:nvSpPr>
        <p:spPr>
          <a:xfrm>
            <a:off x="455732" y="1614372"/>
            <a:ext cx="8001056" cy="1149464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■  외국환업무 등록을 하기 위해서는 외국환업무를 하는 데 충분한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   자본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·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시설 및 전문인력을 갖추도록 규정</a:t>
            </a:r>
            <a:r>
              <a: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외국환거래법 제</a:t>
            </a:r>
            <a:r>
              <a: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r>
              <a:rPr kumimoji="0" lang="ko-KR" altLang="en-US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조</a:t>
            </a:r>
            <a:r>
              <a: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540674" y="5408886"/>
            <a:ext cx="7861229" cy="1149520"/>
            <a:chOff x="500034" y="4871768"/>
            <a:chExt cx="7861229" cy="576062"/>
          </a:xfrm>
        </p:grpSpPr>
        <p:sp>
          <p:nvSpPr>
            <p:cNvPr id="39" name="모서리가 둥근 직사각형 38"/>
            <p:cNvSpPr/>
            <p:nvPr/>
          </p:nvSpPr>
          <p:spPr>
            <a:xfrm>
              <a:off x="2146156" y="4871768"/>
              <a:ext cx="6215107" cy="570332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외국환업무에 </a:t>
              </a:r>
              <a:r>
                <a:rPr lang="en-US" altLang="ko-KR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년 이상 종사한 경력이 있는 자 또는</a:t>
              </a:r>
              <a:endParaRPr lang="en-US" altLang="ko-KR" sz="175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lang="en-US" altLang="ko-KR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lang="ko-KR" altLang="en-US" sz="1750" kern="0" dirty="0" err="1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기재부</a:t>
              </a: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장관이 정하는 교육을 이수한 자를 </a:t>
              </a:r>
              <a:r>
                <a:rPr lang="ko-KR" altLang="en-US" sz="1750" kern="0" dirty="0" err="1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영업소별로</a:t>
              </a: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75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lang="en-US" altLang="ko-KR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  2</a:t>
              </a:r>
              <a:r>
                <a:rPr lang="ko-KR" altLang="en-US" sz="1750" kern="0" dirty="0" smtClean="0">
                  <a:solidFill>
                    <a:srgbClr val="000068"/>
                  </a:solidFill>
                  <a:latin typeface="맑은 고딕" pitchFamily="50" charset="-127"/>
                  <a:ea typeface="맑은 고딕" pitchFamily="50" charset="-127"/>
                </a:rPr>
                <a:t>명 이상 확보할 것 </a:t>
              </a:r>
              <a:endParaRPr lang="en-US" altLang="ko-KR" sz="175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500034" y="4875464"/>
              <a:ext cx="1500198" cy="572366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인력 </a:t>
              </a: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요건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279900" y="6542992"/>
            <a:ext cx="584200" cy="222250"/>
          </a:xfrm>
        </p:spPr>
        <p:txBody>
          <a:bodyPr/>
          <a:lstStyle/>
          <a:p>
            <a:pPr>
              <a:defRPr/>
            </a:pPr>
            <a:fld id="{05A4411E-4535-477C-BE1B-BB21193BC2B2}" type="slidenum">
              <a:rPr lang="en-US" altLang="ko-KR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12293" name="Rectangle 45"/>
          <p:cNvSpPr>
            <a:spLocks noChangeArrowheads="1"/>
          </p:cNvSpPr>
          <p:nvPr/>
        </p:nvSpPr>
        <p:spPr bwMode="auto">
          <a:xfrm>
            <a:off x="4279900" y="6542992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ea typeface="굴림" pitchFamily="50" charset="-127"/>
              </a:rPr>
              <a:pPr algn="ctr"/>
              <a:t>5</a:t>
            </a:fld>
            <a:endParaRPr lang="en-US" altLang="ko-KR" sz="1200" dirty="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외국환업무취급기관 등록 관련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AutoShape 15"/>
          <p:cNvSpPr>
            <a:spLocks noChangeArrowheads="1"/>
          </p:cNvSpPr>
          <p:nvPr/>
        </p:nvSpPr>
        <p:spPr bwMode="auto">
          <a:xfrm>
            <a:off x="536006" y="1124744"/>
            <a:ext cx="2163786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등록시</a:t>
            </a:r>
            <a:r>
              <a:rPr kumimoji="0" lang="ko-KR" alt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 의무</a:t>
            </a:r>
            <a:endParaRPr kumimoji="0" lang="ko-KR" altLang="en-US" sz="20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571472" y="1721672"/>
            <a:ext cx="8001056" cy="4731663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■ 외국환업무취급기관 등록을 한 경우 지켜야 할 의무</a:t>
            </a:r>
            <a:endParaRPr kumimoji="0" lang="en-US" altLang="ko-KR" sz="160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-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등록내용 변경 및 폐지신고</a:t>
            </a:r>
            <a:r>
              <a:rPr kumimoji="0" lang="en-US" altLang="ko-KR" sz="1600" kern="0" baseline="300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*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외국환거래법 제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8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조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marR="0" lvl="0" indent="0" defTabSz="91440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0" lang="en-US" altLang="ko-KR" sz="1400" b="0" kern="0" dirty="0" smtClean="0">
                <a:solidFill>
                  <a:srgbClr val="002060"/>
                </a:solidFill>
                <a:latin typeface="+mn-lt"/>
                <a:ea typeface="궁서" pitchFamily="18" charset="-127"/>
              </a:rPr>
              <a:t>*</a:t>
            </a:r>
            <a:r>
              <a:rPr kumimoji="0" lang="en-US" altLang="ko-KR" sz="14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명칭</a:t>
            </a:r>
            <a:r>
              <a:rPr kumimoji="0" lang="en-US" altLang="ko-KR" sz="14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4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본점 소재지</a:t>
            </a:r>
            <a:r>
              <a:rPr kumimoji="0" lang="en-US" altLang="ko-KR" sz="14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4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외국환업무의 취급 범위를 변경하거나 폐지를 하는 경우 </a:t>
            </a:r>
            <a:r>
              <a:rPr kumimoji="0" lang="en-US" altLang="ko-KR" sz="14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7</a:t>
            </a:r>
            <a:r>
              <a:rPr kumimoji="0" lang="ko-KR" altLang="en-US" sz="14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일전까지 </a:t>
            </a:r>
            <a:endParaRPr kumimoji="0" lang="en-US" altLang="ko-KR" sz="1400" b="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4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   </a:t>
            </a:r>
            <a:r>
              <a:rPr kumimoji="0" lang="ko-KR" altLang="en-US" sz="1400" b="0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기획재정부장관에게</a:t>
            </a:r>
            <a:r>
              <a:rPr kumimoji="0" lang="ko-KR" altLang="en-US" sz="14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신고 </a:t>
            </a:r>
            <a:endParaRPr kumimoji="0" lang="en-US" altLang="ko-KR" sz="1400" b="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400" b="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400" b="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400" b="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000" b="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- 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업무상 확인의무 준수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외국환거래법 제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10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조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- 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업무의 감독과 건전성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외화유동성 비율 등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규제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외국환거래법 제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11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조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- 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외환건전성부담금</a:t>
            </a:r>
            <a:r>
              <a:rPr kumimoji="0" lang="en-US" altLang="ko-KR" sz="1600" kern="0" baseline="300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*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외국환거래법 제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11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조의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2)  </a:t>
            </a:r>
          </a:p>
          <a:p>
            <a:pPr marL="0" marR="0" lvl="0" indent="0" defTabSz="91440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2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kumimoji="0" lang="en-US" altLang="ko-KR" sz="1200" b="0" kern="0" dirty="0" smtClean="0">
                <a:solidFill>
                  <a:srgbClr val="002060"/>
                </a:solidFill>
                <a:latin typeface="+mn-lt"/>
                <a:ea typeface="맑은 고딕" pitchFamily="50" charset="-127"/>
              </a:rPr>
              <a:t>*</a:t>
            </a:r>
            <a:r>
              <a:rPr kumimoji="0" lang="en-US" altLang="ko-KR" sz="12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대상</a:t>
            </a:r>
            <a:r>
              <a:rPr kumimoji="0" lang="en-US" altLang="ko-KR" sz="12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: </a:t>
            </a:r>
            <a:r>
              <a:rPr kumimoji="0" lang="ko-KR" altLang="en-US" sz="12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은행</a:t>
            </a:r>
            <a:r>
              <a:rPr kumimoji="0" lang="en-US" altLang="ko-KR" sz="12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2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증권사</a:t>
            </a:r>
            <a:r>
              <a:rPr kumimoji="0" lang="en-US" altLang="ko-KR" sz="12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2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보험사</a:t>
            </a:r>
            <a:r>
              <a:rPr kumimoji="0" lang="en-US" altLang="ko-KR" sz="1200" b="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200" b="0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여전사</a:t>
            </a:r>
            <a:endParaRPr kumimoji="0" lang="en-US" altLang="ko-KR" sz="1200" b="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- 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기획재정부장관 및 한국은행총재에게 보고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외국환거래규정 제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10-1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조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925230" y="3386271"/>
            <a:ext cx="7272808" cy="690802"/>
          </a:xfrm>
          <a:prstGeom prst="roundRect">
            <a:avLst>
              <a:gd name="adj" fmla="val 42098"/>
            </a:avLst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68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외국환업무취급기관 변경</a:t>
            </a:r>
            <a:r>
              <a:rPr kumimoji="0" lang="en-US" altLang="ko-KR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68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·</a:t>
            </a: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68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폐지 관련 </a:t>
            </a:r>
            <a:r>
              <a:rPr kumimoji="0" lang="ko-KR" altLang="en-US" sz="140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8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위반시</a:t>
            </a: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68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벌칙</a:t>
            </a:r>
            <a:r>
              <a:rPr kumimoji="0" lang="en-US" altLang="ko-KR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68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(1</a:t>
            </a: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68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년 이하의 징역 또는 </a:t>
            </a:r>
            <a:r>
              <a:rPr kumimoji="0" lang="en-US" altLang="ko-KR" sz="1400" kern="0" noProof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kumimoji="0" lang="ko-KR" altLang="en-US" sz="140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8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억원</a:t>
            </a: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68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이하의 벌금</a:t>
            </a:r>
            <a:r>
              <a:rPr kumimoji="0" lang="en-US" altLang="ko-KR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68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), </a:t>
            </a: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업무 정지</a:t>
            </a:r>
            <a:r>
              <a:rPr kumimoji="0" lang="en-US" altLang="ko-KR" sz="140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(2</a:t>
            </a:r>
            <a:r>
              <a:rPr kumimoji="0" lang="ko-KR" altLang="en-US" sz="140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개월 이내</a:t>
            </a:r>
            <a:r>
              <a:rPr kumimoji="0" lang="en-US" altLang="ko-KR" sz="140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), </a:t>
            </a: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과징금</a:t>
            </a:r>
            <a:r>
              <a:rPr kumimoji="0" lang="en-US" altLang="ko-KR" sz="140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kumimoji="0" lang="en-US" altLang="ko-KR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과태료</a:t>
            </a:r>
            <a:r>
              <a:rPr kumimoji="0" lang="en-US" altLang="ko-KR" sz="140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kumimoji="0" lang="en-US" altLang="ko-KR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경고</a:t>
            </a:r>
            <a:r>
              <a:rPr kumimoji="0" lang="en-US" altLang="ko-KR" sz="1400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등의</a:t>
            </a:r>
            <a:r>
              <a:rPr kumimoji="0" lang="en-US" altLang="ko-KR" sz="1400" kern="0" dirty="0" smtClean="0">
                <a:solidFill>
                  <a:srgbClr val="000068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400" i="0" u="none" strike="noStrike" kern="0" cap="none" spc="0" normalizeH="0" baseline="0" noProof="0" dirty="0" smtClean="0">
                <a:ln>
                  <a:noFill/>
                </a:ln>
                <a:solidFill>
                  <a:srgbClr val="000068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제재가 부과</a:t>
            </a:r>
            <a:endParaRPr kumimoji="0" lang="en-US" altLang="ko-KR" sz="1400" i="0" u="none" strike="noStrike" kern="0" cap="none" spc="0" normalizeH="0" baseline="0" noProof="0" dirty="0" smtClean="0">
              <a:ln>
                <a:noFill/>
              </a:ln>
              <a:solidFill>
                <a:srgbClr val="000068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771AB-9608-4034-B1DF-5C18528F6230}" type="slidenum">
              <a:rPr lang="en-US" altLang="ko-KR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5123" name="Picture 11" descr="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4" name="Picture 6" descr="0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12" descr="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38576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10" descr="0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03648" y="2501900"/>
            <a:ext cx="6433841" cy="133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2627784" y="2852936"/>
            <a:ext cx="4248472" cy="5000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ko-KR" altLang="en-US" sz="2800" b="0" dirty="0" smtClean="0">
                <a:solidFill>
                  <a:srgbClr val="000066"/>
                </a:solidFill>
                <a:latin typeface="HY헤드라인M" pitchFamily="18" charset="-127"/>
              </a:rPr>
              <a:t>외화유동성비율 제도 개요</a:t>
            </a:r>
            <a:endParaRPr lang="ko-KR" altLang="en-US" sz="2800" b="0" dirty="0">
              <a:solidFill>
                <a:srgbClr val="000066"/>
              </a:solidFill>
              <a:latin typeface="HY헤드라인M" pitchFamily="18" charset="-127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979712" y="2780928"/>
            <a:ext cx="354012" cy="5000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/>
          <a:lstStyle/>
          <a:p>
            <a:pPr algn="ctr">
              <a:defRPr/>
            </a:pPr>
            <a:endParaRPr lang="en-US" altLang="ko-KR" sz="3200" dirty="0">
              <a:solidFill>
                <a:srgbClr val="FFFF99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9" name="슬라이드 번호 개체 틀 2"/>
          <p:cNvSpPr txBox="1">
            <a:spLocks/>
          </p:cNvSpPr>
          <p:nvPr/>
        </p:nvSpPr>
        <p:spPr bwMode="auto">
          <a:xfrm>
            <a:off x="4283968" y="6519118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6F4E4440-5762-490C-AAA9-64F8DA630D83}" type="slidenum">
              <a:rPr lang="en-US" altLang="ko-KR" sz="1200">
                <a:latin typeface="Arial" pitchFamily="34" charset="0"/>
                <a:ea typeface="+mn-ea"/>
              </a:rPr>
              <a:pPr algn="ctr">
                <a:defRPr/>
              </a:pPr>
              <a:t>6</a:t>
            </a:fld>
            <a:endParaRPr lang="en-US" altLang="ko-KR" sz="1200" dirty="0">
              <a:latin typeface="Arial" pitchFamily="34" charset="0"/>
              <a:ea typeface="+mn-ea"/>
            </a:endParaRPr>
          </a:p>
        </p:txBody>
      </p:sp>
      <p:sp>
        <p:nvSpPr>
          <p:cNvPr id="12" name="TextBox 3"/>
          <p:cNvSpPr txBox="1">
            <a:spLocks noChangeArrowheads="1"/>
          </p:cNvSpPr>
          <p:nvPr/>
        </p:nvSpPr>
        <p:spPr bwMode="auto">
          <a:xfrm>
            <a:off x="1941888" y="2818183"/>
            <a:ext cx="425332" cy="594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0913" tIns="50457" rIns="100913" bIns="50457">
            <a:spAutoFit/>
          </a:bodyPr>
          <a:lstStyle/>
          <a:p>
            <a:pPr>
              <a:defRPr/>
            </a:pPr>
            <a:r>
              <a:rPr lang="en-US" altLang="ko-KR" sz="3200" spc="-11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2</a:t>
            </a:r>
            <a:endParaRPr lang="en-US" altLang="ko-KR" sz="3200" spc="-11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6E75D7-2F5D-4CC2-B82E-83A258875493}" type="slidenum">
              <a:rPr lang="en-US" altLang="ko-KR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11267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E83C7017-9573-410C-A3ED-4748E0637C4C}" type="slidenum">
              <a:rPr lang="en-US" altLang="ko-KR" sz="1200">
                <a:ea typeface="굴림" pitchFamily="50" charset="-127"/>
              </a:rPr>
              <a:pPr algn="ctr"/>
              <a:t>7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외화유동성비율제도 개요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금융투자업자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) 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282" name="Picture 42" descr="08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4"/>
          <p:cNvGrpSpPr>
            <a:grpSpLocks noChangeAspect="1"/>
          </p:cNvGrpSpPr>
          <p:nvPr/>
        </p:nvGrpSpPr>
        <p:grpSpPr>
          <a:xfrm>
            <a:off x="356018" y="5533560"/>
            <a:ext cx="8424936" cy="648070"/>
            <a:chOff x="354110" y="3261640"/>
            <a:chExt cx="7861229" cy="951684"/>
          </a:xfrm>
        </p:grpSpPr>
        <p:sp>
          <p:nvSpPr>
            <p:cNvPr id="103" name="모서리가 둥근 직사각형 5"/>
            <p:cNvSpPr/>
            <p:nvPr/>
          </p:nvSpPr>
          <p:spPr>
            <a:xfrm>
              <a:off x="2000232" y="3261640"/>
              <a:ext cx="6215107" cy="942213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FX6660 (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금융기관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만기별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외화자금 조달운용현황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</p:txBody>
        </p:sp>
        <p:sp>
          <p:nvSpPr>
            <p:cNvPr id="104" name="모서리가 둥근 직사각형 6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보고서명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3" name="그룹 7"/>
          <p:cNvGrpSpPr>
            <a:grpSpLocks noChangeAspect="1"/>
          </p:cNvGrpSpPr>
          <p:nvPr/>
        </p:nvGrpSpPr>
        <p:grpSpPr>
          <a:xfrm>
            <a:off x="356018" y="3116054"/>
            <a:ext cx="8424936" cy="633336"/>
            <a:chOff x="354110" y="3261640"/>
            <a:chExt cx="7861229" cy="951684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ko-KR" altLang="en-US" sz="18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금융투자업규정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제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3-46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조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관련법령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4" name="그룹 10"/>
          <p:cNvGrpSpPr>
            <a:grpSpLocks noChangeAspect="1"/>
          </p:cNvGrpSpPr>
          <p:nvPr/>
        </p:nvGrpSpPr>
        <p:grpSpPr>
          <a:xfrm>
            <a:off x="356018" y="3908141"/>
            <a:ext cx="8424936" cy="600979"/>
            <a:chOff x="354110" y="3261640"/>
            <a:chExt cx="7861229" cy="951684"/>
          </a:xfrm>
        </p:grpSpPr>
        <p:sp>
          <p:nvSpPr>
            <p:cNvPr id="99" name="모서리가 둥근 직사각형 98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한은 외환전산망을 통해 보고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보고방법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5" name="그룹 13"/>
          <p:cNvGrpSpPr>
            <a:grpSpLocks noChangeAspect="1"/>
          </p:cNvGrpSpPr>
          <p:nvPr/>
        </p:nvGrpSpPr>
        <p:grpSpPr>
          <a:xfrm>
            <a:off x="356018" y="4669464"/>
            <a:ext cx="8424936" cy="712638"/>
            <a:chOff x="354110" y="3261640"/>
            <a:chExt cx="7861229" cy="951684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매분기별로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익월말까지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보고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보고주기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6" name="그룹 16"/>
          <p:cNvGrpSpPr>
            <a:grpSpLocks noChangeAspect="1"/>
          </p:cNvGrpSpPr>
          <p:nvPr/>
        </p:nvGrpSpPr>
        <p:grpSpPr>
          <a:xfrm>
            <a:off x="395536" y="980728"/>
            <a:ext cx="8424936" cy="1008112"/>
            <a:chOff x="421300" y="3261641"/>
            <a:chExt cx="7861229" cy="951681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033860" y="3261641"/>
              <a:ext cx="6248669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421300" y="3267747"/>
              <a:ext cx="1478180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</a:t>
              </a:r>
              <a:r>
                <a:rPr kumimoji="0" lang="en-US" altLang="ko-KR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3</a:t>
              </a: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개월</a:t>
              </a:r>
              <a:r>
                <a:rPr kumimoji="0" lang="ko-KR" altLang="en-US" sz="2000" b="1" i="0" u="none" strike="noStrike" kern="0" cap="none" spc="-150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외화유동성비율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7" name="그룹 16"/>
          <p:cNvGrpSpPr>
            <a:grpSpLocks noChangeAspect="1"/>
          </p:cNvGrpSpPr>
          <p:nvPr/>
        </p:nvGrpSpPr>
        <p:grpSpPr>
          <a:xfrm>
            <a:off x="383179" y="2132856"/>
            <a:ext cx="8424936" cy="864096"/>
            <a:chOff x="354110" y="3261641"/>
            <a:chExt cx="7861229" cy="951681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2000232" y="3261641"/>
              <a:ext cx="6215107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354110" y="3267747"/>
              <a:ext cx="1500198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</a:t>
              </a: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만기불일치 비율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0" y="11620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83768" y="1124744"/>
            <a:ext cx="3743325" cy="704850"/>
          </a:xfrm>
          <a:prstGeom prst="rect">
            <a:avLst/>
          </a:prstGeom>
          <a:noFill/>
        </p:spPr>
      </p:pic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11620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83768" y="2204864"/>
            <a:ext cx="6248400" cy="704850"/>
          </a:xfrm>
          <a:prstGeom prst="rect">
            <a:avLst/>
          </a:prstGeom>
          <a:noFill/>
        </p:spPr>
      </p:pic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51720" y="6309320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0" dirty="0" smtClean="0"/>
              <a:t>* </a:t>
            </a:r>
            <a:r>
              <a:rPr lang="ko-KR" altLang="en-US" sz="1400" b="0" dirty="0" err="1" smtClean="0"/>
              <a:t>금감원</a:t>
            </a:r>
            <a:r>
              <a:rPr lang="ko-KR" altLang="en-US" sz="1400" b="0" dirty="0" smtClean="0"/>
              <a:t> 보고  대상 </a:t>
            </a:r>
            <a:r>
              <a:rPr lang="en-US" altLang="ko-KR" sz="1400" b="0" dirty="0" smtClean="0"/>
              <a:t>‘</a:t>
            </a:r>
            <a:r>
              <a:rPr lang="ko-KR" altLang="en-US" sz="1400" b="0" dirty="0" smtClean="0"/>
              <a:t>외국환업무 현황보고서</a:t>
            </a:r>
            <a:r>
              <a:rPr lang="en-US" altLang="ko-KR" sz="1400" b="0" dirty="0" smtClean="0"/>
              <a:t>’</a:t>
            </a:r>
            <a:r>
              <a:rPr lang="ko-KR" altLang="en-US" sz="1400" b="0" dirty="0" smtClean="0"/>
              <a:t> 종류는 세칙 </a:t>
            </a:r>
            <a:r>
              <a:rPr lang="en-US" altLang="ko-KR" sz="1400" b="0" dirty="0" smtClean="0"/>
              <a:t>[</a:t>
            </a:r>
            <a:r>
              <a:rPr lang="ko-KR" altLang="en-US" sz="1400" b="0" dirty="0" smtClean="0"/>
              <a:t>별책서식 </a:t>
            </a:r>
            <a:r>
              <a:rPr lang="en-US" altLang="ko-KR" sz="1400" b="0" dirty="0" smtClean="0"/>
              <a:t>1] </a:t>
            </a:r>
            <a:r>
              <a:rPr lang="ko-KR" altLang="en-US" sz="1400" b="0" dirty="0" smtClean="0"/>
              <a:t>제</a:t>
            </a:r>
            <a:r>
              <a:rPr lang="en-US" altLang="ko-KR" sz="1400" b="0" dirty="0" smtClean="0"/>
              <a:t>18</a:t>
            </a:r>
            <a:r>
              <a:rPr lang="ko-KR" altLang="en-US" sz="1400" b="0" dirty="0" smtClean="0"/>
              <a:t>호를 참조</a:t>
            </a:r>
            <a:endParaRPr lang="ko-KR" altLang="en-US" sz="1400" b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참고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1) FX6660 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보고서 양식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ea typeface="굴림" pitchFamily="50" charset="-127"/>
              </a:rPr>
              <a:pPr algn="ctr"/>
              <a:t>8</a:t>
            </a:fld>
            <a:endParaRPr lang="en-US" altLang="ko-KR" sz="1200" dirty="0">
              <a:ea typeface="굴림" pitchFamily="50" charset="-127"/>
            </a:endParaRPr>
          </a:p>
        </p:txBody>
      </p:sp>
      <p:pic>
        <p:nvPicPr>
          <p:cNvPr id="7" name="그림 6" descr="FX666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268760"/>
            <a:ext cx="9144000" cy="504967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7"/>
          <p:cNvSpPr txBox="1"/>
          <p:nvPr/>
        </p:nvSpPr>
        <p:spPr>
          <a:xfrm>
            <a:off x="827584" y="214041"/>
            <a:ext cx="74168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참고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2) </a:t>
            </a:r>
            <a:r>
              <a:rPr lang="ko-KR" altLang="en-US" sz="2200" b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금융투자업시행세칙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별책서식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1] 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제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18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호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ea typeface="굴림" pitchFamily="50" charset="-127"/>
              </a:rPr>
              <a:pPr algn="ctr"/>
              <a:t>9</a:t>
            </a:fld>
            <a:endParaRPr lang="en-US" altLang="ko-KR" sz="1200" dirty="0">
              <a:ea typeface="굴림" pitchFamily="50" charset="-127"/>
            </a:endParaRPr>
          </a:p>
        </p:txBody>
      </p:sp>
      <p:pic>
        <p:nvPicPr>
          <p:cNvPr id="8" name="그림 7" descr="별책서식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39752" y="836712"/>
            <a:ext cx="4554812" cy="594928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E855EA-C76F-4883-98E0-2A86DDBDA59F}" type="slidenum">
              <a:rPr lang="en-US" altLang="ko-KR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8195" name="Picture 9" descr="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196975" y="2703513"/>
            <a:ext cx="7191375" cy="1247775"/>
            <a:chOff x="754" y="1703"/>
            <a:chExt cx="4530" cy="786"/>
          </a:xfrm>
        </p:grpSpPr>
        <p:pic>
          <p:nvPicPr>
            <p:cNvPr id="8198" name="Picture 12" descr="01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4" y="1703"/>
              <a:ext cx="4530" cy="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99" name="Text Box 10"/>
            <p:cNvSpPr txBox="1">
              <a:spLocks noChangeArrowheads="1"/>
            </p:cNvSpPr>
            <p:nvPr/>
          </p:nvSpPr>
          <p:spPr bwMode="auto">
            <a:xfrm>
              <a:off x="1701" y="1909"/>
              <a:ext cx="1989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외화유동성비율 세부내용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</p:grpSp>
      <p:sp>
        <p:nvSpPr>
          <p:cNvPr id="8" name="슬라이드 번호 개체 틀 2"/>
          <p:cNvSpPr txBox="1">
            <a:spLocks/>
          </p:cNvSpPr>
          <p:nvPr/>
        </p:nvSpPr>
        <p:spPr bwMode="auto">
          <a:xfrm>
            <a:off x="4357688" y="6500813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6C735301-AB27-4835-B272-9BCC48DB8F1E}" type="slidenum">
              <a:rPr lang="en-US" altLang="ko-KR" sz="1200">
                <a:latin typeface="Arial" pitchFamily="34" charset="0"/>
                <a:ea typeface="+mn-ea"/>
              </a:rPr>
              <a:pPr algn="ctr">
                <a:defRPr/>
              </a:pPr>
              <a:t>10</a:t>
            </a:fld>
            <a:endParaRPr lang="en-US" altLang="ko-KR" sz="1200" dirty="0">
              <a:latin typeface="Arial" pitchFamily="34" charset="0"/>
              <a:ea typeface="+mn-ea"/>
            </a:endParaRPr>
          </a:p>
        </p:txBody>
      </p:sp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1763688" y="2978674"/>
            <a:ext cx="425332" cy="594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0913" tIns="50457" rIns="100913" bIns="50457">
            <a:spAutoFit/>
          </a:bodyPr>
          <a:lstStyle/>
          <a:p>
            <a:pPr>
              <a:defRPr/>
            </a:pPr>
            <a:r>
              <a:rPr lang="en-US" altLang="ko-KR" sz="3200" spc="-11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3</a:t>
            </a:r>
            <a:endParaRPr lang="en-US" altLang="ko-KR" sz="3200" spc="-11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BEFBF1-A34B-4DAF-8E7B-FF66C907C411}" type="slidenum">
              <a:rPr lang="en-US" altLang="ko-KR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14339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3677A0E7-2220-44CD-8B55-9BD198896CC5}" type="slidenum">
              <a:rPr lang="en-US" altLang="ko-KR" sz="1200">
                <a:ea typeface="굴림" pitchFamily="50" charset="-127"/>
              </a:rPr>
              <a:pPr algn="ctr"/>
              <a:t>11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727280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 세부내용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금융투자업자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en-US" altLang="ko-KR" sz="20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20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세칙 별표</a:t>
            </a:r>
            <a:r>
              <a:rPr lang="en-US" altLang="ko-KR" sz="20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15&gt;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4346" name="Picture 44" descr="07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AutoShape 15"/>
          <p:cNvSpPr>
            <a:spLocks noChangeArrowheads="1"/>
          </p:cNvSpPr>
          <p:nvPr/>
        </p:nvSpPr>
        <p:spPr bwMode="auto">
          <a:xfrm>
            <a:off x="562132" y="1091962"/>
            <a:ext cx="4032448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외화자산 및 외화부채의 범위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9" name="AutoShape 15"/>
          <p:cNvSpPr>
            <a:spLocks noChangeArrowheads="1"/>
          </p:cNvSpPr>
          <p:nvPr/>
        </p:nvSpPr>
        <p:spPr bwMode="auto">
          <a:xfrm>
            <a:off x="539552" y="4738330"/>
            <a:ext cx="2304256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만기적용 특례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500034" y="1663466"/>
            <a:ext cx="8001056" cy="2917662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대차대조표상 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난내계정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외화자산  및  외화부채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스왑거래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중 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미결제통화선도계약분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통화선도계약분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(Outright  Forward)  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통화선물계약분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(Futures)</a:t>
            </a:r>
            <a:r>
              <a:rPr kumimoji="0" lang="en-US" altLang="ko-KR" sz="14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&lt;2016.4.1. </a:t>
            </a:r>
            <a:r>
              <a:rPr kumimoji="0" lang="ko-KR" altLang="en-US" sz="14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시행</a:t>
            </a:r>
            <a:r>
              <a:rPr kumimoji="0" lang="en-US" altLang="ko-KR" sz="14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&gt;</a:t>
            </a:r>
            <a:endParaRPr kumimoji="0" lang="en-US" altLang="ko-KR" b="0" kern="0" dirty="0" smtClean="0">
              <a:solidFill>
                <a:srgbClr val="8A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185738" marR="0" lvl="0" indent="-185738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대차대조표상  난외계정  “확정외화지급보증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–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인수”  중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대외부분  잔액의 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100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분의 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20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을  잔존만기  기간별로  환산하여  포함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500" b="0" kern="0" dirty="0" smtClean="0">
              <a:solidFill>
                <a:sysClr val="windowText" lastClr="00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 </a:t>
            </a:r>
            <a:r>
              <a:rPr kumimoji="0" lang="en-US" altLang="ko-KR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* </a:t>
            </a:r>
            <a:r>
              <a:rPr kumimoji="0" lang="ko-KR" altLang="en-US" sz="1600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국내본지점과</a:t>
            </a:r>
            <a:r>
              <a:rPr kumimoji="0" lang="ko-KR" altLang="en-US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해외점포</a:t>
            </a:r>
            <a:r>
              <a:rPr kumimoji="0" lang="en-US" altLang="ko-KR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kumimoji="0" lang="ko-KR" altLang="en-US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각각 역외계정 포함</a:t>
            </a:r>
            <a:r>
              <a:rPr kumimoji="0" lang="en-US" altLang="ko-KR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r>
              <a:rPr kumimoji="0" lang="ko-KR" altLang="en-US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를 통합</a:t>
            </a:r>
            <a:r>
              <a:rPr kumimoji="0" lang="ko-KR" altLang="en-US" sz="1600" kern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sz="1600" kern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· </a:t>
            </a:r>
            <a:r>
              <a:rPr kumimoji="0" lang="ko-KR" altLang="en-US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연결하여 관리</a:t>
            </a:r>
            <a:endParaRPr kumimoji="0" lang="ko-KR" altLang="en-US" sz="1600" b="0" kern="0" dirty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500034" y="5323757"/>
            <a:ext cx="8001056" cy="1000132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 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통화 및 시가평가대상 외화증권의 </a:t>
            </a:r>
            <a:r>
              <a:rPr lang="ko-KR" altLang="en-US" b="0" spc="-10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시가평가액은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7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일 이내 외화자산으로 분류</a:t>
            </a:r>
            <a:endParaRPr lang="en-US" altLang="ko-KR" b="0" spc="-10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만기가 정해지지 않은 외화자산 및 외화부채는 </a:t>
            </a: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7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일 이내로 분류 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6" grpId="0" animBg="1"/>
      <p:bldP spid="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E855EA-C76F-4883-98E0-2A86DDBDA59F}" type="slidenum">
              <a:rPr lang="en-US" altLang="ko-KR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8195" name="Picture 9" descr="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196975" y="2703513"/>
            <a:ext cx="7191375" cy="1247775"/>
            <a:chOff x="754" y="1703"/>
            <a:chExt cx="4530" cy="786"/>
          </a:xfrm>
        </p:grpSpPr>
        <p:pic>
          <p:nvPicPr>
            <p:cNvPr id="8198" name="Picture 12" descr="01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4" y="1703"/>
              <a:ext cx="4530" cy="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99" name="Text Box 10"/>
            <p:cNvSpPr txBox="1">
              <a:spLocks noChangeArrowheads="1"/>
            </p:cNvSpPr>
            <p:nvPr/>
          </p:nvSpPr>
          <p:spPr bwMode="auto">
            <a:xfrm>
              <a:off x="1701" y="1869"/>
              <a:ext cx="1989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0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외화유동성 비율 관련 </a:t>
              </a:r>
              <a:endParaRPr lang="en-US" altLang="ko-KR" sz="2000" b="0" dirty="0" smtClean="0">
                <a:solidFill>
                  <a:srgbClr val="000066"/>
                </a:solidFill>
                <a:latin typeface="HY헤드라인M" pitchFamily="18" charset="-127"/>
              </a:endParaRPr>
            </a:p>
            <a:p>
              <a:r>
                <a:rPr lang="ko-KR" altLang="en-US" sz="2000" b="0" dirty="0" smtClean="0">
                  <a:solidFill>
                    <a:srgbClr val="000066"/>
                  </a:solidFill>
                  <a:latin typeface="HY헤드라인M" pitchFamily="18" charset="-127"/>
                </a:rPr>
                <a:t>보고서 작성시 주의사항</a:t>
              </a:r>
              <a:endParaRPr lang="ko-KR" altLang="ko-KR" sz="20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0251" name="Text Box 11"/>
            <p:cNvSpPr txBox="1">
              <a:spLocks noChangeArrowheads="1"/>
            </p:cNvSpPr>
            <p:nvPr/>
          </p:nvSpPr>
          <p:spPr bwMode="auto">
            <a:xfrm>
              <a:off x="1199" y="1882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4</a:t>
              </a:r>
              <a:endParaRPr lang="en-US" altLang="ko-KR" sz="3200" dirty="0">
                <a:solidFill>
                  <a:schemeClr val="bg1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8" name="슬라이드 번호 개체 틀 2"/>
          <p:cNvSpPr txBox="1">
            <a:spLocks/>
          </p:cNvSpPr>
          <p:nvPr/>
        </p:nvSpPr>
        <p:spPr bwMode="auto">
          <a:xfrm>
            <a:off x="4357688" y="6500813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6C735301-AB27-4835-B272-9BCC48DB8F1E}" type="slidenum">
              <a:rPr lang="en-US" altLang="ko-KR" sz="1200">
                <a:latin typeface="Arial" pitchFamily="34" charset="0"/>
                <a:ea typeface="+mn-ea"/>
              </a:rPr>
              <a:pPr algn="ctr">
                <a:defRPr/>
              </a:pPr>
              <a:t>12</a:t>
            </a:fld>
            <a:endParaRPr lang="en-US" altLang="ko-KR" sz="1200" dirty="0">
              <a:latin typeface="Arial" pitchFamily="34" charset="0"/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 비율 관련 보고서 작성시 주의사항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ea typeface="굴림" pitchFamily="50" charset="-127"/>
              </a:rPr>
              <a:pPr algn="ctr"/>
              <a:t>13</a:t>
            </a:fld>
            <a:endParaRPr lang="en-US" altLang="ko-KR" sz="1200" dirty="0">
              <a:ea typeface="굴림" pitchFamily="50" charset="-127"/>
            </a:endParaRPr>
          </a:p>
        </p:txBody>
      </p:sp>
      <p:graphicFrame>
        <p:nvGraphicFramePr>
          <p:cNvPr id="23" name="다이어그램 22"/>
          <p:cNvGraphicFramePr/>
          <p:nvPr/>
        </p:nvGraphicFramePr>
        <p:xfrm>
          <a:off x="1524000" y="1196752"/>
          <a:ext cx="6096000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763688" y="6165304"/>
            <a:ext cx="52565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0" dirty="0" smtClean="0"/>
              <a:t>* 1~2</a:t>
            </a:r>
            <a:r>
              <a:rPr lang="ko-KR" altLang="en-US" sz="1400" b="0" dirty="0" smtClean="0"/>
              <a:t>회 </a:t>
            </a:r>
            <a:r>
              <a:rPr lang="ko-KR" altLang="en-US" sz="1400" b="0" dirty="0" err="1" smtClean="0"/>
              <a:t>위반시</a:t>
            </a:r>
            <a:r>
              <a:rPr lang="ko-KR" altLang="en-US" sz="1400" b="0" dirty="0" smtClean="0"/>
              <a:t> 익월 </a:t>
            </a:r>
            <a:r>
              <a:rPr lang="en-US" altLang="ko-KR" sz="1400" b="0" dirty="0" smtClean="0"/>
              <a:t>20</a:t>
            </a:r>
            <a:r>
              <a:rPr lang="ko-KR" altLang="en-US" sz="1400" b="0" dirty="0" smtClean="0"/>
              <a:t>일 이내에 사유서 및 달성계획서 제출</a:t>
            </a:r>
            <a:endParaRPr lang="ko-KR" altLang="en-US" sz="1400" b="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043608" y="2590800"/>
            <a:ext cx="7056784" cy="1339850"/>
            <a:chOff x="1119" y="1632"/>
            <a:chExt cx="3834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834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815" y="187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외화유동성 비율 </a:t>
              </a:r>
              <a:r>
                <a:rPr lang="ko-KR" altLang="en-US" sz="2800" b="0" dirty="0" err="1" smtClean="0">
                  <a:solidFill>
                    <a:srgbClr val="000066"/>
                  </a:solidFill>
                  <a:latin typeface="HY헤드라인M" pitchFamily="18" charset="-127"/>
                </a:rPr>
                <a:t>위반시</a:t>
              </a:r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 제재내용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5</a:t>
              </a:r>
              <a:endParaRPr lang="en-US" altLang="ko-KR" sz="3200" dirty="0">
                <a:solidFill>
                  <a:schemeClr val="bg1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14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7A2209-FD55-406F-9D90-9448721A3E1E}" type="slidenum">
              <a:rPr lang="en-US" altLang="ko-KR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15363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DBFB14DE-D746-4723-A5DE-F7E05EB6A6EC}" type="slidenum">
              <a:rPr lang="en-US" altLang="ko-KR" sz="1200">
                <a:ea typeface="굴림" pitchFamily="50" charset="-127"/>
              </a:rPr>
              <a:pPr algn="ctr"/>
              <a:t>15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727280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건전성 비율 </a:t>
            </a:r>
            <a:r>
              <a:rPr lang="ko-KR" altLang="en-US" sz="2200" b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위반시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제재 내용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금융투자업자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370" name="Picture 51" descr="07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4950" y="125413"/>
            <a:ext cx="719138" cy="67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5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/>
        </p:nvGraphicFramePr>
        <p:xfrm>
          <a:off x="467544" y="1268760"/>
          <a:ext cx="8208911" cy="3297193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4F81BD">
                        <a:tint val="50000"/>
                        <a:satMod val="300000"/>
                      </a:srgbClr>
                    </a:gs>
                    <a:gs pos="35000">
                      <a:srgbClr val="4F81BD">
                        <a:tint val="37000"/>
                        <a:satMod val="300000"/>
                      </a:srgbClr>
                    </a:gs>
                    <a:gs pos="100000">
                      <a:srgbClr val="4F81BD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tblPr>
              <a:tblGrid>
                <a:gridCol w="1484591"/>
                <a:gridCol w="2270550"/>
                <a:gridCol w="2270550"/>
                <a:gridCol w="2183220"/>
              </a:tblGrid>
              <a:tr h="399060"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과거</a:t>
                      </a:r>
                      <a:r>
                        <a:rPr lang="ko-KR" altLang="en-US" sz="12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  </a:t>
                      </a:r>
                      <a:r>
                        <a:rPr lang="en-US" altLang="ko-KR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1</a:t>
                      </a:r>
                      <a:r>
                        <a:rPr lang="ko-KR" altLang="en-US" sz="1800" b="0" dirty="0" err="1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년내</a:t>
                      </a:r>
                      <a:endParaRPr lang="en-US" altLang="ko-KR" sz="1800" b="0" dirty="0" smtClean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위반 횟수 </a:t>
                      </a:r>
                      <a:endParaRPr lang="ko-KR" altLang="en-US" sz="18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3</a:t>
                      </a:r>
                      <a:r>
                        <a:rPr lang="ko-KR" altLang="en-US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개월 </a:t>
                      </a:r>
                      <a:endParaRPr lang="en-US" altLang="ko-KR" sz="1800" b="0" dirty="0" smtClean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외화유동성비율</a:t>
                      </a:r>
                      <a:endParaRPr lang="ko-KR" altLang="en-US" sz="18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800" b="0" dirty="0" err="1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갭비율</a:t>
                      </a:r>
                      <a:endParaRPr lang="ko-KR" altLang="en-US" sz="18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90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7</a:t>
                      </a:r>
                      <a:r>
                        <a:rPr lang="ko-KR" altLang="en-US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일</a:t>
                      </a:r>
                      <a:endParaRPr lang="ko-KR" altLang="en-US" sz="18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1</a:t>
                      </a:r>
                      <a:r>
                        <a:rPr lang="ko-KR" altLang="en-US" sz="18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개월</a:t>
                      </a:r>
                      <a:endParaRPr lang="ko-KR" altLang="en-US" sz="18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</a:tr>
              <a:tr h="43973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1</a:t>
                      </a: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</a:t>
                      </a: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 gridSpan="3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사유서 및 달성계획서 제출</a:t>
                      </a:r>
                      <a:r>
                        <a:rPr lang="en-US" altLang="ko-KR" sz="1800" b="0" baseline="300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*</a:t>
                      </a: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3973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274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2</a:t>
                      </a: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</a:t>
                      </a: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8750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3</a:t>
                      </a: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</a:t>
                      </a: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800" b="0" spc="-15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비율상향 적용</a:t>
                      </a:r>
                      <a:endParaRPr lang="en-US" altLang="ko-KR" sz="1800" b="0" spc="-150" dirty="0" smtClean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spc="-15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(85%</a:t>
                      </a:r>
                      <a:r>
                        <a:rPr lang="ko-KR" altLang="en-US" sz="1800" b="0" spc="-15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이상</a:t>
                      </a:r>
                      <a:r>
                        <a:rPr lang="en-US" altLang="ko-KR" sz="1800" b="0" spc="-15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)</a:t>
                      </a:r>
                      <a:endParaRPr lang="ko-KR" altLang="en-US" sz="1800" b="0" spc="-15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사유서 및 </a:t>
                      </a:r>
                      <a:endParaRPr lang="en-US" altLang="ko-KR" sz="1800" b="0" dirty="0" smtClean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달성계획서 </a:t>
                      </a:r>
                      <a:r>
                        <a:rPr lang="ko-KR" altLang="en-US" sz="1800" b="0" dirty="0" err="1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징구</a:t>
                      </a: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비율상향 적용</a:t>
                      </a:r>
                      <a:endParaRPr lang="en-US" altLang="ko-KR" sz="1800" b="0" dirty="0" smtClean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</a:t>
                      </a: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△</a:t>
                      </a: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5%</a:t>
                      </a: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이상</a:t>
                      </a: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)</a:t>
                      </a: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</a:tr>
              <a:tr h="875269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4</a:t>
                      </a:r>
                      <a:r>
                        <a:rPr lang="ko-KR" altLang="en-US" sz="18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 이상</a:t>
                      </a: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3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/>
                      <a:r>
                        <a:rPr lang="ko-KR" altLang="en-US" sz="18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 일정 비율 충족할 때까지 </a:t>
                      </a:r>
                      <a:endParaRPr lang="en-US" altLang="ko-KR" sz="1800" kern="1200" dirty="0" smtClean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  <a:cs typeface="+mn-cs"/>
                      </a:endParaRPr>
                    </a:p>
                    <a:p>
                      <a:pPr algn="ctr"/>
                      <a:r>
                        <a:rPr lang="ko-KR" altLang="en-US" sz="18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만기 </a:t>
                      </a:r>
                      <a:r>
                        <a:rPr lang="en-US" altLang="ko-KR" sz="18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8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개월 이내 신규 외화차입</a:t>
                      </a:r>
                      <a:r>
                        <a:rPr lang="en-US" altLang="ko-KR" sz="1800" b="0" baseline="300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**</a:t>
                      </a:r>
                      <a:r>
                        <a:rPr lang="ko-KR" altLang="en-US" sz="18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 정지</a:t>
                      </a:r>
                      <a:endParaRPr lang="ko-KR" altLang="en-US" sz="1800" kern="120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  <a:cs typeface="+mn-cs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모서리가 둥근 직사각형 38"/>
          <p:cNvSpPr/>
          <p:nvPr/>
        </p:nvSpPr>
        <p:spPr>
          <a:xfrm>
            <a:off x="467544" y="5445224"/>
            <a:ext cx="8208912" cy="792088"/>
          </a:xfrm>
          <a:prstGeom prst="round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0" cap="none" spc="50" normalizeH="0" baseline="0" noProof="0" dirty="0" smtClean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2</a:t>
            </a:r>
            <a:r>
              <a:rPr kumimoji="0" lang="ko-KR" altLang="en-US" sz="2500" b="1" i="0" u="none" strike="noStrike" kern="0" cap="none" spc="50" normalizeH="0" baseline="0" noProof="0" dirty="0" smtClean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회 이상 </a:t>
            </a:r>
            <a:r>
              <a:rPr kumimoji="0" lang="ko-KR" altLang="en-US" sz="2500" b="1" i="0" u="none" strike="noStrike" kern="0" cap="none" spc="50" normalizeH="0" baseline="0" noProof="0" dirty="0" err="1" smtClean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위반시부터는</a:t>
            </a:r>
            <a:r>
              <a:rPr kumimoji="0" lang="ko-KR" altLang="en-US" sz="2500" b="1" i="0" u="none" strike="noStrike" kern="0" cap="none" spc="50" normalizeH="0" baseline="0" noProof="0" dirty="0" smtClean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 보고주기 단축 추가 가능</a:t>
            </a:r>
            <a:endParaRPr kumimoji="0" lang="ko-KR" altLang="en-US" sz="2500" b="1" i="0" u="none" strike="noStrike" kern="0" cap="none" spc="50" normalizeH="0" baseline="0" noProof="0" dirty="0">
              <a:ln w="11430"/>
              <a:gradFill>
                <a:gsLst>
                  <a:gs pos="25000">
                    <a:srgbClr val="C0504D">
                      <a:satMod val="155000"/>
                    </a:srgbClr>
                  </a:gs>
                  <a:gs pos="100000">
                    <a:srgbClr val="C0504D">
                      <a:shade val="45000"/>
                      <a:satMod val="165000"/>
                    </a:srgb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4509121"/>
            <a:ext cx="6624736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 * </a:t>
            </a:r>
            <a:r>
              <a:rPr lang="ko-KR" altLang="en-US" sz="1500" b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금투업자</a:t>
            </a:r>
            <a:r>
              <a:rPr lang="ko-KR" altLang="en-US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: </a:t>
            </a:r>
            <a:r>
              <a:rPr lang="ko-KR" altLang="en-US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사유발생일부터 </a:t>
            </a:r>
            <a:r>
              <a:rPr lang="en-US" altLang="ko-KR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20</a:t>
            </a:r>
            <a:r>
              <a:rPr lang="ko-KR" altLang="en-US" sz="1500" b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일이내</a:t>
            </a:r>
            <a:r>
              <a:rPr lang="ko-KR" altLang="en-US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제출                                         </a:t>
            </a:r>
            <a:r>
              <a:rPr lang="en-US" altLang="ko-KR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* * </a:t>
            </a:r>
            <a:r>
              <a:rPr lang="ko-KR" altLang="en-US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만기 </a:t>
            </a:r>
            <a:r>
              <a:rPr lang="en-US" altLang="ko-KR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30</a:t>
            </a:r>
            <a:r>
              <a:rPr lang="ko-KR" altLang="en-US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일 이내 콜머니 제외</a:t>
            </a:r>
          </a:p>
          <a:p>
            <a:pPr>
              <a:lnSpc>
                <a:spcPct val="130000"/>
              </a:lnSpc>
            </a:pPr>
            <a:r>
              <a:rPr lang="ko-KR" altLang="en-US" sz="1500" b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16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852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763688" y="2564904"/>
            <a:ext cx="6086475" cy="1339850"/>
            <a:chOff x="1111" y="1616"/>
            <a:chExt cx="3834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1" y="1616"/>
              <a:ext cx="3834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2154" y="179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0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외화유동성 비율 관련 </a:t>
              </a:r>
              <a:endParaRPr lang="en-US" altLang="ko-KR" sz="2000" b="0" dirty="0" smtClean="0">
                <a:solidFill>
                  <a:srgbClr val="000066"/>
                </a:solidFill>
                <a:latin typeface="HY헤드라인M" pitchFamily="18" charset="-127"/>
              </a:endParaRPr>
            </a:p>
            <a:p>
              <a:r>
                <a:rPr lang="ko-KR" altLang="en-US" sz="20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외환전산망 </a:t>
              </a:r>
              <a:r>
                <a:rPr lang="ko-KR" altLang="en-US" sz="2000" b="0" dirty="0" err="1" smtClean="0">
                  <a:solidFill>
                    <a:srgbClr val="000066"/>
                  </a:solidFill>
                  <a:latin typeface="HY헤드라인M" pitchFamily="18" charset="-127"/>
                </a:rPr>
                <a:t>보고시</a:t>
              </a:r>
              <a:r>
                <a:rPr lang="ko-KR" altLang="en-US" sz="2000" b="0" dirty="0" smtClean="0">
                  <a:solidFill>
                    <a:srgbClr val="000066"/>
                  </a:solidFill>
                  <a:latin typeface="HY헤드라인M" pitchFamily="18" charset="-127"/>
                </a:rPr>
                <a:t> 유의사항</a:t>
              </a:r>
              <a:endParaRPr lang="ko-KR" altLang="ko-KR" sz="20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6</a:t>
              </a:r>
              <a:endParaRPr lang="en-US" altLang="ko-KR" sz="3200" dirty="0">
                <a:solidFill>
                  <a:schemeClr val="bg1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16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D29664-908E-468F-8565-CDF01B1C2280}" type="slidenum">
              <a:rPr lang="en-US" altLang="ko-KR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16387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AE47FF85-0C7A-4799-A521-5A62FEB58E4A}" type="slidenum">
              <a:rPr lang="en-US" altLang="ko-KR" sz="1200">
                <a:ea typeface="굴림" pitchFamily="50" charset="-127"/>
              </a:rPr>
              <a:pPr algn="ctr"/>
              <a:t>17</a:t>
            </a:fld>
            <a:endParaRPr lang="en-US" altLang="ko-KR" sz="1200">
              <a:ea typeface="굴림" pitchFamily="50" charset="-127"/>
            </a:endParaRPr>
          </a:p>
        </p:txBody>
      </p:sp>
      <p:pic>
        <p:nvPicPr>
          <p:cNvPr id="15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6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84" y="214041"/>
            <a:ext cx="6912768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 비율 관련 외환전산망 </a:t>
            </a:r>
            <a:r>
              <a:rPr lang="ko-KR" altLang="en-US" b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보고시</a:t>
            </a:r>
            <a:r>
              <a:rPr lang="ko-KR" altLang="en-US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유의사항</a:t>
            </a:r>
            <a:r>
              <a:rPr lang="en-US" altLang="ko-KR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금융투자업자</a:t>
            </a:r>
            <a:r>
              <a:rPr lang="en-US" altLang="ko-KR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47"/>
          <p:cNvGrpSpPr/>
          <p:nvPr/>
        </p:nvGrpSpPr>
        <p:grpSpPr>
          <a:xfrm>
            <a:off x="144463" y="2150530"/>
            <a:ext cx="4427537" cy="4374814"/>
            <a:chOff x="144463" y="1647029"/>
            <a:chExt cx="4427537" cy="4374814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44463" y="1647029"/>
              <a:ext cx="4427537" cy="4374814"/>
              <a:chOff x="34" y="1123"/>
              <a:chExt cx="1980" cy="3019"/>
            </a:xfrm>
          </p:grpSpPr>
          <p:pic>
            <p:nvPicPr>
              <p:cNvPr id="29" name="Picture 5" descr="027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4" y="1224"/>
                <a:ext cx="1980" cy="29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0" name="Picture 6" descr="04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08" y="1123"/>
                <a:ext cx="1613" cy="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1" name="Rectangle 8"/>
              <p:cNvSpPr>
                <a:spLocks noChangeArrowheads="1"/>
              </p:cNvSpPr>
              <p:nvPr/>
            </p:nvSpPr>
            <p:spPr bwMode="auto">
              <a:xfrm>
                <a:off x="366" y="1215"/>
                <a:ext cx="1294" cy="217"/>
              </a:xfrm>
              <a:prstGeom prst="rect">
                <a:avLst/>
              </a:prstGeom>
              <a:noFill/>
              <a:ln w="762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ko-KR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FX6610 (</a:t>
                </a:r>
                <a:r>
                  <a:rPr lang="ko-KR" altLang="en-US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외화</a:t>
                </a:r>
                <a:r>
                  <a:rPr lang="en-US" altLang="ko-KR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B/S)</a:t>
                </a:r>
                <a:endParaRPr lang="ko-KR" altLang="en-US" b="0" dirty="0">
                  <a:solidFill>
                    <a:srgbClr val="FFFFCC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467544" y="2361475"/>
              <a:ext cx="3744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ko-KR" altLang="en-US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관련 계정 금액간 일치 여부 체크</a:t>
              </a:r>
              <a:endParaRPr lang="ko-KR" altLang="en-US" b="0" dirty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67544" y="2806212"/>
              <a:ext cx="37444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3E7F15"/>
                </a:buClr>
                <a:buSzPts val="900"/>
                <a:buFont typeface="Arial" charset="0"/>
                <a:buNone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-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유가증권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외화대출금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매입외환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,</a:t>
              </a:r>
              <a:br>
                <a:rPr lang="en-US" altLang="ko-KR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</a:br>
              <a:r>
                <a:rPr lang="ko-KR" altLang="en-US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대손충당금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외화예수금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외화차입금 등 </a:t>
              </a:r>
              <a:endParaRPr lang="en-US" altLang="ko-KR" sz="1000" b="0" dirty="0" smtClean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67544" y="3589589"/>
              <a:ext cx="37444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altLang="ko-KR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자산합계 및 부채합계 금액간의 일치 여부 체크</a:t>
              </a:r>
              <a:endParaRPr lang="ko-KR" altLang="en-US" b="0" dirty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7544" y="4286126"/>
              <a:ext cx="3744416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3E7F15"/>
                </a:buClr>
                <a:buSzPts val="900"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- FX6660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 운용합계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/>
              </a:r>
              <a:b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</a:b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   = FX6610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자산합계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(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충당금 </a:t>
              </a:r>
              <a:r>
                <a:rPr lang="ko-KR" altLang="en-US" sz="1600" b="0" dirty="0" err="1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차감후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  <a:p>
              <a:pPr>
                <a:buClr>
                  <a:srgbClr val="3E7F15"/>
                </a:buClr>
                <a:buSzPts val="900"/>
              </a:pPr>
              <a:endParaRPr lang="en-US" altLang="ko-KR" sz="1000" b="0" dirty="0" smtClean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>
                <a:buClr>
                  <a:srgbClr val="3E7F15"/>
                </a:buClr>
                <a:buSzPts val="900"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- FX6660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조달합계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/>
              </a:r>
              <a:b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</a:b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   = FX6610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부채합계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(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충당금 </a:t>
              </a:r>
              <a:r>
                <a:rPr lang="ko-KR" altLang="en-US" sz="1600" b="0" dirty="0" err="1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차감전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</p:txBody>
        </p:sp>
      </p:grpSp>
      <p:grpSp>
        <p:nvGrpSpPr>
          <p:cNvPr id="4" name="그룹 48"/>
          <p:cNvGrpSpPr/>
          <p:nvPr/>
        </p:nvGrpSpPr>
        <p:grpSpPr>
          <a:xfrm>
            <a:off x="4397375" y="2126988"/>
            <a:ext cx="4566829" cy="4397382"/>
            <a:chOff x="4397375" y="1623487"/>
            <a:chExt cx="4566829" cy="4397382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4397375" y="1623487"/>
              <a:ext cx="4566829" cy="4397382"/>
              <a:chOff x="34" y="1122"/>
              <a:chExt cx="1905" cy="2927"/>
            </a:xfrm>
          </p:grpSpPr>
          <p:pic>
            <p:nvPicPr>
              <p:cNvPr id="33" name="Picture 5" descr="027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4" y="1224"/>
                <a:ext cx="1905" cy="2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4" name="Picture 6" descr="04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97" y="1122"/>
                <a:ext cx="1562" cy="4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5" name="Rectangle 8"/>
              <p:cNvSpPr>
                <a:spLocks noChangeArrowheads="1"/>
              </p:cNvSpPr>
              <p:nvPr/>
            </p:nvSpPr>
            <p:spPr bwMode="auto">
              <a:xfrm>
                <a:off x="329" y="1214"/>
                <a:ext cx="1310" cy="217"/>
              </a:xfrm>
              <a:prstGeom prst="rect">
                <a:avLst/>
              </a:prstGeom>
              <a:noFill/>
              <a:ln w="762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ko-KR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FX6130 (</a:t>
                </a:r>
                <a:r>
                  <a:rPr lang="ko-KR" altLang="en-US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자산건전성 현황</a:t>
                </a:r>
                <a:r>
                  <a:rPr lang="en-US" altLang="ko-KR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)</a:t>
                </a:r>
                <a:endParaRPr lang="ko-KR" altLang="en-US" b="0" dirty="0">
                  <a:solidFill>
                    <a:srgbClr val="FFFFCC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sp>
          <p:nvSpPr>
            <p:cNvPr id="46" name="TextBox 45"/>
            <p:cNvSpPr txBox="1"/>
            <p:nvPr/>
          </p:nvSpPr>
          <p:spPr>
            <a:xfrm>
              <a:off x="4788024" y="2917974"/>
              <a:ext cx="37444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altLang="ko-KR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관련 계정 중 </a:t>
              </a:r>
              <a:r>
                <a:rPr lang="ko-KR" altLang="en-US" b="0" dirty="0" err="1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고정이하로</a:t>
              </a:r>
              <a:r>
                <a:rPr lang="ko-KR" altLang="en-US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분류된 금액간 일치 여부 체크</a:t>
              </a:r>
              <a:endParaRPr lang="ko-KR" altLang="en-US" b="0" dirty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88024" y="3852337"/>
              <a:ext cx="37444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3E7F15"/>
                </a:buClr>
                <a:buSzPts val="900"/>
                <a:buFont typeface="Arial" charset="0"/>
                <a:buNone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-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유가증권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매입외환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헤드라인M" pitchFamily="18" charset="-127"/>
                </a:rPr>
                <a:t>대출금 등</a:t>
              </a:r>
              <a:endParaRPr lang="en-US" altLang="ko-KR" sz="1000" b="0" dirty="0" smtClean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</p:grpSp>
      <p:sp>
        <p:nvSpPr>
          <p:cNvPr id="50" name="모서리가 둥근 직사각형 49"/>
          <p:cNvSpPr/>
          <p:nvPr/>
        </p:nvSpPr>
        <p:spPr>
          <a:xfrm>
            <a:off x="1835696" y="948856"/>
            <a:ext cx="5472608" cy="72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/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endParaRPr kumimoji="0" lang="en-US" altLang="ko-KR" sz="1800" b="0" i="0" u="none" strike="noStrike" kern="0" cap="none" spc="0" normalizeH="0" baseline="0" noProof="0" dirty="0" smtClean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123728" y="1124744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rPr>
              <a:t>FX6660(</a:t>
            </a:r>
            <a:r>
              <a:rPr lang="ko-KR" altLang="en-US" sz="2000" dirty="0" err="1" smtClean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rPr>
              <a:t>만기별</a:t>
            </a:r>
            <a:r>
              <a:rPr lang="ko-KR" altLang="en-US" sz="2000" dirty="0" smtClean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rPr>
              <a:t> 외화자금 조달운용현황</a:t>
            </a:r>
            <a:r>
              <a:rPr lang="en-US" altLang="ko-KR" sz="2000" dirty="0" smtClean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r>
              <a:rPr lang="ko-KR" altLang="en-US" sz="2000" dirty="0" smtClean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endParaRPr lang="ko-KR" altLang="en-US" sz="2000" dirty="0">
              <a:solidFill>
                <a:srgbClr val="000068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2" name="위쪽/아래쪽 화살표 51"/>
          <p:cNvSpPr/>
          <p:nvPr/>
        </p:nvSpPr>
        <p:spPr bwMode="auto">
          <a:xfrm rot="2700000">
            <a:off x="1136735" y="1535713"/>
            <a:ext cx="432048" cy="720000"/>
          </a:xfrm>
          <a:prstGeom prst="upDownArrow">
            <a:avLst/>
          </a:prstGeom>
          <a:solidFill>
            <a:srgbClr val="00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HY헤드라인M" pitchFamily="18" charset="-127"/>
            </a:endParaRPr>
          </a:p>
        </p:txBody>
      </p:sp>
      <p:sp>
        <p:nvSpPr>
          <p:cNvPr id="53" name="위쪽/아래쪽 화살표 52"/>
          <p:cNvSpPr/>
          <p:nvPr/>
        </p:nvSpPr>
        <p:spPr bwMode="auto">
          <a:xfrm rot="18900000" flipH="1">
            <a:off x="7571599" y="1532095"/>
            <a:ext cx="432048" cy="720000"/>
          </a:xfrm>
          <a:prstGeom prst="upDownArrow">
            <a:avLst/>
          </a:prstGeom>
          <a:solidFill>
            <a:srgbClr val="00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ko-KR" altLang="en-US" smtClean="0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776413" y="2590800"/>
            <a:ext cx="6086475" cy="1339850"/>
            <a:chOff x="1119" y="1632"/>
            <a:chExt cx="3834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834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815" y="187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외국환포지션 한도 제도 개괄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7</a:t>
              </a:r>
              <a:endParaRPr lang="en-US" altLang="ko-KR" sz="3200" dirty="0">
                <a:solidFill>
                  <a:schemeClr val="bg1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18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6E75D7-2F5D-4CC2-B82E-83A258875493}" type="slidenum">
              <a:rPr lang="en-US" altLang="ko-KR"/>
              <a:pPr>
                <a:defRPr/>
              </a:pPr>
              <a:t>19</a:t>
            </a:fld>
            <a:endParaRPr lang="en-US" altLang="ko-KR"/>
          </a:p>
        </p:txBody>
      </p:sp>
      <p:pic>
        <p:nvPicPr>
          <p:cNvPr id="11267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E83C7017-9573-410C-A3ED-4748E0637C4C}" type="slidenum">
              <a:rPr lang="en-US" altLang="ko-KR" sz="1200">
                <a:ea typeface="굴림" pitchFamily="50" charset="-127"/>
              </a:rPr>
              <a:pPr algn="ctr"/>
              <a:t>19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한도 제도 개괄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금융투자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) 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282" name="Picture 42" descr="08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494" y="143881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400" spc="-11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7</a:t>
            </a:r>
          </a:p>
          <a:p>
            <a:pPr>
              <a:defRPr/>
            </a:pP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4"/>
          <p:cNvGrpSpPr>
            <a:grpSpLocks noChangeAspect="1"/>
          </p:cNvGrpSpPr>
          <p:nvPr/>
        </p:nvGrpSpPr>
        <p:grpSpPr>
          <a:xfrm>
            <a:off x="500034" y="4925248"/>
            <a:ext cx="7861229" cy="1456080"/>
            <a:chOff x="354110" y="3261639"/>
            <a:chExt cx="7861229" cy="951685"/>
          </a:xfrm>
        </p:grpSpPr>
        <p:sp>
          <p:nvSpPr>
            <p:cNvPr id="103" name="모서리가 둥근 직사각형 5"/>
            <p:cNvSpPr/>
            <p:nvPr/>
          </p:nvSpPr>
          <p:spPr>
            <a:xfrm>
              <a:off x="2000232" y="3261639"/>
              <a:ext cx="6215107" cy="942213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kern="0" dirty="0" smtClean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FX4441 (</a:t>
              </a:r>
              <a:r>
                <a:rPr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종합 포지션상황보고서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FX4442 (</a:t>
              </a:r>
              <a:r>
                <a:rPr lang="ko-KR" altLang="en-US" kern="0" dirty="0" err="1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통화별</a:t>
              </a:r>
              <a:r>
                <a:rPr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포지션상황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FX4444 (</a:t>
              </a:r>
              <a:r>
                <a:rPr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외화자산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·</a:t>
              </a:r>
              <a:r>
                <a:rPr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부채 현황 월보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0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FX4450 (</a:t>
              </a:r>
              <a:r>
                <a:rPr kumimoji="0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선물환 포지션상황보고서</a:t>
              </a:r>
              <a:r>
                <a:rPr kumimoji="0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)</a:t>
              </a:r>
              <a:endPara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4" name="모서리가 둥근 직사각형 6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보고서명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3" name="그룹 7"/>
          <p:cNvGrpSpPr>
            <a:grpSpLocks noChangeAspect="1"/>
          </p:cNvGrpSpPr>
          <p:nvPr/>
        </p:nvGrpSpPr>
        <p:grpSpPr>
          <a:xfrm>
            <a:off x="500034" y="1884283"/>
            <a:ext cx="7861229" cy="633336"/>
            <a:chOff x="354110" y="3261640"/>
            <a:chExt cx="7861229" cy="951684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금융투자업규정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제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3-48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조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</a:t>
              </a: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관련법령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4" name="그룹 10"/>
          <p:cNvGrpSpPr>
            <a:grpSpLocks noChangeAspect="1"/>
          </p:cNvGrpSpPr>
          <p:nvPr/>
        </p:nvGrpSpPr>
        <p:grpSpPr>
          <a:xfrm>
            <a:off x="500034" y="2685706"/>
            <a:ext cx="7861229" cy="951684"/>
            <a:chOff x="354110" y="3261640"/>
            <a:chExt cx="7861229" cy="951684"/>
          </a:xfrm>
        </p:grpSpPr>
        <p:sp>
          <p:nvSpPr>
            <p:cNvPr id="99" name="모서리가 둥근 직사각형 98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금융감독원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한은 외환전산망을 통해 보고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)</a:t>
              </a:r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</a:t>
              </a: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보고대상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5" name="그룹 13"/>
          <p:cNvGrpSpPr>
            <a:grpSpLocks noChangeAspect="1"/>
          </p:cNvGrpSpPr>
          <p:nvPr/>
        </p:nvGrpSpPr>
        <p:grpSpPr>
          <a:xfrm>
            <a:off x="500034" y="3805477"/>
            <a:ext cx="7861229" cy="951684"/>
            <a:chOff x="354110" y="3261640"/>
            <a:chExt cx="7861229" cy="951684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일별 포지션 상황을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매월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보고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익월 말까지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위반시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영업일 내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금융감독원에 보고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</a:t>
              </a: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보고주기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6" name="그룹 16"/>
          <p:cNvGrpSpPr>
            <a:grpSpLocks noChangeAspect="1"/>
          </p:cNvGrpSpPr>
          <p:nvPr/>
        </p:nvGrpSpPr>
        <p:grpSpPr>
          <a:xfrm>
            <a:off x="500034" y="1140134"/>
            <a:ext cx="7861229" cy="576062"/>
            <a:chOff x="354110" y="3261641"/>
            <a:chExt cx="7861229" cy="951681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000232" y="3261641"/>
              <a:ext cx="6215107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kern="0" dirty="0" smtClean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0" lang="ko-KR" altLang="en-US" kern="0" dirty="0" err="1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전월말</a:t>
              </a:r>
              <a:r>
                <a:rPr kumimoji="0"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자기자본의 </a:t>
              </a:r>
              <a:r>
                <a:rPr kumimoji="0" lang="en-US" altLang="ko-KR" kern="0" dirty="0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50%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354110" y="3267747"/>
              <a:ext cx="1500198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한      도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20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776413" y="2590800"/>
            <a:ext cx="6086475" cy="1339850"/>
            <a:chOff x="1119" y="1632"/>
            <a:chExt cx="3834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834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815" y="187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외국환포지션 한도 세부 내용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8</a:t>
              </a:r>
              <a:endParaRPr lang="en-US" altLang="ko-KR" sz="3200" dirty="0">
                <a:solidFill>
                  <a:schemeClr val="bg1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20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/>
          <p:cNvSpPr/>
          <p:nvPr/>
        </p:nvSpPr>
        <p:spPr>
          <a:xfrm>
            <a:off x="571472" y="4891222"/>
            <a:ext cx="8001056" cy="1395298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현물 외화자산</a:t>
            </a:r>
            <a:r>
              <a:rPr kumimoji="0" lang="en-US" altLang="ko-KR" kern="0" spc="-1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·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부채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: 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대차대조표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난내계정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외화자산 및 부채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선물 외화자산</a:t>
            </a:r>
            <a:r>
              <a:rPr kumimoji="0" lang="en-US" altLang="ko-KR" kern="0" spc="-1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·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부채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: 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통화관련  파생상품거래  매입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매도분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		         ※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이자만 교환하는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Coupon Swap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은 제외</a:t>
            </a:r>
            <a:endParaRPr kumimoji="0" lang="ko-KR" altLang="en-US" kern="0" dirty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571472" y="2000240"/>
            <a:ext cx="8001056" cy="2000240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매영업일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잔액기준</a:t>
            </a:r>
            <a:r>
              <a:rPr kumimoji="0" lang="ko-KR" altLang="en-US" kern="0" spc="-18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외화자산과  부채의  차액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-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매입초과포지션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(O/B) :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매입액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&gt;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매도액</a:t>
            </a:r>
            <a:endParaRPr kumimoji="0" lang="ko-KR" altLang="en-US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-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매각초과포지션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(O/S) :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매입액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&lt;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매도액</a:t>
            </a:r>
            <a:endParaRPr kumimoji="0" lang="ko-KR" altLang="en-US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kumimoji="0" lang="en-US" altLang="ko-KR" sz="70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종합포지션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간편포지션 방식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,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선물환포지션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순합산포지션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방식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279900" y="6542992"/>
            <a:ext cx="584200" cy="222250"/>
          </a:xfrm>
        </p:spPr>
        <p:txBody>
          <a:bodyPr/>
          <a:lstStyle/>
          <a:p>
            <a:pPr>
              <a:defRPr/>
            </a:pPr>
            <a:fld id="{05A4411E-4535-477C-BE1B-BB21193BC2B2}" type="slidenum">
              <a:rPr lang="en-US" altLang="ko-KR"/>
              <a:pPr>
                <a:defRPr/>
              </a:pPr>
              <a:t>21</a:t>
            </a:fld>
            <a:endParaRPr lang="en-US" altLang="ko-KR"/>
          </a:p>
        </p:txBody>
      </p:sp>
      <p:sp>
        <p:nvSpPr>
          <p:cNvPr id="12293" name="Rectangle 45"/>
          <p:cNvSpPr>
            <a:spLocks noChangeArrowheads="1"/>
          </p:cNvSpPr>
          <p:nvPr/>
        </p:nvSpPr>
        <p:spPr bwMode="auto">
          <a:xfrm>
            <a:off x="4279900" y="6542992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ea typeface="굴림" pitchFamily="50" charset="-127"/>
              </a:rPr>
              <a:pPr algn="ctr"/>
              <a:t>21</a:t>
            </a:fld>
            <a:endParaRPr lang="en-US" altLang="ko-KR" sz="1200" dirty="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한도 세부 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" name="Picture 42" descr="08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404003" y="186048"/>
            <a:ext cx="351573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400" spc="-11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8</a:t>
            </a:r>
            <a:endParaRPr lang="en-US" altLang="ko-KR" sz="24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  <p:sp>
        <p:nvSpPr>
          <p:cNvPr id="79" name="AutoShape 15"/>
          <p:cNvSpPr>
            <a:spLocks noChangeArrowheads="1"/>
          </p:cNvSpPr>
          <p:nvPr/>
        </p:nvSpPr>
        <p:spPr bwMode="auto">
          <a:xfrm>
            <a:off x="536006" y="1319903"/>
            <a:ext cx="2163786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포지션 산정방식</a:t>
            </a:r>
            <a:endParaRPr kumimoji="0" lang="ko-KR" altLang="en-US" sz="20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AutoShape 15"/>
          <p:cNvSpPr>
            <a:spLocks noChangeArrowheads="1"/>
          </p:cNvSpPr>
          <p:nvPr/>
        </p:nvSpPr>
        <p:spPr bwMode="auto">
          <a:xfrm>
            <a:off x="539552" y="4180467"/>
            <a:ext cx="3024336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외화자산</a:t>
            </a:r>
            <a:r>
              <a:rPr kumimoji="0" lang="en-US" altLang="ko-KR" sz="200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및 부채의 범위</a:t>
            </a:r>
            <a:endParaRPr kumimoji="0" lang="ko-KR" altLang="en-US" sz="20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모서리가 둥근 직사각형 86"/>
          <p:cNvSpPr/>
          <p:nvPr/>
        </p:nvSpPr>
        <p:spPr>
          <a:xfrm>
            <a:off x="214282" y="1088929"/>
            <a:ext cx="8640960" cy="5328592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8" name="표 87"/>
          <p:cNvGraphicFramePr>
            <a:graphicFrameLocks noGrp="1"/>
          </p:cNvGraphicFramePr>
          <p:nvPr/>
        </p:nvGraphicFramePr>
        <p:xfrm>
          <a:off x="811516" y="1639637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표 88"/>
          <p:cNvGraphicFramePr>
            <a:graphicFrameLocks noGrp="1"/>
          </p:cNvGraphicFramePr>
          <p:nvPr/>
        </p:nvGraphicFramePr>
        <p:xfrm>
          <a:off x="3547820" y="1639637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0" name="표 89"/>
          <p:cNvGraphicFramePr>
            <a:graphicFrameLocks noGrp="1"/>
          </p:cNvGraphicFramePr>
          <p:nvPr/>
        </p:nvGraphicFramePr>
        <p:xfrm>
          <a:off x="6284124" y="1639637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</a:tbl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884946" y="4749214"/>
            <a:ext cx="1772130" cy="43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달러화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($)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09282" y="4749214"/>
            <a:ext cx="12387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엔화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￥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73578" y="4749214"/>
            <a:ext cx="14548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유로화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€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71778" y="2185902"/>
            <a:ext cx="959903" cy="56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+6</a:t>
            </a:r>
            <a:endParaRPr lang="ko-KR" altLang="en-US" sz="30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564066" y="2185902"/>
            <a:ext cx="959903" cy="56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+3</a:t>
            </a:r>
            <a:endParaRPr lang="ko-KR" altLang="en-US" sz="30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444386" y="2185902"/>
            <a:ext cx="959903" cy="56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-4</a:t>
            </a:r>
            <a:endParaRPr lang="ko-KR" altLang="en-US" sz="30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4686724" y="5396109"/>
            <a:ext cx="3544257" cy="719117"/>
          </a:xfrm>
          <a:prstGeom prst="round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매각 초과 포지션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: -4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유로화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-4)</a:t>
            </a:r>
            <a:endParaRPr kumimoji="0" lang="ko-KR" altLang="en-US" sz="18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798292" y="5396109"/>
            <a:ext cx="3544257" cy="719117"/>
          </a:xfrm>
          <a:prstGeom prst="round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매입 초과 포지션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: +9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달러화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+6,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엔화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+3)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7584" y="1167494"/>
            <a:ext cx="23762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간편포지션</a:t>
            </a:r>
            <a:r>
              <a:rPr lang="en-US" altLang="ko-KR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]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279900" y="6542992"/>
            <a:ext cx="584200" cy="222250"/>
          </a:xfrm>
        </p:spPr>
        <p:txBody>
          <a:bodyPr/>
          <a:lstStyle/>
          <a:p>
            <a:pPr>
              <a:defRPr/>
            </a:pPr>
            <a:fld id="{05A4411E-4535-477C-BE1B-BB21193BC2B2}" type="slidenum">
              <a:rPr lang="en-US" altLang="ko-KR">
                <a:latin typeface="맑은 고딕" pitchFamily="50" charset="-127"/>
                <a:ea typeface="맑은 고딕" pitchFamily="50" charset="-127"/>
              </a:rPr>
              <a:pPr>
                <a:defRPr/>
              </a:pPr>
              <a:t>22</a:t>
            </a:fld>
            <a:endParaRPr lang="en-US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93" name="Rectangle 45"/>
          <p:cNvSpPr>
            <a:spLocks noChangeArrowheads="1"/>
          </p:cNvSpPr>
          <p:nvPr/>
        </p:nvSpPr>
        <p:spPr bwMode="auto">
          <a:xfrm>
            <a:off x="4279900" y="6542992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latin typeface="맑은 고딕" pitchFamily="50" charset="-127"/>
                <a:ea typeface="맑은 고딕" pitchFamily="50" charset="-127"/>
              </a:rPr>
              <a:pPr algn="ctr"/>
              <a:t>22</a:t>
            </a:fld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한도 세부 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156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404003" y="188640"/>
            <a:ext cx="351573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400" spc="-11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8</a:t>
            </a:r>
            <a:endParaRPr lang="en-US" altLang="ko-KR" sz="24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5580112" y="0"/>
            <a:ext cx="3419872" cy="1584176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각 </a:t>
            </a:r>
            <a:r>
              <a:rPr kumimoji="0" lang="ko-KR" altLang="en-US" sz="150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통화별</a:t>
            </a:r>
            <a:r>
              <a:rPr kumimoji="0" lang="ko-KR" altLang="en-US" sz="15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금액 상계</a:t>
            </a:r>
            <a:r>
              <a:rPr kumimoji="0" lang="en-US" altLang="ko-KR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후</a:t>
            </a:r>
            <a:r>
              <a:rPr kumimoji="0" lang="en-US" altLang="ko-KR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</a:p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‘∑</a:t>
            </a:r>
            <a:r>
              <a:rPr kumimoji="0" lang="ko-KR" altLang="en-US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매입초과포지션</a:t>
            </a:r>
            <a:r>
              <a:rPr kumimoji="0" lang="en-US" altLang="ko-KR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kumimoji="0" lang="ko-KR" altLang="en-US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과</a:t>
            </a:r>
            <a:r>
              <a:rPr kumimoji="0" lang="en-US" altLang="ko-KR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∑</a:t>
            </a:r>
            <a:r>
              <a:rPr kumimoji="0" lang="ko-KR" altLang="en-US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매각초과포지션</a:t>
            </a:r>
            <a:r>
              <a:rPr kumimoji="0" lang="en-US" altLang="ko-KR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</a:p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비교하여 절대값이 큰 금액을 선정</a:t>
            </a:r>
            <a:r>
              <a:rPr kumimoji="0" lang="en-US" altLang="ko-KR" sz="15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sz="15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ko-KR" altLang="en-US" sz="15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예</a:t>
            </a:r>
            <a:r>
              <a:rPr kumimoji="0" lang="en-US" altLang="ko-KR" sz="15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) +6 + 3 = 9 &gt; |-4| </a:t>
            </a:r>
            <a:r>
              <a:rPr kumimoji="0" lang="ko-KR" altLang="en-US" sz="15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이므로 </a:t>
            </a:r>
            <a:r>
              <a:rPr kumimoji="0" lang="en-US" altLang="ko-KR" sz="15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ko-KR" altLang="en-US" sz="15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가 관리 대상</a:t>
            </a:r>
            <a:endParaRPr kumimoji="0" lang="en-US" altLang="ko-KR" sz="1500" u="sng" kern="0" dirty="0" smtClea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mph" presetSubtype="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1" dur="2000" fill="hold"/>
                                        <p:tgtEl>
                                          <p:spTgt spid="9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4" presetClass="emph" presetSubtype="2" grpId="2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to="1.3" calcmode="lin" valueType="num">
                                      <p:cBhvr override="childStyle">
                                        <p:cTn id="83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6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" dur="500" fill="hold"/>
                                        <p:tgtEl>
                                          <p:spTgt spid="98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0"/>
                            </p:stCondLst>
                            <p:childTnLst>
                              <p:par>
                                <p:cTn id="88" presetID="4" presetClass="emph" presetSubtype="2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to="1" calcmode="lin" valueType="num">
                                      <p:cBhvr override="childStyle">
                                        <p:cTn id="8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42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4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42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9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42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7" grpId="1" animBg="1"/>
      <p:bldP spid="91" grpId="0"/>
      <p:bldP spid="92" grpId="0"/>
      <p:bldP spid="93" grpId="0"/>
      <p:bldP spid="94" grpId="0"/>
      <p:bldP spid="95" grpId="0"/>
      <p:bldP spid="96" grpId="0"/>
      <p:bldP spid="97" grpId="0" animBg="1"/>
      <p:bldP spid="98" grpId="0" animBg="1"/>
      <p:bldP spid="98" grpId="1" animBg="1"/>
      <p:bldP spid="98" grpId="2" animBg="1"/>
      <p:bldP spid="98" grpId="3" animBg="1"/>
      <p:bldP spid="98" grpId="4" animBg="1"/>
      <p:bldP spid="99" grpId="0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모서리가 둥근 직사각형 86"/>
          <p:cNvSpPr/>
          <p:nvPr/>
        </p:nvSpPr>
        <p:spPr>
          <a:xfrm>
            <a:off x="214282" y="1088929"/>
            <a:ext cx="8640960" cy="5328592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8" name="표 87"/>
          <p:cNvGraphicFramePr>
            <a:graphicFrameLocks noGrp="1"/>
          </p:cNvGraphicFramePr>
          <p:nvPr/>
        </p:nvGraphicFramePr>
        <p:xfrm>
          <a:off x="811516" y="1639637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표 88"/>
          <p:cNvGraphicFramePr>
            <a:graphicFrameLocks noGrp="1"/>
          </p:cNvGraphicFramePr>
          <p:nvPr/>
        </p:nvGraphicFramePr>
        <p:xfrm>
          <a:off x="3547820" y="1639637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0" name="표 89"/>
          <p:cNvGraphicFramePr>
            <a:graphicFrameLocks noGrp="1"/>
          </p:cNvGraphicFramePr>
          <p:nvPr/>
        </p:nvGraphicFramePr>
        <p:xfrm>
          <a:off x="6284124" y="1639637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</a:tbl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884946" y="4749214"/>
            <a:ext cx="1772130" cy="43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달러화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($)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09282" y="4749214"/>
            <a:ext cx="12387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엔화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￥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73578" y="4749214"/>
            <a:ext cx="14548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유로화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€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71778" y="2185902"/>
            <a:ext cx="959903" cy="56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+6</a:t>
            </a:r>
            <a:endParaRPr lang="ko-KR" altLang="en-US" sz="30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564066" y="2185902"/>
            <a:ext cx="959903" cy="56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+3</a:t>
            </a:r>
            <a:endParaRPr lang="ko-KR" altLang="en-US" sz="30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444386" y="2185902"/>
            <a:ext cx="959903" cy="56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-4</a:t>
            </a:r>
            <a:endParaRPr lang="ko-KR" altLang="en-US" sz="30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4686724" y="5396109"/>
            <a:ext cx="3544257" cy="719117"/>
          </a:xfrm>
          <a:prstGeom prst="round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매각 초과 포지션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: -4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유로화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-4)</a:t>
            </a:r>
            <a:endParaRPr kumimoji="0" lang="ko-KR" altLang="en-US" sz="18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798292" y="5396109"/>
            <a:ext cx="3544257" cy="719117"/>
          </a:xfrm>
          <a:prstGeom prst="round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매입 초과 포지션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: +9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달러화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+6,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엔화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+3)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7584" y="1167494"/>
            <a:ext cx="23762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2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순합산포지션</a:t>
            </a:r>
            <a:r>
              <a:rPr lang="en-US" altLang="ko-KR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]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279900" y="6542992"/>
            <a:ext cx="584200" cy="222250"/>
          </a:xfrm>
        </p:spPr>
        <p:txBody>
          <a:bodyPr/>
          <a:lstStyle/>
          <a:p>
            <a:pPr>
              <a:defRPr/>
            </a:pPr>
            <a:fld id="{05A4411E-4535-477C-BE1B-BB21193BC2B2}" type="slidenum">
              <a:rPr lang="en-US" altLang="ko-KR"/>
              <a:pPr>
                <a:defRPr/>
              </a:pPr>
              <a:t>23</a:t>
            </a:fld>
            <a:endParaRPr lang="en-US" altLang="ko-KR"/>
          </a:p>
        </p:txBody>
      </p:sp>
      <p:sp>
        <p:nvSpPr>
          <p:cNvPr id="12293" name="Rectangle 45"/>
          <p:cNvSpPr>
            <a:spLocks noChangeArrowheads="1"/>
          </p:cNvSpPr>
          <p:nvPr/>
        </p:nvSpPr>
        <p:spPr bwMode="auto">
          <a:xfrm>
            <a:off x="4279900" y="6542992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ea typeface="굴림" pitchFamily="50" charset="-127"/>
              </a:rPr>
              <a:pPr algn="ctr"/>
              <a:t>23</a:t>
            </a:fld>
            <a:endParaRPr lang="en-US" altLang="ko-KR" sz="1200" dirty="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한도 세부 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모서리가 둥근 직사각형 19"/>
          <p:cNvSpPr/>
          <p:nvPr/>
        </p:nvSpPr>
        <p:spPr>
          <a:xfrm>
            <a:off x="5076056" y="188640"/>
            <a:ext cx="3744416" cy="100811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| ∑ </a:t>
            </a:r>
            <a:r>
              <a:rPr kumimoji="0" lang="ko-KR" altLang="en-US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매입초과포지션</a:t>
            </a:r>
            <a:r>
              <a:rPr kumimoji="0" lang="en-US" altLang="ko-KR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| -</a:t>
            </a:r>
          </a:p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| ∑ </a:t>
            </a:r>
            <a:r>
              <a:rPr kumimoji="0" lang="ko-KR" altLang="en-US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매각초과포지션</a:t>
            </a:r>
            <a:r>
              <a:rPr kumimoji="0" lang="en-US" altLang="ko-KR" sz="1500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|</a:t>
            </a:r>
          </a:p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5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예</a:t>
            </a:r>
            <a:r>
              <a:rPr kumimoji="0" lang="en-US" altLang="ko-KR" sz="15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)  |+6+3| - |-4|  = 5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003" y="186048"/>
            <a:ext cx="351573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400" spc="-11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8</a:t>
            </a:r>
            <a:endParaRPr lang="en-US" altLang="ko-KR" sz="24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4" presetClass="emph" presetSubtype="2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to="1" calcmode="lin" valueType="num">
                                      <p:cBhvr override="childStyle">
                                        <p:cTn id="8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42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25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42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42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5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7" grpId="1" animBg="1"/>
      <p:bldP spid="91" grpId="0"/>
      <p:bldP spid="92" grpId="0"/>
      <p:bldP spid="93" grpId="0"/>
      <p:bldP spid="94" grpId="0"/>
      <p:bldP spid="95" grpId="0"/>
      <p:bldP spid="96" grpId="0"/>
      <p:bldP spid="97" grpId="0" animBg="1"/>
      <p:bldP spid="98" grpId="0" animBg="1"/>
      <p:bldP spid="98" grpId="1" animBg="1"/>
      <p:bldP spid="99" grpId="0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24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776413" y="2590800"/>
            <a:ext cx="6324599" cy="1339850"/>
            <a:chOff x="1119" y="1632"/>
            <a:chExt cx="3749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749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815" y="187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6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외국환포지션 보고서 작성 요령</a:t>
              </a:r>
              <a:endParaRPr lang="ko-KR" altLang="ko-KR" sz="26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9</a:t>
              </a:r>
              <a:endParaRPr lang="en-US" altLang="ko-KR" sz="3200" dirty="0">
                <a:solidFill>
                  <a:schemeClr val="bg1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24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6E75D7-2F5D-4CC2-B82E-83A258875493}" type="slidenum">
              <a:rPr lang="en-US" altLang="ko-KR"/>
              <a:pPr>
                <a:defRPr/>
              </a:pPr>
              <a:t>25</a:t>
            </a:fld>
            <a:endParaRPr lang="en-US" altLang="ko-KR"/>
          </a:p>
        </p:txBody>
      </p:sp>
      <p:pic>
        <p:nvPicPr>
          <p:cNvPr id="11267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E83C7017-9573-410C-A3ED-4748E0637C4C}" type="slidenum">
              <a:rPr lang="en-US" altLang="ko-KR" sz="1200">
                <a:ea typeface="굴림" pitchFamily="50" charset="-127"/>
              </a:rPr>
              <a:pPr algn="ctr"/>
              <a:t>25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보고서 작성요령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282" name="Picture 42" descr="08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304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339550" y="159023"/>
            <a:ext cx="432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spc="-11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9</a:t>
            </a:r>
            <a:endParaRPr lang="en-US" altLang="ko-KR" sz="24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  <p:grpSp>
        <p:nvGrpSpPr>
          <p:cNvPr id="2" name="그룹 7"/>
          <p:cNvGrpSpPr>
            <a:grpSpLocks noChangeAspect="1"/>
          </p:cNvGrpSpPr>
          <p:nvPr/>
        </p:nvGrpSpPr>
        <p:grpSpPr>
          <a:xfrm>
            <a:off x="467544" y="3068960"/>
            <a:ext cx="8352928" cy="936104"/>
            <a:chOff x="354110" y="3261639"/>
            <a:chExt cx="7861229" cy="951685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2000232" y="3261639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납입자본금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·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적립금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·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이월이익잉여금의 합계액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en-US" altLang="ko-KR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※ </a:t>
              </a:r>
              <a:r>
                <a:rPr lang="ko-KR" altLang="en-US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외국계 지점의 경우 영업기금</a:t>
              </a:r>
              <a:r>
                <a:rPr lang="en-US" altLang="ko-KR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·</a:t>
              </a:r>
              <a:r>
                <a:rPr lang="ko-KR" altLang="en-US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적립금</a:t>
              </a:r>
              <a:r>
                <a:rPr lang="en-US" altLang="ko-KR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·</a:t>
              </a:r>
              <a:r>
                <a:rPr lang="ko-KR" altLang="en-US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이월이익잉여금의 합계액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</a:t>
              </a: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자기자본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3" name="그룹 13"/>
          <p:cNvGrpSpPr>
            <a:grpSpLocks noChangeAspect="1"/>
          </p:cNvGrpSpPr>
          <p:nvPr/>
        </p:nvGrpSpPr>
        <p:grpSpPr>
          <a:xfrm>
            <a:off x="467544" y="4365104"/>
            <a:ext cx="8352928" cy="1728192"/>
            <a:chOff x="354110" y="3261640"/>
            <a:chExt cx="7861229" cy="951684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자본금 또는 영업기금의 </a:t>
              </a:r>
              <a:r>
                <a:rPr kumimoji="1" lang="ko-KR" altLang="en-US" sz="180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환위험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회피를 위한 </a:t>
              </a:r>
              <a:r>
                <a:rPr kumimoji="1" lang="ko-KR" altLang="en-US" sz="180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외국환매입분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lang="en-US" altLang="ko-KR" kern="0" dirty="0" smtClean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   </a:t>
              </a:r>
              <a:r>
                <a:rPr kumimoji="0" lang="en-US" altLang="ko-KR" kern="0" dirty="0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⇒</a:t>
              </a:r>
              <a:r>
                <a:rPr lang="en-US" altLang="ko-KR" kern="0" dirty="0" smtClean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0" lang="ko-KR" altLang="en-US" kern="0" dirty="0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자기자본 </a:t>
              </a:r>
              <a:r>
                <a:rPr kumimoji="0" lang="ko-KR" altLang="en-US" kern="0" dirty="0" err="1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실제헤지분</a:t>
              </a:r>
              <a:endParaRPr kumimoji="0" lang="en-US" altLang="ko-KR" sz="2200" kern="0" dirty="0" smtClean="0">
                <a:solidFill>
                  <a:srgbClr val="8A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endParaRPr kumimoji="1" lang="en-US" altLang="ko-KR" sz="10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이월이익잉여금 </a:t>
              </a:r>
              <a:r>
                <a:rPr kumimoji="1" lang="ko-KR" altLang="en-US" sz="180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환위험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회피를 위해 인정받은 별도한도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kumimoji="0" lang="en-US" altLang="ko-KR" kern="0" dirty="0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   ⇒</a:t>
              </a:r>
              <a:r>
                <a:rPr lang="en-US" altLang="ko-KR" kern="0" dirty="0" smtClean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0" lang="ko-KR" altLang="en-US" kern="0" dirty="0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이월이익잉여금 </a:t>
              </a:r>
              <a:r>
                <a:rPr kumimoji="0" lang="ko-KR" altLang="en-US" kern="0" dirty="0" err="1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실제헤지분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한도관리</a:t>
              </a:r>
              <a:r>
                <a:rPr kumimoji="0" lang="en-US" altLang="ko-KR" sz="2000" i="0" u="none" strike="noStrike" kern="0" cap="none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/>
              </a:r>
              <a:br>
                <a:rPr kumimoji="0" lang="en-US" altLang="ko-KR" sz="2000" i="0" u="none" strike="noStrike" kern="0" cap="none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</a:br>
              <a:r>
                <a:rPr kumimoji="0" lang="ko-KR" altLang="en-US" sz="2000" i="0" u="none" strike="noStrike" kern="0" cap="none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제외대상</a:t>
              </a:r>
              <a:endParaRPr kumimoji="0" lang="ko-KR" altLang="en-US" sz="2000" i="0" u="none" strike="noStrike" kern="0" cap="none" normalizeH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4" name="그룹 16"/>
          <p:cNvGrpSpPr>
            <a:grpSpLocks noChangeAspect="1"/>
          </p:cNvGrpSpPr>
          <p:nvPr/>
        </p:nvGrpSpPr>
        <p:grpSpPr>
          <a:xfrm>
            <a:off x="467544" y="1340769"/>
            <a:ext cx="8352928" cy="1368154"/>
            <a:chOff x="354110" y="3261639"/>
            <a:chExt cx="7861229" cy="951683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000232" y="3261639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288000" indent="-288000" algn="just" fontAlgn="auto" latinLnBrk="0">
                <a:spcBef>
                  <a:spcPts val="0"/>
                </a:spcBef>
                <a:spcAft>
                  <a:spcPts val="600"/>
                </a:spcAft>
                <a:buClr>
                  <a:srgbClr val="4F81B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defRPr/>
              </a:pPr>
              <a:r>
                <a:rPr kumimoji="0"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전년도 외국환포지션 한도 </a:t>
              </a:r>
              <a:r>
                <a:rPr kumimoji="0" lang="ko-KR" altLang="en-US" kern="0" dirty="0" err="1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산정시</a:t>
              </a:r>
              <a:r>
                <a:rPr kumimoji="0"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적용환율 및 전년도 평균 매매기준율의 평균</a:t>
              </a:r>
              <a:r>
                <a:rPr kumimoji="0"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kumimoji="0" lang="ko-KR" altLang="en-US" kern="0" dirty="0" err="1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한은전산망에</a:t>
              </a:r>
              <a:r>
                <a:rPr kumimoji="0"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게시</a:t>
              </a:r>
              <a:r>
                <a:rPr kumimoji="0"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540000" indent="-720000" algn="just" fontAlgn="auto" latinLnBrk="0">
                <a:spcBef>
                  <a:spcPts val="0"/>
                </a:spcBef>
                <a:spcAft>
                  <a:spcPts val="600"/>
                </a:spcAft>
                <a:buClr>
                  <a:srgbClr val="4F81BD">
                    <a:lumMod val="75000"/>
                  </a:srgbClr>
                </a:buClr>
                <a:buSzPct val="145000"/>
                <a:defRPr/>
              </a:pP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en-US" altLang="ko-KR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※ </a:t>
              </a:r>
              <a:r>
                <a:rPr lang="ko-KR" altLang="en-US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미 달러화 이외 외국통화의 대미달러환율은 </a:t>
              </a:r>
              <a:r>
                <a:rPr lang="ko-KR" altLang="en-US" sz="1400" kern="0" dirty="0" err="1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매영업일</a:t>
              </a:r>
              <a:r>
                <a:rPr lang="ko-KR" altLang="en-US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외국환중개회사의 장이 산출</a:t>
              </a:r>
              <a:r>
                <a:rPr lang="en-US" altLang="ko-KR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·</a:t>
              </a:r>
              <a:r>
                <a:rPr lang="ko-KR" altLang="en-US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통보하는 환율 적용</a:t>
              </a:r>
              <a:endPara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354110" y="3267747"/>
              <a:ext cx="1500198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</a:t>
              </a: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환</a:t>
              </a: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     </a:t>
              </a: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율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26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776413" y="2590800"/>
            <a:ext cx="5747642" cy="1339850"/>
            <a:chOff x="1119" y="1632"/>
            <a:chExt cx="3407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407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867" y="1816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0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외국환포지션 관련 외환전산망</a:t>
              </a:r>
              <a:endParaRPr lang="en-US" altLang="ko-KR" sz="2000" b="0" dirty="0" smtClean="0">
                <a:solidFill>
                  <a:srgbClr val="000066"/>
                </a:solidFill>
                <a:latin typeface="HY헤드라인M" pitchFamily="18" charset="-127"/>
              </a:endParaRPr>
            </a:p>
            <a:p>
              <a:r>
                <a:rPr lang="ko-KR" altLang="en-US" sz="2000" b="0" dirty="0" err="1" smtClean="0">
                  <a:solidFill>
                    <a:srgbClr val="000066"/>
                  </a:solidFill>
                  <a:latin typeface="HY헤드라인M" pitchFamily="18" charset="-127"/>
                </a:rPr>
                <a:t>보고시</a:t>
              </a:r>
              <a:r>
                <a:rPr lang="ko-KR" altLang="en-US" sz="2000" b="0" dirty="0" smtClean="0">
                  <a:solidFill>
                    <a:srgbClr val="000066"/>
                  </a:solidFill>
                  <a:latin typeface="HY헤드라인M" pitchFamily="18" charset="-127"/>
                </a:rPr>
                <a:t> 유의사항</a:t>
              </a:r>
              <a:endParaRPr lang="ko-KR" altLang="ko-KR" sz="20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04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10</a:t>
              </a:r>
              <a:endParaRPr lang="en-US" altLang="ko-KR" sz="3200" dirty="0">
                <a:solidFill>
                  <a:schemeClr val="bg1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26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D29664-908E-468F-8565-CDF01B1C2280}" type="slidenum">
              <a:rPr lang="en-US" altLang="ko-KR"/>
              <a:pPr>
                <a:defRPr/>
              </a:pPr>
              <a:t>27</a:t>
            </a:fld>
            <a:endParaRPr lang="en-US" altLang="ko-KR"/>
          </a:p>
        </p:txBody>
      </p:sp>
      <p:sp>
        <p:nvSpPr>
          <p:cNvPr id="16387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AE47FF85-0C7A-4799-A521-5A62FEB58E4A}" type="slidenum">
              <a:rPr lang="en-US" altLang="ko-KR" sz="1200">
                <a:ea typeface="굴림" pitchFamily="50" charset="-127"/>
              </a:rPr>
              <a:pPr algn="ctr"/>
              <a:t>27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581350" y="1500174"/>
            <a:ext cx="7776864" cy="3143272"/>
          </a:xfrm>
          <a:prstGeom prst="roundRect">
            <a:avLst/>
          </a:prstGeom>
          <a:gradFill>
            <a:gsLst>
              <a:gs pos="4000">
                <a:sysClr val="window" lastClr="FFFFFF"/>
              </a:gs>
              <a:gs pos="100000">
                <a:srgbClr val="8064A2">
                  <a:lumMod val="40000"/>
                  <a:lumOff val="60000"/>
                </a:srgbClr>
              </a:gs>
            </a:gsLst>
            <a:lin ang="2700000" scaled="1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Tx/>
              <a:buNone/>
              <a:tabLst/>
              <a:defRPr/>
            </a:pPr>
            <a:r>
              <a:rPr kumimoji="0" lang="en-US" altLang="ko-KR" sz="220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&lt;</a:t>
            </a:r>
            <a:r>
              <a:rPr kumimoji="0" lang="ko-KR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제출해야 할 보고서</a:t>
            </a:r>
            <a:r>
              <a:rPr kumimoji="0" lang="en-US" altLang="ko-KR" sz="220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&gt;</a:t>
            </a:r>
          </a:p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Tx/>
              <a:buNone/>
              <a:tabLst/>
              <a:defRPr/>
            </a:pPr>
            <a:endParaRPr kumimoji="0" lang="en-US" altLang="ko-KR" sz="500" i="0" u="none" strike="noStrike" kern="0" cap="none" spc="0" normalizeH="0" baseline="0" noProof="0" dirty="0" smtClean="0">
              <a:ln>
                <a:noFill/>
              </a:ln>
              <a:solidFill>
                <a:srgbClr val="8A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FX4441(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종합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포지션상황보고서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 :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월보</a:t>
            </a:r>
            <a:endParaRPr kumimoji="0" lang="en-US" altLang="ko-KR" sz="1800" i="0" u="none" strike="noStrike" kern="0" cap="none" spc="0" normalizeH="0" baseline="0" noProof="0" dirty="0" smtClean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FX4442(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통화별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포지션상황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 :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월보</a:t>
            </a:r>
            <a:endParaRPr kumimoji="0" lang="en-US" altLang="ko-KR" sz="1800" i="0" u="none" strike="noStrike" kern="0" cap="none" spc="0" normalizeH="0" baseline="0" noProof="0" dirty="0" smtClean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FX4444(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외화자산·부채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현황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분기보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 : </a:t>
            </a:r>
            <a:r>
              <a:rPr kumimoji="0" lang="ko-KR" altLang="en-US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분기보</a:t>
            </a:r>
            <a:endParaRPr kumimoji="0" lang="en-US" altLang="ko-KR" sz="1800" i="0" u="none" strike="noStrike" kern="0" cap="none" spc="0" normalizeH="0" baseline="0" noProof="0" dirty="0" smtClean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FX4450(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선물환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포지션상황보고서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 :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월보</a:t>
            </a:r>
            <a:endParaRPr kumimoji="0" lang="en-US" altLang="ko-KR" sz="1800" i="0" u="none" strike="noStrike" kern="0" cap="none" spc="0" normalizeH="0" baseline="0" noProof="0" dirty="0" smtClean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64"/>
          <p:cNvGrpSpPr/>
          <p:nvPr/>
        </p:nvGrpSpPr>
        <p:grpSpPr>
          <a:xfrm>
            <a:off x="1043608" y="2348880"/>
            <a:ext cx="7135485" cy="1428088"/>
            <a:chOff x="1013398" y="1976608"/>
            <a:chExt cx="7135485" cy="1428088"/>
          </a:xfrm>
        </p:grpSpPr>
        <p:sp>
          <p:nvSpPr>
            <p:cNvPr id="59" name="직사각형 58"/>
            <p:cNvSpPr/>
            <p:nvPr/>
          </p:nvSpPr>
          <p:spPr>
            <a:xfrm>
              <a:off x="1013398" y="2202096"/>
              <a:ext cx="5760640" cy="1202600"/>
            </a:xfrm>
            <a:prstGeom prst="rect">
              <a:avLst/>
            </a:prstGeom>
            <a:noFill/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0" name="모서리가 둥근 직사각형 59"/>
            <p:cNvSpPr/>
            <p:nvPr/>
          </p:nvSpPr>
          <p:spPr>
            <a:xfrm>
              <a:off x="5988643" y="1976608"/>
              <a:ext cx="2160240" cy="375812"/>
            </a:xfrm>
            <a:prstGeom prst="roundRect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보고서간 상호체크</a:t>
              </a:r>
              <a:endParaRPr kumimoji="0" lang="ko-KR" altLang="en-US" sz="180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63" name="모서리가 둥근 직사각형 62"/>
          <p:cNvSpPr/>
          <p:nvPr/>
        </p:nvSpPr>
        <p:spPr>
          <a:xfrm>
            <a:off x="571472" y="5000636"/>
            <a:ext cx="7776864" cy="823960"/>
          </a:xfrm>
          <a:prstGeom prst="roundRect">
            <a:avLst/>
          </a:prstGeom>
          <a:gradFill>
            <a:gsLst>
              <a:gs pos="4000">
                <a:sysClr val="window" lastClr="FFFFFF"/>
              </a:gs>
              <a:gs pos="100000">
                <a:srgbClr val="F79646">
                  <a:lumMod val="60000"/>
                  <a:lumOff val="40000"/>
                </a:srgbClr>
              </a:gs>
            </a:gsLst>
            <a:lin ang="2700000" scaled="1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중계기관 시스템에서 </a:t>
            </a:r>
            <a:r>
              <a:rPr kumimoji="0" lang="ko-KR" altLang="en-US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보고서별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누락여부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보고서 </a:t>
            </a:r>
            <a:r>
              <a:rPr kumimoji="0" lang="ko-KR" altLang="en-US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미입수율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등의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보고현황을 점검</a:t>
            </a:r>
            <a:endParaRPr kumimoji="0" lang="en-US" altLang="ko-KR" sz="1800" i="0" u="none" strike="noStrike" kern="0" cap="none" spc="0" normalizeH="0" baseline="0" noProof="0" dirty="0" smtClean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13"/>
          <p:cNvGrpSpPr/>
          <p:nvPr/>
        </p:nvGrpSpPr>
        <p:grpSpPr>
          <a:xfrm>
            <a:off x="1043608" y="3140968"/>
            <a:ext cx="7128792" cy="1008112"/>
            <a:chOff x="1043608" y="3140968"/>
            <a:chExt cx="7128792" cy="1008112"/>
          </a:xfrm>
        </p:grpSpPr>
        <p:sp>
          <p:nvSpPr>
            <p:cNvPr id="11" name="직사각형 10"/>
            <p:cNvSpPr/>
            <p:nvPr/>
          </p:nvSpPr>
          <p:spPr>
            <a:xfrm>
              <a:off x="1043608" y="3360782"/>
              <a:ext cx="5760640" cy="788298"/>
            </a:xfrm>
            <a:prstGeom prst="rect">
              <a:avLst/>
            </a:prstGeom>
            <a:noFill/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6012160" y="3140968"/>
              <a:ext cx="2160240" cy="375812"/>
            </a:xfrm>
            <a:prstGeom prst="roundRect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보고서간 상호체크</a:t>
              </a:r>
              <a:endParaRPr kumimoji="0" lang="ko-KR" altLang="en-US" sz="180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5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836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277158" y="188640"/>
            <a:ext cx="5040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200" spc="-11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10</a:t>
            </a:r>
            <a:endParaRPr lang="en-US" altLang="ko-KR" sz="22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관련 외환전산망 </a:t>
            </a:r>
            <a:r>
              <a:rPr lang="ko-KR" altLang="en-US" sz="2200" b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보고시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유의사항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D29664-908E-468F-8565-CDF01B1C2280}" type="slidenum">
              <a:rPr lang="en-US" altLang="ko-KR"/>
              <a:pPr>
                <a:defRPr/>
              </a:pPr>
              <a:t>28</a:t>
            </a:fld>
            <a:endParaRPr lang="en-US" altLang="ko-KR"/>
          </a:p>
        </p:txBody>
      </p:sp>
      <p:sp>
        <p:nvSpPr>
          <p:cNvPr id="16387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AE47FF85-0C7A-4799-A521-5A62FEB58E4A}" type="slidenum">
              <a:rPr lang="en-US" altLang="ko-KR" sz="1200">
                <a:ea typeface="굴림" pitchFamily="50" charset="-127"/>
              </a:rPr>
              <a:pPr algn="ctr"/>
              <a:t>28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581350" y="1500174"/>
            <a:ext cx="7951090" cy="4665130"/>
          </a:xfrm>
          <a:prstGeom prst="roundRect">
            <a:avLst/>
          </a:prstGeom>
          <a:gradFill>
            <a:gsLst>
              <a:gs pos="50000">
                <a:schemeClr val="accent5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Tx/>
              <a:buNone/>
              <a:tabLst/>
              <a:defRPr/>
            </a:pPr>
            <a:r>
              <a:rPr kumimoji="0" lang="en-US" altLang="ko-KR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&lt;</a:t>
            </a:r>
            <a:r>
              <a:rPr kumimoji="0" lang="ko-KR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보고서간 주요 </a:t>
            </a:r>
            <a:r>
              <a:rPr kumimoji="0" lang="ko-KR" altLang="en-US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체크로직</a:t>
            </a:r>
            <a:r>
              <a:rPr kumimoji="0" lang="en-US" altLang="ko-KR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&gt;</a:t>
            </a: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Tx/>
              <a:buNone/>
              <a:tabLst/>
              <a:defRPr/>
            </a:pPr>
            <a:endParaRPr kumimoji="0" lang="en-US" altLang="ko-KR" sz="500" b="0" i="0" u="none" strike="noStrike" kern="0" cap="none" spc="0" normalizeH="0" baseline="0" noProof="0" dirty="0" smtClean="0">
              <a:ln>
                <a:noFill/>
              </a:ln>
              <a:solidFill>
                <a:srgbClr val="8A0000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(FX4441)</a:t>
            </a:r>
            <a:r>
              <a:rPr kumimoji="0" lang="ko-KR" altLang="en-US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관리대상포지션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/>
            </a:r>
            <a:b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</a:b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=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(FX4442) 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max(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｜매입초과포지션｜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, 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｜매각초과포지션｜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)</a:t>
            </a: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(FX4444)</a:t>
            </a:r>
            <a:r>
              <a:rPr kumimoji="0" lang="ko-KR" altLang="en-US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월말종합</a:t>
            </a:r>
            <a:r>
              <a:rPr kumimoji="0" lang="en-US" altLang="ko-KR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포지션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/>
            </a:r>
            <a:b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</a:b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=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(FX4442) </a:t>
            </a:r>
            <a:r>
              <a:rPr kumimoji="0" lang="ko-KR" altLang="en-US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매입초과포지션계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(FX4442) </a:t>
            </a:r>
            <a:r>
              <a:rPr kumimoji="0" lang="ko-KR" altLang="en-US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매각초과포지션계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/>
            </a:r>
            <a:b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</a:b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+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kumimoji="0" lang="en-US" altLang="ko-KR" kern="0" dirty="0" smtClean="0">
                <a:solidFill>
                  <a:srgbClr val="8A0000"/>
                </a:solidFill>
                <a:latin typeface="맑은 고딕" pitchFamily="50" charset="-127"/>
                <a:ea typeface="맑은 고딕" pitchFamily="50" charset="-127"/>
              </a:rPr>
              <a:t>FX4441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) </a:t>
            </a:r>
            <a:r>
              <a:rPr kumimoji="0" lang="ko-KR" altLang="en-US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자기자본헤지분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+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(FX4441) </a:t>
            </a:r>
            <a:r>
              <a:rPr kumimoji="0" lang="ko-KR" altLang="en-US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이월이익잉여금헤지분</a:t>
            </a:r>
            <a:endParaRPr kumimoji="0" lang="en-US" altLang="ko-KR" b="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   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※ FX4441 </a:t>
            </a:r>
            <a:r>
              <a:rPr kumimoji="0" lang="ko-KR" altLang="en-US" sz="1400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및 </a:t>
            </a:r>
            <a:r>
              <a:rPr kumimoji="0" lang="en-US" altLang="ko-KR" sz="1400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FX4442</a:t>
            </a:r>
            <a:r>
              <a:rPr kumimoji="0" lang="ko-KR" altLang="en-US" sz="1400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중 말일에 해당하는 수치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endParaRPr kumimoji="0" lang="en-US" altLang="ko-KR" sz="1000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(FX4444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월말선물</a:t>
            </a:r>
            <a:r>
              <a:rPr kumimoji="0" lang="en-US" altLang="ko-KR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포지션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/>
            </a:r>
            <a:b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</a:b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=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(FX4450) 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관리대상 선물환포지션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/>
            </a:r>
            <a:b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</a:b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+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(FX4450)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자기자본헤지분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+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(FX4450) </a:t>
            </a:r>
            <a:r>
              <a:rPr kumimoji="0" lang="ko-KR" altLang="en-US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이월이익잉여금헤지분</a:t>
            </a:r>
            <a:endParaRPr kumimoji="0" lang="en-US" altLang="ko-KR" b="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    </a:t>
            </a:r>
            <a:r>
              <a:rPr kumimoji="0" lang="en-US" altLang="ko-KR" sz="1400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※ FX4450</a:t>
            </a:r>
            <a:r>
              <a:rPr kumimoji="0" lang="ko-KR" altLang="en-US" sz="1400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중 말일자에 해당하는 수치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pic>
        <p:nvPicPr>
          <p:cNvPr id="15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6632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306199" y="188140"/>
            <a:ext cx="4786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200" spc="-11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관련 외환전산망 </a:t>
            </a:r>
            <a:r>
              <a:rPr lang="ko-KR" altLang="en-US" sz="2200" b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보고시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유의사항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29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776413" y="2590800"/>
            <a:ext cx="6324599" cy="1339850"/>
            <a:chOff x="1119" y="1632"/>
            <a:chExt cx="3749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749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860" y="1776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4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외국환포지션 관련 외환전산망</a:t>
              </a:r>
              <a:endParaRPr lang="en-US" altLang="ko-KR" sz="2400" b="0" dirty="0" smtClean="0">
                <a:solidFill>
                  <a:srgbClr val="000066"/>
                </a:solidFill>
                <a:latin typeface="HY헤드라인M" pitchFamily="18" charset="-127"/>
              </a:endParaRPr>
            </a:p>
            <a:p>
              <a:r>
                <a:rPr lang="ko-KR" altLang="en-US" sz="2400" b="0" dirty="0" smtClean="0">
                  <a:solidFill>
                    <a:srgbClr val="000066"/>
                  </a:solidFill>
                  <a:latin typeface="HY헤드라인M" pitchFamily="18" charset="-127"/>
                </a:rPr>
                <a:t>보고서 작성 오류사례</a:t>
              </a:r>
              <a:endParaRPr lang="ko-KR" altLang="ko-KR" sz="24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11</a:t>
              </a:r>
              <a:endParaRPr lang="en-US" altLang="ko-KR" sz="3200" dirty="0">
                <a:solidFill>
                  <a:schemeClr val="bg1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29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D29664-908E-468F-8565-CDF01B1C2280}" type="slidenum">
              <a:rPr lang="en-US" altLang="ko-KR"/>
              <a:pPr>
                <a:defRPr/>
              </a:pPr>
              <a:t>30</a:t>
            </a:fld>
            <a:endParaRPr lang="en-US" altLang="ko-KR"/>
          </a:p>
        </p:txBody>
      </p:sp>
      <p:sp>
        <p:nvSpPr>
          <p:cNvPr id="16387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AE47FF85-0C7A-4799-A521-5A62FEB58E4A}" type="slidenum">
              <a:rPr lang="en-US" altLang="ko-KR" sz="1200">
                <a:ea typeface="굴림" pitchFamily="50" charset="-127"/>
              </a:rPr>
              <a:pPr algn="ctr"/>
              <a:t>30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581350" y="1124744"/>
            <a:ext cx="7951090" cy="5184576"/>
          </a:xfrm>
          <a:prstGeom prst="roundRect">
            <a:avLst/>
          </a:prstGeom>
          <a:gradFill>
            <a:gsLst>
              <a:gs pos="50000">
                <a:schemeClr val="accent5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288000" marR="0" lvl="0" indent="-2880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자기자본 금액 산정 오류</a:t>
            </a:r>
            <a: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‘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납입자본금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+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이월이익잉여금 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적립금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이 아닌 회계기준 상의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총 자본금액 반영</a:t>
            </a:r>
            <a:r>
              <a: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외국계 지점의 경우 영업기금</a:t>
            </a:r>
            <a:r>
              <a: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+ </a:t>
            </a:r>
            <a:r>
              <a:rPr kumimoji="0" lang="ko-KR" altLang="en-US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적립금 </a:t>
            </a:r>
            <a:r>
              <a: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kumimoji="0" lang="ko-KR" altLang="en-US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이월이익잉여금</a:t>
            </a:r>
            <a:r>
              <a: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88000" marR="0" lvl="0" indent="-2880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endParaRPr kumimoji="0" lang="en-US" altLang="ko-KR" sz="50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400" dirty="0" smtClean="0"/>
              <a:t>           </a:t>
            </a:r>
            <a:r>
              <a:rPr lang="ko-KR" altLang="en-US" sz="1400" b="0" dirty="0" smtClean="0"/>
              <a:t>자기자본</a:t>
            </a:r>
            <a:r>
              <a:rPr lang="en-US" altLang="ko-KR" sz="1400" b="0" dirty="0" smtClean="0"/>
              <a:t>(</a:t>
            </a:r>
            <a:r>
              <a:rPr lang="ko-KR" altLang="en-US" sz="1400" b="0" dirty="0" smtClean="0"/>
              <a:t>납입자본금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이월이익잉여금</a:t>
            </a:r>
            <a:r>
              <a:rPr lang="en-US" altLang="ko-KR" sz="1400" b="0" dirty="0" smtClean="0"/>
              <a:t>, </a:t>
            </a:r>
            <a:r>
              <a:rPr lang="ko-KR" altLang="en-US" sz="1400" b="0" dirty="0" smtClean="0"/>
              <a:t>적립금의 합</a:t>
            </a:r>
            <a:r>
              <a:rPr lang="en-US" altLang="ko-KR" sz="1400" b="0" dirty="0" smtClean="0"/>
              <a:t>)</a:t>
            </a:r>
          </a:p>
          <a:p>
            <a:r>
              <a:rPr lang="en-US" altLang="ko-KR" sz="1400" b="0" dirty="0" smtClean="0"/>
              <a:t>             - </a:t>
            </a:r>
            <a:r>
              <a:rPr lang="ko-KR" altLang="en-US" sz="1400" b="0" dirty="0" smtClean="0"/>
              <a:t>납입자본금 </a:t>
            </a:r>
            <a:r>
              <a:rPr lang="en-US" altLang="ko-KR" sz="1400" b="0" dirty="0" smtClean="0"/>
              <a:t>: </a:t>
            </a:r>
            <a:r>
              <a:rPr lang="ko-KR" altLang="en-US" sz="1400" b="0" dirty="0" smtClean="0"/>
              <a:t>자본금</a:t>
            </a:r>
            <a:r>
              <a:rPr lang="en-US" altLang="ko-KR" sz="1400" b="0" dirty="0" smtClean="0"/>
              <a:t>+</a:t>
            </a:r>
            <a:r>
              <a:rPr lang="ko-KR" altLang="en-US" sz="1400" b="0" dirty="0" smtClean="0"/>
              <a:t>주식발행초과금</a:t>
            </a:r>
            <a:r>
              <a:rPr lang="en-US" altLang="ko-KR" sz="1400" b="0" dirty="0" smtClean="0"/>
              <a:t>-</a:t>
            </a:r>
            <a:r>
              <a:rPr lang="ko-KR" altLang="en-US" sz="1400" b="0" dirty="0" err="1" smtClean="0"/>
              <a:t>주식할인발행차금</a:t>
            </a:r>
            <a:endParaRPr lang="ko-KR" altLang="en-US" sz="1400" b="0" dirty="0" smtClean="0"/>
          </a:p>
          <a:p>
            <a:r>
              <a:rPr lang="en-US" altLang="ko-KR" sz="1400" b="0" dirty="0" smtClean="0"/>
              <a:t>             - </a:t>
            </a:r>
            <a:r>
              <a:rPr lang="ko-KR" altLang="en-US" sz="1400" b="0" dirty="0" smtClean="0"/>
              <a:t>이월이익잉여금 </a:t>
            </a:r>
            <a:r>
              <a:rPr lang="en-US" altLang="ko-KR" sz="1400" b="0" dirty="0" smtClean="0"/>
              <a:t>: </a:t>
            </a:r>
            <a:r>
              <a:rPr lang="ko-KR" altLang="en-US" sz="1400" b="0" dirty="0" err="1" smtClean="0"/>
              <a:t>이익잉여금중</a:t>
            </a:r>
            <a:r>
              <a:rPr lang="ko-KR" altLang="en-US" sz="1400" b="0" dirty="0" smtClean="0"/>
              <a:t> </a:t>
            </a:r>
            <a:r>
              <a:rPr lang="ko-KR" altLang="en-US" sz="1400" b="0" dirty="0" err="1" smtClean="0"/>
              <a:t>미처분잉여금</a:t>
            </a:r>
            <a:endParaRPr lang="ko-KR" altLang="en-US" sz="1400" b="0" dirty="0" smtClean="0"/>
          </a:p>
          <a:p>
            <a:r>
              <a:rPr lang="en-US" altLang="ko-KR" sz="1400" b="0" dirty="0" smtClean="0"/>
              <a:t>             - </a:t>
            </a:r>
            <a:r>
              <a:rPr lang="ko-KR" altLang="en-US" sz="1400" b="0" dirty="0" smtClean="0"/>
              <a:t>적립금 </a:t>
            </a:r>
            <a:r>
              <a:rPr lang="en-US" altLang="ko-KR" sz="1400" b="0" dirty="0" smtClean="0"/>
              <a:t>: </a:t>
            </a:r>
            <a:r>
              <a:rPr lang="ko-KR" altLang="en-US" sz="1400" b="0" dirty="0" smtClean="0"/>
              <a:t>이익잉여금 중 </a:t>
            </a:r>
            <a:r>
              <a:rPr lang="ko-KR" altLang="en-US" sz="1400" b="0" dirty="0" err="1" smtClean="0"/>
              <a:t>미처분잉여금을</a:t>
            </a:r>
            <a:r>
              <a:rPr lang="ko-KR" altLang="en-US" sz="1400" b="0" dirty="0" smtClean="0"/>
              <a:t> 제외환 적립금 및 준비금</a:t>
            </a:r>
          </a:p>
          <a:p>
            <a:pPr marL="288000" indent="-288000" fontAlgn="auto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defRPr/>
            </a:pPr>
            <a:endParaRPr kumimoji="0" lang="en-US" altLang="ko-KR" sz="1000" kern="0" dirty="0" smtClean="0">
              <a:solidFill>
                <a:srgbClr val="8A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8000" indent="-288000" fontAlgn="auto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defRPr/>
            </a:pP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포지션 산정방식 오류</a:t>
            </a:r>
            <a: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종합포지션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산정시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‘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순합산포지션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으로 금액 산출하는 오류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indent="-288000" fontAlgn="auto" latinLnBrk="0"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defRPr/>
            </a:pP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  -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포지션 부호를 반대로 산출하는 오류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매입포지션을 마이너스로</a:t>
            </a:r>
            <a:endParaRPr kumimoji="0" lang="en-US" altLang="ko-KR" sz="160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indent="-288000" fontAlgn="auto" latinLnBrk="0"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defRPr/>
            </a:pP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    보고하거나 매각포지션을 플러스로 보고하는 오류</a:t>
            </a: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88000" indent="-288000" fontAlgn="auto" latinLnBrk="0"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defRPr/>
            </a:pPr>
            <a:r>
              <a:rPr kumimoji="0" lang="en-US" altLang="ko-KR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  - </a:t>
            </a:r>
            <a:r>
              <a:rPr kumimoji="0" lang="ko-KR" altLang="en-US" sz="1600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영업일이</a:t>
            </a:r>
            <a:r>
              <a:rPr kumimoji="0" lang="ko-KR" altLang="en-US" sz="16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아닌 경우 입력하는 오류</a:t>
            </a:r>
            <a:endParaRPr kumimoji="0" lang="en-US" altLang="ko-KR" sz="160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6632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827584" y="214041"/>
            <a:ext cx="6912768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관련 외환전산망 보고서 작성 오류사례</a:t>
            </a:r>
            <a:endParaRPr lang="en-US" altLang="ko-KR" sz="2200" b="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10361" y="188355"/>
            <a:ext cx="576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spc="-11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11</a:t>
            </a:r>
            <a:endParaRPr lang="en-US" altLang="ko-KR" sz="24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D29664-908E-468F-8565-CDF01B1C2280}" type="slidenum">
              <a:rPr lang="en-US" altLang="ko-KR"/>
              <a:pPr>
                <a:defRPr/>
              </a:pPr>
              <a:t>31</a:t>
            </a:fld>
            <a:endParaRPr lang="en-US" altLang="ko-KR"/>
          </a:p>
        </p:txBody>
      </p:sp>
      <p:sp>
        <p:nvSpPr>
          <p:cNvPr id="16387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AE47FF85-0C7A-4799-A521-5A62FEB58E4A}" type="slidenum">
              <a:rPr lang="en-US" altLang="ko-KR" sz="1200">
                <a:ea typeface="굴림" pitchFamily="50" charset="-127"/>
              </a:rPr>
              <a:pPr algn="ctr"/>
              <a:t>31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581350" y="1500174"/>
            <a:ext cx="8167114" cy="4665130"/>
          </a:xfrm>
          <a:prstGeom prst="roundRect">
            <a:avLst/>
          </a:prstGeom>
          <a:gradFill>
            <a:gsLst>
              <a:gs pos="50000">
                <a:schemeClr val="accent5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288000" marR="0" lvl="0" indent="-2880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endParaRPr kumimoji="0" lang="en-US" altLang="ko-KR" sz="2400" kern="0" dirty="0" smtClean="0">
              <a:solidFill>
                <a:srgbClr val="8A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8000" indent="-288000" fontAlgn="auto" latinLnBrk="0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defRPr/>
            </a:pP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非대상 금액 포함</a:t>
            </a:r>
            <a:r>
              <a:rPr kumimoji="0" lang="en-US" altLang="ko-KR" sz="2400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sz="2400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관리대상의 포지션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산정시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원화확정 상품 등 환리스크가 제거된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비대상금액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포함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indent="-288000" fontAlgn="auto" latinLnBrk="0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defRPr/>
            </a:pPr>
            <a:endParaRPr kumimoji="0" lang="en-US" altLang="ko-KR" sz="100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defTabSz="914400" eaLnBrk="1" fontAlgn="auto" latinLnBrk="0" hangingPunct="1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통화 환산 오류</a:t>
            </a:r>
            <a:r>
              <a:rPr kumimoji="0" lang="en-US" altLang="ko-KR" kern="0" dirty="0" smtClean="0">
                <a:solidFill>
                  <a:srgbClr val="8A000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8A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‘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천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미달러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환산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과정에 있어서 단위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(1,000)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미 반영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원화 금액으로 반영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적절하지 않은 환율 적용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defTabSz="914400" eaLnBrk="1" fontAlgn="auto" latinLnBrk="0" hangingPunct="1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endParaRPr kumimoji="0" lang="en-US" altLang="ko-KR" sz="100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defTabSz="914400" eaLnBrk="1" fontAlgn="auto" latinLnBrk="0" hangingPunct="1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규제 </a:t>
            </a:r>
            <a:r>
              <a:rPr kumimoji="0" lang="ko-KR" altLang="en-US" sz="2400" kern="0" dirty="0" err="1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위반시</a:t>
            </a: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보고 지연</a:t>
            </a:r>
            <a:r>
              <a:rPr kumimoji="0" lang="en-US" altLang="ko-KR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·</a:t>
            </a: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누락 </a:t>
            </a:r>
            <a: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위반시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영업일 내 감독원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보고해야함에도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이를 지연</a:t>
            </a:r>
            <a:r>
              <a:rPr kumimoji="0" lang="en-US" altLang="ko-KR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·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누락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defTabSz="914400" eaLnBrk="1" fontAlgn="auto" latinLnBrk="0" hangingPunct="1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endParaRPr kumimoji="0" lang="en-US" altLang="ko-KR" sz="100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defTabSz="914400" eaLnBrk="1" fontAlgn="auto" latinLnBrk="0" hangingPunct="1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포지션 한도관리 내부통제절차 미흡</a:t>
            </a:r>
            <a:endParaRPr kumimoji="0" lang="en-US" altLang="ko-KR" sz="2400" kern="0" dirty="0" smtClean="0">
              <a:solidFill>
                <a:srgbClr val="8A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algn="just" defTabSz="914400" eaLnBrk="1" fontAlgn="auto" latinLnBrk="0" hangingPunct="1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r>
              <a:rPr kumimoji="0" lang="en-US" altLang="ko-KR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일별 포지션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미산출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및 포지션한도 준수 여부를 관리하지 않는 사례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defTabSz="914400" eaLnBrk="1" fontAlgn="auto" latinLnBrk="0" hangingPunct="1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 -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포지션 산출의 정확성을 점검하지 않는 사례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defTabSz="914400" eaLnBrk="1" fontAlgn="auto" latinLnBrk="0" hangingPunct="1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defTabSz="914400" eaLnBrk="1" fontAlgn="auto" latinLnBrk="0" hangingPunct="1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pic>
        <p:nvPicPr>
          <p:cNvPr id="15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487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827584" y="214041"/>
            <a:ext cx="6912768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관련 외환전산망 보고서 작성 오류사례</a:t>
            </a:r>
            <a:endParaRPr lang="en-US" altLang="ko-KR" sz="2200" b="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10361" y="188355"/>
            <a:ext cx="576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spc="-11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11</a:t>
            </a:r>
            <a:endParaRPr lang="en-US" altLang="ko-KR" sz="24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32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776413" y="2590800"/>
            <a:ext cx="6324599" cy="1339850"/>
            <a:chOff x="1119" y="1632"/>
            <a:chExt cx="3749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749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837" y="1872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외국환포지션 한도 위반</a:t>
              </a:r>
              <a:r>
                <a:rPr lang="en-US" altLang="ko-KR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 </a:t>
              </a:r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조치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12</a:t>
              </a:r>
              <a:endParaRPr lang="en-US" altLang="ko-KR" sz="3200" dirty="0">
                <a:solidFill>
                  <a:schemeClr val="bg1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32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D29664-908E-468F-8565-CDF01B1C2280}" type="slidenum">
              <a:rPr lang="en-US" altLang="ko-KR"/>
              <a:pPr>
                <a:defRPr/>
              </a:pPr>
              <a:t>33</a:t>
            </a:fld>
            <a:endParaRPr lang="en-US" altLang="ko-KR"/>
          </a:p>
        </p:txBody>
      </p:sp>
      <p:sp>
        <p:nvSpPr>
          <p:cNvPr id="16387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AE47FF85-0C7A-4799-A521-5A62FEB58E4A}" type="slidenum">
              <a:rPr lang="en-US" altLang="ko-KR" sz="1200">
                <a:ea typeface="굴림" pitchFamily="50" charset="-127"/>
              </a:rPr>
              <a:pPr algn="ctr"/>
              <a:t>33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581350" y="1500174"/>
            <a:ext cx="7951090" cy="4665130"/>
          </a:xfrm>
          <a:prstGeom prst="roundRect">
            <a:avLst/>
          </a:prstGeom>
          <a:gradFill>
            <a:gsLst>
              <a:gs pos="50000">
                <a:schemeClr val="accent5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288000" marR="0" lvl="0" indent="-2880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endParaRPr kumimoji="0" lang="en-US" altLang="ko-KR" sz="2400" kern="0" dirty="0" smtClean="0">
              <a:solidFill>
                <a:srgbClr val="8A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8000" indent="-288000" fontAlgn="auto" latinLnBrk="0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defRPr/>
            </a:pP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defTabSz="914400" eaLnBrk="1" fontAlgn="auto" latinLnBrk="0" hangingPunct="1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defTabSz="914400" eaLnBrk="1" fontAlgn="auto" latinLnBrk="0" hangingPunct="1">
              <a:spcBef>
                <a:spcPts val="0"/>
              </a:spcBef>
              <a:spcAft>
                <a:spcPts val="5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</a:p>
        </p:txBody>
      </p:sp>
      <p:pic>
        <p:nvPicPr>
          <p:cNvPr id="15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외국환포지션한도 위반 조치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259632" y="2365565"/>
          <a:ext cx="6840760" cy="3045509"/>
        </p:xfrm>
        <a:graphic>
          <a:graphicData uri="http://schemas.openxmlformats.org/drawingml/2006/table">
            <a:tbl>
              <a:tblPr/>
              <a:tblGrid>
                <a:gridCol w="3672408"/>
                <a:gridCol w="3168352"/>
              </a:tblGrid>
              <a:tr h="3997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800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   분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800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조 치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F2"/>
                    </a:solidFill>
                  </a:tcPr>
                </a:tc>
              </a:tr>
              <a:tr h="442190">
                <a:tc>
                  <a:txBody>
                    <a:bodyPr/>
                    <a:lstStyle/>
                    <a:p>
                      <a:pPr marL="17780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‧ </a:t>
                      </a: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과거 </a:t>
                      </a:r>
                      <a:r>
                        <a:rPr kumimoji="0" lang="en-US" altLang="ko-KR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년간 </a:t>
                      </a:r>
                      <a:r>
                        <a:rPr kumimoji="0" lang="en-US" altLang="ko-KR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회 위반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주의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421">
                <a:tc>
                  <a:txBody>
                    <a:bodyPr/>
                    <a:lstStyle/>
                    <a:p>
                      <a:pPr marL="17780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‧ </a:t>
                      </a: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과거 </a:t>
                      </a:r>
                      <a:r>
                        <a:rPr kumimoji="0" lang="en-US" altLang="ko-KR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년간 </a:t>
                      </a:r>
                      <a:r>
                        <a:rPr kumimoji="0" lang="en-US" altLang="ko-KR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회이상</a:t>
                      </a: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위반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일평균</a:t>
                      </a: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한도위반금액을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한도위반일수만큼 감축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4653">
                <a:tc>
                  <a:txBody>
                    <a:bodyPr/>
                    <a:lstStyle/>
                    <a:p>
                      <a:pPr marL="17780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‧ </a:t>
                      </a:r>
                      <a:r>
                        <a:rPr kumimoji="0" lang="ko-KR" altLang="en-US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과거 </a:t>
                      </a:r>
                      <a:r>
                        <a:rPr kumimoji="0" lang="en-US" altLang="ko-KR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년간 </a:t>
                      </a:r>
                      <a:r>
                        <a:rPr kumimoji="0" lang="en-US" altLang="ko-KR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회 이상 위반</a:t>
                      </a:r>
                    </a:p>
                    <a:p>
                      <a:pPr marL="17780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‧ </a:t>
                      </a:r>
                      <a:r>
                        <a:rPr kumimoji="0" lang="ko-KR" altLang="en-US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고의위반</a:t>
                      </a:r>
                    </a:p>
                    <a:p>
                      <a:pPr marL="17780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‧ 3</a:t>
                      </a:r>
                      <a:r>
                        <a:rPr kumimoji="0" lang="ko-KR" altLang="en-US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영업일 이내 위반사실 미보고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일평균</a:t>
                      </a: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한도위반금액의 </a:t>
                      </a:r>
                      <a:r>
                        <a:rPr kumimoji="0" lang="en-US" altLang="ko-KR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배를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한도위반일수만큼 감축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8587">
                <a:tc>
                  <a:txBody>
                    <a:bodyPr/>
                    <a:lstStyle/>
                    <a:p>
                      <a:pPr marL="17780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‧ </a:t>
                      </a:r>
                      <a:r>
                        <a:rPr kumimoji="0" lang="ko-KR" altLang="en-US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허위보고</a:t>
                      </a:r>
                      <a:r>
                        <a:rPr kumimoji="0" lang="en-US" altLang="ko-KR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b="1" kern="0" dirty="0" err="1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미보고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주의</a:t>
                      </a:r>
                      <a:r>
                        <a:rPr kumimoji="0" lang="en-US" altLang="ko-KR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시정명령</a:t>
                      </a:r>
                      <a:r>
                        <a:rPr kumimoji="0" lang="en-US" altLang="ko-KR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b="1" kern="0" dirty="0" smtClean="0">
                          <a:solidFill>
                            <a:srgbClr val="00206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한도감축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310361" y="188355"/>
            <a:ext cx="576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spc="-11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그래픽M" pitchFamily="18" charset="-127"/>
                <a:ea typeface="HY그래픽M" pitchFamily="18" charset="-127"/>
              </a:rPr>
              <a:t>12</a:t>
            </a:r>
            <a:endParaRPr lang="en-US" altLang="ko-KR" sz="2400" spc="-11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그래픽M" pitchFamily="18" charset="-127"/>
              <a:ea typeface="HY그래픽M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34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34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293938" y="2911475"/>
            <a:ext cx="354013" cy="5000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/>
          <a:lstStyle/>
          <a:p>
            <a:pPr algn="ctr">
              <a:defRPr/>
            </a:pPr>
            <a:endParaRPr lang="en-US" altLang="ko-KR" sz="3200" dirty="0">
              <a:solidFill>
                <a:srgbClr val="FFFF99"/>
              </a:solidFill>
              <a:latin typeface="HY견명조" pitchFamily="18" charset="-127"/>
              <a:ea typeface="HY견명조" pitchFamily="18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2447210" y="2852936"/>
            <a:ext cx="4248472" cy="1152128"/>
            <a:chOff x="2267744" y="3573016"/>
            <a:chExt cx="4248472" cy="1296144"/>
          </a:xfrm>
        </p:grpSpPr>
        <p:pic>
          <p:nvPicPr>
            <p:cNvPr id="9" name="그림 41" descr="01.pn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267744" y="3573016"/>
              <a:ext cx="4248472" cy="1296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3275856" y="3933056"/>
              <a:ext cx="2449513" cy="50006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질의응답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B95F55-72E6-4687-A0BD-8C3569076848}" type="slidenum">
              <a:rPr lang="en-US" altLang="ko-KR"/>
              <a:pPr>
                <a:defRPr/>
              </a:pPr>
              <a:t>35</a:t>
            </a:fld>
            <a:endParaRPr lang="en-US" altLang="ko-KR"/>
          </a:p>
        </p:txBody>
      </p:sp>
      <p:pic>
        <p:nvPicPr>
          <p:cNvPr id="19459" name="Picture 2" descr="end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7" name="Picture 7" descr="02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11400" y="1628775"/>
            <a:ext cx="4505325" cy="145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그림 4" descr="금감원CI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14750" y="3703638"/>
            <a:ext cx="1571625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HY헤드라인M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HY헤드라인M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6577</TotalTime>
  <Words>1497</Words>
  <Application>Microsoft Office PowerPoint</Application>
  <PresentationFormat>화면 슬라이드 쇼(4:3)</PresentationFormat>
  <Paragraphs>430</Paragraphs>
  <Slides>36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36</vt:i4>
      </vt:variant>
    </vt:vector>
  </HeadingPairs>
  <TitlesOfParts>
    <vt:vector size="38" baseType="lpstr">
      <vt:lpstr>기본 디자인</vt:lpstr>
      <vt:lpstr>디자인 사용자 지정</vt:lpstr>
      <vt:lpstr>슬라이드 0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</vt:vector>
  </TitlesOfParts>
  <Company>FINAL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블랙에디션</dc:creator>
  <cp:lastModifiedBy>금융감독원</cp:lastModifiedBy>
  <cp:revision>581</cp:revision>
  <dcterms:created xsi:type="dcterms:W3CDTF">2008-11-12T16:13:11Z</dcterms:created>
  <dcterms:modified xsi:type="dcterms:W3CDTF">2017-04-18T00:58:42Z</dcterms:modified>
</cp:coreProperties>
</file>